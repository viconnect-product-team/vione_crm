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003B95"/>
          </a:solidFill>
          <a:ln/>
        </p:spPr>
      </p:sp>
      <p:sp>
        <p:nvSpPr>
          <p:cNvPr id="3" name="Shape 1"/>
          <p:cNvSpPr/>
          <p:nvPr/>
        </p:nvSpPr>
        <p:spPr>
          <a:xfrm>
            <a:off x="1828800" y="914400"/>
            <a:ext cx="8531352" cy="438912"/>
          </a:xfrm>
          <a:prstGeom prst="rect">
            <a:avLst/>
          </a:prstGeom>
          <a:solidFill>
            <a:srgbClr val="EFF6FF"/>
          </a:solidFill>
          <a:ln w="19050">
            <a:solidFill>
              <a:srgbClr val="BAE6FD"/>
            </a:solidFill>
            <a:prstDash val="solid"/>
          </a:ln>
        </p:spPr>
      </p:sp>
      <p:sp>
        <p:nvSpPr>
          <p:cNvPr id="4" name="Text 2"/>
          <p:cNvSpPr/>
          <p:nvPr/>
        </p:nvSpPr>
        <p:spPr>
          <a:xfrm>
            <a:off x="1828800" y="914400"/>
            <a:ext cx="8531352" cy="438912"/>
          </a:xfrm>
          <a:prstGeom prst="rect">
            <a:avLst/>
          </a:prstGeom>
          <a:noFill/>
          <a:ln/>
        </p:spPr>
        <p:txBody>
          <a:bodyPr wrap="square" rtlCol="0" anchor="ctr"/>
          <a:lstStyle/>
          <a:p>
            <a:pPr algn="ctr" indent="0" marL="0">
              <a:buNone/>
            </a:pPr>
            <a:r>
              <a:rPr lang="en-US" sz="1300" b="1" dirty="0">
                <a:solidFill>
                  <a:srgbClr val="003B95"/>
                </a:solidFill>
                <a:latin typeface="Calibri" pitchFamily="34" charset="0"/>
                <a:ea typeface="Calibri" pitchFamily="34" charset="-122"/>
                <a:cs typeface="Calibri" pitchFamily="34" charset="-120"/>
              </a:rPr>
              <a:t>HỘI DOANH NHÂN TRẺ HÀ NỘI (HANOIBA) · CLB DOANH NHÂN CEO 1983</a:t>
            </a:r>
            <a:endParaRPr lang="en-US" sz="1300" dirty="0"/>
          </a:p>
        </p:txBody>
      </p:sp>
      <p:sp>
        <p:nvSpPr>
          <p:cNvPr id="5" name="Text 3"/>
          <p:cNvSpPr/>
          <p:nvPr/>
        </p:nvSpPr>
        <p:spPr>
          <a:xfrm>
            <a:off x="914400" y="1691640"/>
            <a:ext cx="10360152" cy="1005840"/>
          </a:xfrm>
          <a:prstGeom prst="rect">
            <a:avLst/>
          </a:prstGeom>
          <a:noFill/>
          <a:ln/>
        </p:spPr>
        <p:txBody>
          <a:bodyPr wrap="square" rtlCol="0" anchor="ctr"/>
          <a:lstStyle/>
          <a:p>
            <a:pPr algn="ctr" indent="0" marL="0">
              <a:buNone/>
            </a:pPr>
            <a:r>
              <a:rPr lang="en-US" sz="3400" b="1" dirty="0">
                <a:solidFill>
                  <a:srgbClr val="003B95"/>
                </a:solidFill>
                <a:latin typeface="Calibri" pitchFamily="34" charset="0"/>
                <a:ea typeface="Calibri" pitchFamily="34" charset="-122"/>
                <a:cs typeface="Calibri" pitchFamily="34" charset="-120"/>
              </a:rPr>
              <a:t>HỆ THỐNG WEB CRM QUẢN TRỊ &amp; ĐIỀU HÀNH SỐ HÓA</a:t>
            </a:r>
            <a:endParaRPr lang="en-US" sz="3400" dirty="0"/>
          </a:p>
        </p:txBody>
      </p:sp>
      <p:sp>
        <p:nvSpPr>
          <p:cNvPr id="6" name="Shape 4"/>
          <p:cNvSpPr/>
          <p:nvPr/>
        </p:nvSpPr>
        <p:spPr>
          <a:xfrm>
            <a:off x="4937760" y="2834640"/>
            <a:ext cx="2313432" cy="45720"/>
          </a:xfrm>
          <a:prstGeom prst="rect">
            <a:avLst/>
          </a:prstGeom>
          <a:solidFill>
            <a:srgbClr val="0284C7"/>
          </a:solidFill>
          <a:ln/>
        </p:spPr>
      </p:sp>
      <p:sp>
        <p:nvSpPr>
          <p:cNvPr id="7" name="Text 5"/>
          <p:cNvSpPr/>
          <p:nvPr/>
        </p:nvSpPr>
        <p:spPr>
          <a:xfrm>
            <a:off x="914400" y="3017520"/>
            <a:ext cx="10360152" cy="457200"/>
          </a:xfrm>
          <a:prstGeom prst="rect">
            <a:avLst/>
          </a:prstGeom>
          <a:noFill/>
          <a:ln/>
        </p:spPr>
        <p:txBody>
          <a:bodyPr wrap="square" rtlCol="0" anchor="ctr"/>
          <a:lstStyle/>
          <a:p>
            <a:pPr algn="ctr" indent="0" marL="0">
              <a:buNone/>
            </a:pPr>
            <a:r>
              <a:rPr lang="en-US" sz="1500" b="1" dirty="0">
                <a:solidFill>
                  <a:srgbClr val="0284C7"/>
                </a:solidFill>
                <a:latin typeface="Calibri" pitchFamily="34" charset="0"/>
                <a:ea typeface="Calibri" pitchFamily="34" charset="-122"/>
                <a:cs typeface="Calibri" pitchFamily="34" charset="-120"/>
              </a:rPr>
              <a:t>BÁO CÁO TOÀN DIỆN GIẢI PHÁP CHUYỂN ĐỔI SỐ HIỆP HỘI CLB DOANH NHÂN CEO 1983</a:t>
            </a:r>
            <a:endParaRPr lang="en-US" sz="1500" dirty="0"/>
          </a:p>
        </p:txBody>
      </p:sp>
      <p:sp>
        <p:nvSpPr>
          <p:cNvPr id="8" name="Text 6"/>
          <p:cNvSpPr/>
          <p:nvPr/>
        </p:nvSpPr>
        <p:spPr>
          <a:xfrm>
            <a:off x="914400" y="3520440"/>
            <a:ext cx="10360152" cy="411480"/>
          </a:xfrm>
          <a:prstGeom prst="rect">
            <a:avLst/>
          </a:prstGeom>
          <a:noFill/>
          <a:ln/>
        </p:spPr>
        <p:txBody>
          <a:bodyPr wrap="square"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Trung Tâm Chỉ Huy: Hồ Sơ Hội Viên 360° · Tài Chính Đối Soát VietQR · Sơ Đồ Khán Phòng Sự Kiện · Biểu Quyết Live &amp; Lucky Draw</a:t>
            </a:r>
            <a:endParaRPr lang="en-US" sz="1250" dirty="0"/>
          </a:p>
        </p:txBody>
      </p:sp>
      <p:sp>
        <p:nvSpPr>
          <p:cNvPr id="9" name="Shape 7"/>
          <p:cNvSpPr/>
          <p:nvPr/>
        </p:nvSpPr>
        <p:spPr>
          <a:xfrm>
            <a:off x="2011680" y="4251960"/>
            <a:ext cx="8165592" cy="1645920"/>
          </a:xfrm>
          <a:prstGeom prst="rect">
            <a:avLst/>
          </a:prstGeom>
          <a:solidFill>
            <a:srgbClr val="FFFFFF"/>
          </a:solidFill>
          <a:ln w="19050">
            <a:solidFill>
              <a:srgbClr val="BAE6FD"/>
            </a:solidFill>
            <a:prstDash val="solid"/>
          </a:ln>
        </p:spPr>
      </p:sp>
      <p:sp>
        <p:nvSpPr>
          <p:cNvPr id="10" name="Text 8"/>
          <p:cNvSpPr/>
          <p:nvPr/>
        </p:nvSpPr>
        <p:spPr>
          <a:xfrm>
            <a:off x="2286000" y="4389120"/>
            <a:ext cx="7616952" cy="1371600"/>
          </a:xfrm>
          <a:prstGeom prst="rect">
            <a:avLst/>
          </a:prstGeom>
          <a:noFill/>
          <a:ln/>
        </p:spPr>
        <p:txBody>
          <a:bodyPr wrap="square" rtlCol="0" anchor="ctr"/>
          <a:lstStyle/>
          <a:p>
            <a:pPr algn="ctr" indent="0" marL="0">
              <a:buNone/>
            </a:pPr>
            <a:r>
              <a:rPr lang="en-US" sz="1200" b="1" dirty="0">
                <a:solidFill>
                  <a:srgbClr val="003B95"/>
                </a:solidFill>
                <a:latin typeface="Calibri" pitchFamily="34" charset="0"/>
                <a:ea typeface="Calibri" pitchFamily="34" charset="-122"/>
                <a:cs typeface="Calibri" pitchFamily="34" charset="-120"/>
              </a:rPr>
              <a:t>Đơn Vị Chủ Quản: </a:t>
            </a:r>
            <a:pPr algn="ctr" indent="0" marL="0">
              <a:buNone/>
            </a:pPr>
            <a:r>
              <a:rPr lang="en-US" sz="1200" dirty="0">
                <a:solidFill>
                  <a:srgbClr val="334155"/>
                </a:solidFill>
                <a:latin typeface="Calibri" pitchFamily="34" charset="0"/>
                <a:ea typeface="Calibri" pitchFamily="34" charset="-122"/>
                <a:cs typeface="Calibri" pitchFamily="34" charset="-120"/>
              </a:rPr>
              <a:t>Ban Quản Trị &amp; Ban Thư Ký CLB Doanh Nhân CEO 1983 (Trực thuộc HanoiBA)
</a:t>
            </a:r>
            <a:pPr algn="ctr" indent="0" marL="0">
              <a:buNone/>
            </a:pPr>
            <a:r>
              <a:rPr lang="en-US" sz="1200" b="1" dirty="0">
                <a:solidFill>
                  <a:srgbClr val="003B95"/>
                </a:solidFill>
                <a:latin typeface="Calibri" pitchFamily="34" charset="0"/>
                <a:ea typeface="Calibri" pitchFamily="34" charset="-122"/>
                <a:cs typeface="Calibri" pitchFamily="34" charset="-120"/>
              </a:rPr>
              <a:t>Chuyên Viên Báo Cáo: </a:t>
            </a:r>
            <a:pPr algn="ctr" indent="0" marL="0">
              <a:buNone/>
            </a:pPr>
            <a:r>
              <a:rPr lang="en-US" sz="1200" dirty="0">
                <a:solidFill>
                  <a:srgbClr val="334155"/>
                </a:solidFill>
                <a:latin typeface="Calibri" pitchFamily="34" charset="0"/>
                <a:ea typeface="Calibri" pitchFamily="34" charset="-122"/>
                <a:cs typeface="Calibri" pitchFamily="34" charset="-120"/>
              </a:rPr>
              <a:t>Phạm Văn Vũ  |  </a:t>
            </a:r>
            <a:pPr algn="ctr" indent="0" marL="0">
              <a:buNone/>
            </a:pPr>
            <a:r>
              <a:rPr lang="en-US" sz="1200" b="1" dirty="0">
                <a:solidFill>
                  <a:srgbClr val="003B95"/>
                </a:solidFill>
                <a:latin typeface="Calibri" pitchFamily="34" charset="0"/>
                <a:ea typeface="Calibri" pitchFamily="34" charset="-122"/>
                <a:cs typeface="Calibri" pitchFamily="34" charset="-120"/>
              </a:rPr>
              <a:t>Phiên Bản: </a:t>
            </a:r>
            <a:pPr algn="ctr" indent="0" marL="0">
              <a:buNone/>
            </a:pPr>
            <a:r>
              <a:rPr lang="en-US" sz="1200" dirty="0">
                <a:solidFill>
                  <a:srgbClr val="334155"/>
                </a:solidFill>
                <a:latin typeface="Calibri" pitchFamily="34" charset="0"/>
                <a:ea typeface="Calibri" pitchFamily="34" charset="-122"/>
                <a:cs typeface="Calibri" pitchFamily="34" charset="-120"/>
              </a:rPr>
              <a:t>Hệ Thống CRM 2.0 (Official Release)
</a:t>
            </a:r>
            <a:pPr algn="ctr" indent="0" marL="0">
              <a:buNone/>
            </a:pPr>
            <a:r>
              <a:rPr lang="en-US" sz="1200" b="1" dirty="0">
                <a:solidFill>
                  <a:srgbClr val="003B95"/>
                </a:solidFill>
                <a:latin typeface="Calibri" pitchFamily="34" charset="0"/>
                <a:ea typeface="Calibri" pitchFamily="34" charset="-122"/>
                <a:cs typeface="Calibri" pitchFamily="34" charset="-120"/>
              </a:rPr>
              <a:t>Thời Gian Báo Cáo: </a:t>
            </a:r>
            <a:pPr algn="ctr" indent="0" marL="0">
              <a:buNone/>
            </a:pPr>
            <a:r>
              <a:rPr lang="en-US" sz="1200" dirty="0">
                <a:solidFill>
                  <a:srgbClr val="64748B"/>
                </a:solidFill>
                <a:latin typeface="Calibri" pitchFamily="34" charset="0"/>
                <a:ea typeface="Calibri" pitchFamily="34" charset="-122"/>
                <a:cs typeface="Calibri" pitchFamily="34" charset="-120"/>
              </a:rPr>
              <a:t>Tháng 09/2026  ·  Hà Nội, Việt Nam</a:t>
            </a:r>
            <a:endParaRPr lang="en-US" sz="1200" dirty="0"/>
          </a:p>
        </p:txBody>
      </p:sp>
      <p:sp>
        <p:nvSpPr>
          <p:cNvPr id="11" name="Text 9"/>
          <p:cNvSpPr/>
          <p:nvPr/>
        </p:nvSpPr>
        <p:spPr>
          <a:xfrm>
            <a:off x="914400" y="6263640"/>
            <a:ext cx="10360152"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3B95"/>
          </a:solidFill>
          <a:ln/>
        </p:spPr>
      </p:sp>
      <p:sp>
        <p:nvSpPr>
          <p:cNvPr id="3" name="Shape 1"/>
          <p:cNvSpPr/>
          <p:nvPr/>
        </p:nvSpPr>
        <p:spPr>
          <a:xfrm>
            <a:off x="914400" y="914400"/>
            <a:ext cx="5486400" cy="365760"/>
          </a:xfrm>
          <a:prstGeom prst="rect">
            <a:avLst/>
          </a:prstGeom>
          <a:solidFill>
            <a:srgbClr val="EFF6FF"/>
          </a:solidFill>
          <a:ln w="19050">
            <a:solidFill>
              <a:srgbClr val="BAE6FD"/>
            </a:solidFill>
            <a:prstDash val="solid"/>
          </a:ln>
        </p:spPr>
      </p:sp>
      <p:sp>
        <p:nvSpPr>
          <p:cNvPr id="4" name="Text 2"/>
          <p:cNvSpPr/>
          <p:nvPr/>
        </p:nvSpPr>
        <p:spPr>
          <a:xfrm>
            <a:off x="914400" y="914400"/>
            <a:ext cx="5486400" cy="365760"/>
          </a:xfrm>
          <a:prstGeom prst="rect">
            <a:avLst/>
          </a:prstGeom>
          <a:noFill/>
          <a:ln/>
        </p:spPr>
        <p:txBody>
          <a:bodyPr wrap="square" rtlCol="0" anchor="ctr"/>
          <a:lstStyle/>
          <a:p>
            <a:pPr algn="ctr" indent="0" marL="0">
              <a:buNone/>
            </a:pPr>
            <a:r>
              <a:rPr lang="en-US" sz="1100" b="1" dirty="0">
                <a:solidFill>
                  <a:srgbClr val="003B95"/>
                </a:solidFill>
                <a:latin typeface="Calibri" pitchFamily="34" charset="0"/>
                <a:ea typeface="Calibri" pitchFamily="34" charset="-122"/>
                <a:cs typeface="Calibri" pitchFamily="34" charset="-120"/>
              </a:rPr>
              <a:t>TRUNG TÂM ĐIỀU HÀNH &amp; QUẢN TRỊ SỐ HÓA HIỆP HỘI</a:t>
            </a:r>
            <a:endParaRPr lang="en-US" sz="1100" dirty="0"/>
          </a:p>
        </p:txBody>
      </p:sp>
      <p:sp>
        <p:nvSpPr>
          <p:cNvPr id="5" name="Text 3"/>
          <p:cNvSpPr/>
          <p:nvPr/>
        </p:nvSpPr>
        <p:spPr>
          <a:xfrm>
            <a:off x="914400" y="1463040"/>
            <a:ext cx="10360152" cy="822960"/>
          </a:xfrm>
          <a:prstGeom prst="rect">
            <a:avLst/>
          </a:prstGeom>
          <a:noFill/>
          <a:ln/>
        </p:spPr>
        <p:txBody>
          <a:bodyPr wrap="square" rtlCol="0" anchor="ctr"/>
          <a:lstStyle/>
          <a:p>
            <a:pPr indent="0" marL="0">
              <a:buNone/>
            </a:pPr>
            <a:r>
              <a:rPr lang="en-US" sz="3000" b="1" dirty="0">
                <a:solidFill>
                  <a:srgbClr val="003B95"/>
                </a:solidFill>
                <a:latin typeface="Calibri" pitchFamily="34" charset="0"/>
                <a:ea typeface="Calibri" pitchFamily="34" charset="-122"/>
                <a:cs typeface="Calibri" pitchFamily="34" charset="-120"/>
              </a:rPr>
              <a:t>TỔNG QUAN HỆ THỐNG: 4 TRỤ CỘT ĐIỀU HÀNH SỐ HÓA</a:t>
            </a:r>
            <a:endParaRPr lang="en-US" sz="3000" dirty="0"/>
          </a:p>
        </p:txBody>
      </p:sp>
      <p:sp>
        <p:nvSpPr>
          <p:cNvPr id="6" name="Text 4"/>
          <p:cNvSpPr/>
          <p:nvPr/>
        </p:nvSpPr>
        <p:spPr>
          <a:xfrm>
            <a:off x="914400" y="2331720"/>
            <a:ext cx="10360152" cy="457200"/>
          </a:xfrm>
          <a:prstGeom prst="rect">
            <a:avLst/>
          </a:prstGeom>
          <a:noFill/>
          <a:ln/>
        </p:spPr>
        <p:txBody>
          <a:bodyPr wrap="square" rtlCol="0" anchor="ctr"/>
          <a:lstStyle/>
          <a:p>
            <a:pPr indent="0" marL="0">
              <a:buNone/>
            </a:pPr>
            <a:r>
              <a:rPr lang="en-US" sz="1500" b="1" dirty="0">
                <a:solidFill>
                  <a:srgbClr val="0284C7"/>
                </a:solidFill>
                <a:latin typeface="Calibri" pitchFamily="34" charset="0"/>
                <a:ea typeface="Calibri" pitchFamily="34" charset="-122"/>
                <a:cs typeface="Calibri" pitchFamily="34" charset="-120"/>
              </a:rPr>
              <a:t>Kiểm Soát Toàn Diện: Hồ Sơ Hội Viên · Quỹ Hội VietQR · Bầu Cử &amp; Lucky Draw · Sàn B2B</a:t>
            </a:r>
            <a:endParaRPr lang="en-US" sz="1500" dirty="0"/>
          </a:p>
        </p:txBody>
      </p:sp>
      <p:sp>
        <p:nvSpPr>
          <p:cNvPr id="7" name="Shape 5"/>
          <p:cNvSpPr/>
          <p:nvPr/>
        </p:nvSpPr>
        <p:spPr>
          <a:xfrm>
            <a:off x="914400" y="3200400"/>
            <a:ext cx="2468880" cy="2468880"/>
          </a:xfrm>
          <a:prstGeom prst="rect">
            <a:avLst/>
          </a:prstGeom>
          <a:solidFill>
            <a:srgbClr val="FFFFFF"/>
          </a:solidFill>
          <a:ln w="19050">
            <a:solidFill>
              <a:srgbClr val="BAE6FD"/>
            </a:solidFill>
            <a:prstDash val="solid"/>
          </a:ln>
        </p:spPr>
      </p:sp>
      <p:sp>
        <p:nvSpPr>
          <p:cNvPr id="8" name="Text 6"/>
          <p:cNvSpPr/>
          <p:nvPr/>
        </p:nvSpPr>
        <p:spPr>
          <a:xfrm>
            <a:off x="1097280" y="3383280"/>
            <a:ext cx="731520" cy="365760"/>
          </a:xfrm>
          <a:prstGeom prst="rect">
            <a:avLst/>
          </a:prstGeom>
          <a:noFill/>
          <a:ln/>
        </p:spPr>
        <p:txBody>
          <a:bodyPr wrap="square" rtlCol="0" anchor="ctr"/>
          <a:lstStyle/>
          <a:p>
            <a:pPr indent="0" marL="0">
              <a:buNone/>
            </a:pPr>
            <a:r>
              <a:rPr lang="en-US" sz="2400" b="1" dirty="0">
                <a:solidFill>
                  <a:srgbClr val="0284C7"/>
                </a:solidFill>
                <a:latin typeface="Calibri" pitchFamily="34" charset="0"/>
                <a:ea typeface="Calibri" pitchFamily="34" charset="-122"/>
                <a:cs typeface="Calibri" pitchFamily="34" charset="-120"/>
              </a:rPr>
              <a:t>01</a:t>
            </a:r>
            <a:endParaRPr lang="en-US" sz="2400" dirty="0"/>
          </a:p>
        </p:txBody>
      </p:sp>
      <p:sp>
        <p:nvSpPr>
          <p:cNvPr id="9" name="Text 7"/>
          <p:cNvSpPr/>
          <p:nvPr/>
        </p:nvSpPr>
        <p:spPr>
          <a:xfrm>
            <a:off x="1097280" y="384048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Quản Trị Hội Viên 360°</a:t>
            </a:r>
            <a:endParaRPr lang="en-US" sz="1300" dirty="0"/>
          </a:p>
        </p:txBody>
      </p:sp>
      <p:sp>
        <p:nvSpPr>
          <p:cNvPr id="10" name="Text 8"/>
          <p:cNvSpPr/>
          <p:nvPr/>
        </p:nvSpPr>
        <p:spPr>
          <a:xfrm>
            <a:off x="109728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Thẩm định hồ sơ trực tuyến, phân bổ ban bệ và tự động cấp thông tin tài khoản qua email tức thì.</a:t>
            </a:r>
            <a:endParaRPr lang="en-US" sz="1050" dirty="0"/>
          </a:p>
        </p:txBody>
      </p:sp>
      <p:sp>
        <p:nvSpPr>
          <p:cNvPr id="11" name="Shape 9"/>
          <p:cNvSpPr/>
          <p:nvPr/>
        </p:nvSpPr>
        <p:spPr>
          <a:xfrm>
            <a:off x="3566160" y="3200400"/>
            <a:ext cx="2468880" cy="2468880"/>
          </a:xfrm>
          <a:prstGeom prst="rect">
            <a:avLst/>
          </a:prstGeom>
          <a:solidFill>
            <a:srgbClr val="FFFFFF"/>
          </a:solidFill>
          <a:ln w="19050">
            <a:solidFill>
              <a:srgbClr val="BAE6FD"/>
            </a:solidFill>
            <a:prstDash val="solid"/>
          </a:ln>
        </p:spPr>
      </p:sp>
      <p:sp>
        <p:nvSpPr>
          <p:cNvPr id="12" name="Text 10"/>
          <p:cNvSpPr/>
          <p:nvPr/>
        </p:nvSpPr>
        <p:spPr>
          <a:xfrm>
            <a:off x="3749040" y="3383280"/>
            <a:ext cx="731520" cy="365760"/>
          </a:xfrm>
          <a:prstGeom prst="rect">
            <a:avLst/>
          </a:prstGeom>
          <a:noFill/>
          <a:ln/>
        </p:spPr>
        <p:txBody>
          <a:bodyPr wrap="square" rtlCol="0" anchor="ctr"/>
          <a:lstStyle/>
          <a:p>
            <a:pPr indent="0" marL="0">
              <a:buNone/>
            </a:pPr>
            <a:r>
              <a:rPr lang="en-US" sz="2400" b="1" dirty="0">
                <a:solidFill>
                  <a:srgbClr val="0284C7"/>
                </a:solidFill>
                <a:latin typeface="Calibri" pitchFamily="34" charset="0"/>
                <a:ea typeface="Calibri" pitchFamily="34" charset="-122"/>
                <a:cs typeface="Calibri" pitchFamily="34" charset="-120"/>
              </a:rPr>
              <a:t>02</a:t>
            </a:r>
            <a:endParaRPr lang="en-US" sz="2400" dirty="0"/>
          </a:p>
        </p:txBody>
      </p:sp>
      <p:sp>
        <p:nvSpPr>
          <p:cNvPr id="13" name="Text 11"/>
          <p:cNvSpPr/>
          <p:nvPr/>
        </p:nvSpPr>
        <p:spPr>
          <a:xfrm>
            <a:off x="3749040" y="384048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Tài Chính &amp; Đối Soát VietQR</a:t>
            </a:r>
            <a:endParaRPr lang="en-US" sz="1300" dirty="0"/>
          </a:p>
        </p:txBody>
      </p:sp>
      <p:sp>
        <p:nvSpPr>
          <p:cNvPr id="14" name="Text 12"/>
          <p:cNvSpPr/>
          <p:nvPr/>
        </p:nvSpPr>
        <p:spPr>
          <a:xfrm>
            <a:off x="374904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Theo dõi niên liễm, gạch nợ hội phí tự động qua mã VietQR và minh bạch thu chi ngân quỹ.</a:t>
            </a:r>
            <a:endParaRPr lang="en-US" sz="1050" dirty="0"/>
          </a:p>
        </p:txBody>
      </p:sp>
      <p:sp>
        <p:nvSpPr>
          <p:cNvPr id="15" name="Shape 13"/>
          <p:cNvSpPr/>
          <p:nvPr/>
        </p:nvSpPr>
        <p:spPr>
          <a:xfrm>
            <a:off x="6217920" y="3200400"/>
            <a:ext cx="2468880" cy="2468880"/>
          </a:xfrm>
          <a:prstGeom prst="rect">
            <a:avLst/>
          </a:prstGeom>
          <a:solidFill>
            <a:srgbClr val="FFFFFF"/>
          </a:solidFill>
          <a:ln w="19050">
            <a:solidFill>
              <a:srgbClr val="BAE6FD"/>
            </a:solidFill>
            <a:prstDash val="solid"/>
          </a:ln>
        </p:spPr>
      </p:sp>
      <p:sp>
        <p:nvSpPr>
          <p:cNvPr id="16" name="Text 14"/>
          <p:cNvSpPr/>
          <p:nvPr/>
        </p:nvSpPr>
        <p:spPr>
          <a:xfrm>
            <a:off x="6400800" y="3383280"/>
            <a:ext cx="731520" cy="365760"/>
          </a:xfrm>
          <a:prstGeom prst="rect">
            <a:avLst/>
          </a:prstGeom>
          <a:noFill/>
          <a:ln/>
        </p:spPr>
        <p:txBody>
          <a:bodyPr wrap="square" rtlCol="0" anchor="ctr"/>
          <a:lstStyle/>
          <a:p>
            <a:pPr indent="0" marL="0">
              <a:buNone/>
            </a:pPr>
            <a:r>
              <a:rPr lang="en-US" sz="2400" b="1" dirty="0">
                <a:solidFill>
                  <a:srgbClr val="0284C7"/>
                </a:solidFill>
                <a:latin typeface="Calibri" pitchFamily="34" charset="0"/>
                <a:ea typeface="Calibri" pitchFamily="34" charset="-122"/>
                <a:cs typeface="Calibri" pitchFamily="34" charset="-120"/>
              </a:rPr>
              <a:t>03</a:t>
            </a:r>
            <a:endParaRPr lang="en-US" sz="2400" dirty="0"/>
          </a:p>
        </p:txBody>
      </p:sp>
      <p:sp>
        <p:nvSpPr>
          <p:cNvPr id="17" name="Text 15"/>
          <p:cNvSpPr/>
          <p:nvPr/>
        </p:nvSpPr>
        <p:spPr>
          <a:xfrm>
            <a:off x="6400800" y="384048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Sự Kiện, Bầu Cử &amp; Lucky Draw</a:t>
            </a:r>
            <a:endParaRPr lang="en-US" sz="1300" dirty="0"/>
          </a:p>
        </p:txBody>
      </p:sp>
      <p:sp>
        <p:nvSpPr>
          <p:cNvPr id="18" name="Text 16"/>
          <p:cNvSpPr/>
          <p:nvPr/>
        </p:nvSpPr>
        <p:spPr>
          <a:xfrm>
            <a:off x="640080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Khởi tạo vé đa tầng, sắp đặt sơ đồ khán phòng VIP, bỏ phiếu đại hội và quay số VinFast VF3.</a:t>
            </a:r>
            <a:endParaRPr lang="en-US" sz="1050" dirty="0"/>
          </a:p>
        </p:txBody>
      </p:sp>
      <p:sp>
        <p:nvSpPr>
          <p:cNvPr id="19" name="Shape 17"/>
          <p:cNvSpPr/>
          <p:nvPr/>
        </p:nvSpPr>
        <p:spPr>
          <a:xfrm>
            <a:off x="8869680" y="3200400"/>
            <a:ext cx="2468880" cy="2468880"/>
          </a:xfrm>
          <a:prstGeom prst="rect">
            <a:avLst/>
          </a:prstGeom>
          <a:solidFill>
            <a:srgbClr val="FFFFFF"/>
          </a:solidFill>
          <a:ln w="19050">
            <a:solidFill>
              <a:srgbClr val="BAE6FD"/>
            </a:solidFill>
            <a:prstDash val="solid"/>
          </a:ln>
        </p:spPr>
      </p:sp>
      <p:sp>
        <p:nvSpPr>
          <p:cNvPr id="20" name="Text 18"/>
          <p:cNvSpPr/>
          <p:nvPr/>
        </p:nvSpPr>
        <p:spPr>
          <a:xfrm>
            <a:off x="9052560" y="3383280"/>
            <a:ext cx="731520" cy="365760"/>
          </a:xfrm>
          <a:prstGeom prst="rect">
            <a:avLst/>
          </a:prstGeom>
          <a:noFill/>
          <a:ln/>
        </p:spPr>
        <p:txBody>
          <a:bodyPr wrap="square" rtlCol="0" anchor="ctr"/>
          <a:lstStyle/>
          <a:p>
            <a:pPr indent="0" marL="0">
              <a:buNone/>
            </a:pPr>
            <a:r>
              <a:rPr lang="en-US" sz="2400" b="1" dirty="0">
                <a:solidFill>
                  <a:srgbClr val="0284C7"/>
                </a:solidFill>
                <a:latin typeface="Calibri" pitchFamily="34" charset="0"/>
                <a:ea typeface="Calibri" pitchFamily="34" charset="-122"/>
                <a:cs typeface="Calibri" pitchFamily="34" charset="-120"/>
              </a:rPr>
              <a:t>04</a:t>
            </a:r>
            <a:endParaRPr lang="en-US" sz="2400" dirty="0"/>
          </a:p>
        </p:txBody>
      </p:sp>
      <p:sp>
        <p:nvSpPr>
          <p:cNvPr id="21" name="Text 19"/>
          <p:cNvSpPr/>
          <p:nvPr/>
        </p:nvSpPr>
        <p:spPr>
          <a:xfrm>
            <a:off x="9052560" y="384048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Đồng Bộ Hai Chiều Realtime</a:t>
            </a:r>
            <a:endParaRPr lang="en-US" sz="1300" dirty="0"/>
          </a:p>
        </p:txBody>
      </p:sp>
      <p:sp>
        <p:nvSpPr>
          <p:cNvPr id="22" name="Text 20"/>
          <p:cNvSpPr/>
          <p:nvPr/>
        </p:nvSpPr>
        <p:spPr>
          <a:xfrm>
            <a:off x="905256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Tách biệt chuyên sâu cho Ban Quản Trị nhưng liên kết 100% dữ liệu xuống Mobile App của hội viên.</a:t>
            </a:r>
            <a:endParaRPr lang="en-US" sz="1050" dirty="0"/>
          </a:p>
        </p:txBody>
      </p:sp>
      <p:sp>
        <p:nvSpPr>
          <p:cNvPr id="23" name="Text 21"/>
          <p:cNvSpPr/>
          <p:nvPr/>
        </p:nvSpPr>
        <p:spPr>
          <a:xfrm>
            <a:off x="914400" y="6172200"/>
            <a:ext cx="10360152" cy="320040"/>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Bản Quyền © 2026 CLB Doanh Nhân CEO 1983 · Trực thuộc Hội Doanh Nhân Trẻ Hà Nội (HanoiBA)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BÀI TOÁN &amp; THỰC TRẠNG</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Thách Thức Trong Công Tác Vận Hành Hiệp Hội Truyền Thống</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Những rào cản lớn khiến hiệp hội tiêu tốn nguồn lực và giảm hiệu quả kết nối hội viên</a:t>
            </a:r>
            <a:endParaRPr lang="en-US" sz="1200" dirty="0"/>
          </a:p>
        </p:txBody>
      </p:sp>
      <p:sp>
        <p:nvSpPr>
          <p:cNvPr id="7" name="Shape 5"/>
          <p:cNvSpPr/>
          <p:nvPr/>
        </p:nvSpPr>
        <p:spPr>
          <a:xfrm>
            <a:off x="731520" y="1920240"/>
            <a:ext cx="2560320" cy="4206240"/>
          </a:xfrm>
          <a:prstGeom prst="rect">
            <a:avLst/>
          </a:prstGeom>
          <a:solidFill>
            <a:srgbClr val="FFFFFF"/>
          </a:solidFill>
          <a:ln w="15240">
            <a:solidFill>
              <a:srgbClr val="BAE6FD"/>
            </a:solidFill>
            <a:prstDash val="solid"/>
          </a:ln>
        </p:spPr>
      </p:sp>
      <p:sp>
        <p:nvSpPr>
          <p:cNvPr id="8" name="Shape 6"/>
          <p:cNvSpPr/>
          <p:nvPr/>
        </p:nvSpPr>
        <p:spPr>
          <a:xfrm>
            <a:off x="731520" y="1920240"/>
            <a:ext cx="2560320" cy="91440"/>
          </a:xfrm>
          <a:prstGeom prst="rect">
            <a:avLst/>
          </a:prstGeom>
          <a:solidFill>
            <a:srgbClr val="003B95"/>
          </a:solidFill>
          <a:ln/>
        </p:spPr>
      </p:sp>
      <p:sp>
        <p:nvSpPr>
          <p:cNvPr id="9" name="Text 7"/>
          <p:cNvSpPr/>
          <p:nvPr/>
        </p:nvSpPr>
        <p:spPr>
          <a:xfrm>
            <a:off x="96012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0" name="Text 8"/>
          <p:cNvSpPr/>
          <p:nvPr/>
        </p:nvSpPr>
        <p:spPr>
          <a:xfrm>
            <a:off x="96012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Hồ Sơ Rời Rạc &amp; Thất Thoát Dữ Liệu</a:t>
            </a:r>
            <a:endParaRPr lang="en-US" sz="1300" dirty="0"/>
          </a:p>
        </p:txBody>
      </p:sp>
      <p:sp>
        <p:nvSpPr>
          <p:cNvPr id="11" name="Text 9"/>
          <p:cNvSpPr/>
          <p:nvPr/>
        </p:nvSpPr>
        <p:spPr>
          <a:xfrm>
            <a:off x="96012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Thông tin hội viên lưu trữ thủ công trên các file Excel, Zalo cá nhân. Khi thay đổi thư ký hoặc bàn giao nhiệm kỳ, dữ liệu dễ bị phân tán, thất lạc hoặc sai lệch.</a:t>
            </a:r>
            <a:endParaRPr lang="en-US" sz="1100" dirty="0"/>
          </a:p>
        </p:txBody>
      </p:sp>
      <p:sp>
        <p:nvSpPr>
          <p:cNvPr id="12" name="Shape 10"/>
          <p:cNvSpPr/>
          <p:nvPr/>
        </p:nvSpPr>
        <p:spPr>
          <a:xfrm>
            <a:off x="3429000" y="1920240"/>
            <a:ext cx="2560320" cy="4206240"/>
          </a:xfrm>
          <a:prstGeom prst="rect">
            <a:avLst/>
          </a:prstGeom>
          <a:solidFill>
            <a:srgbClr val="FFFFFF"/>
          </a:solidFill>
          <a:ln w="15240">
            <a:solidFill>
              <a:srgbClr val="BAE6FD"/>
            </a:solidFill>
            <a:prstDash val="solid"/>
          </a:ln>
        </p:spPr>
      </p:sp>
      <p:sp>
        <p:nvSpPr>
          <p:cNvPr id="13" name="Shape 11"/>
          <p:cNvSpPr/>
          <p:nvPr/>
        </p:nvSpPr>
        <p:spPr>
          <a:xfrm>
            <a:off x="3429000" y="1920240"/>
            <a:ext cx="2560320" cy="91440"/>
          </a:xfrm>
          <a:prstGeom prst="rect">
            <a:avLst/>
          </a:prstGeom>
          <a:solidFill>
            <a:srgbClr val="003B95"/>
          </a:solidFill>
          <a:ln/>
        </p:spPr>
      </p:sp>
      <p:sp>
        <p:nvSpPr>
          <p:cNvPr id="14" name="Text 12"/>
          <p:cNvSpPr/>
          <p:nvPr/>
        </p:nvSpPr>
        <p:spPr>
          <a:xfrm>
            <a:off x="365760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5" name="Text 13"/>
          <p:cNvSpPr/>
          <p:nvPr/>
        </p:nvSpPr>
        <p:spPr>
          <a:xfrm>
            <a:off x="365760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Đối Soát Hội Phí Thủ Công Tốn Kém</a:t>
            </a:r>
            <a:endParaRPr lang="en-US" sz="1300" dirty="0"/>
          </a:p>
        </p:txBody>
      </p:sp>
      <p:sp>
        <p:nvSpPr>
          <p:cNvPr id="16" name="Text 14"/>
          <p:cNvSpPr/>
          <p:nvPr/>
        </p:nvSpPr>
        <p:spPr>
          <a:xfrm>
            <a:off x="365760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Ban Tài chính phải kiểm tra từng giao dịch sao kê ngân hàng, nhắn tin nhắc nợ từng người và gạch nợ thủ công, mất hàng chục giờ làm việc mỗi kỳ niên liễm.</a:t>
            </a:r>
            <a:endParaRPr lang="en-US" sz="1100" dirty="0"/>
          </a:p>
        </p:txBody>
      </p:sp>
      <p:sp>
        <p:nvSpPr>
          <p:cNvPr id="17" name="Shape 15"/>
          <p:cNvSpPr/>
          <p:nvPr/>
        </p:nvSpPr>
        <p:spPr>
          <a:xfrm>
            <a:off x="6126480" y="1920240"/>
            <a:ext cx="2560320" cy="4206240"/>
          </a:xfrm>
          <a:prstGeom prst="rect">
            <a:avLst/>
          </a:prstGeom>
          <a:solidFill>
            <a:srgbClr val="FFFFFF"/>
          </a:solidFill>
          <a:ln w="15240">
            <a:solidFill>
              <a:srgbClr val="BAE6FD"/>
            </a:solidFill>
            <a:prstDash val="solid"/>
          </a:ln>
        </p:spPr>
      </p:sp>
      <p:sp>
        <p:nvSpPr>
          <p:cNvPr id="18" name="Shape 16"/>
          <p:cNvSpPr/>
          <p:nvPr/>
        </p:nvSpPr>
        <p:spPr>
          <a:xfrm>
            <a:off x="6126480" y="1920240"/>
            <a:ext cx="2560320" cy="91440"/>
          </a:xfrm>
          <a:prstGeom prst="rect">
            <a:avLst/>
          </a:prstGeom>
          <a:solidFill>
            <a:srgbClr val="003B95"/>
          </a:solidFill>
          <a:ln/>
        </p:spPr>
      </p:sp>
      <p:sp>
        <p:nvSpPr>
          <p:cNvPr id="19" name="Text 17"/>
          <p:cNvSpPr/>
          <p:nvPr/>
        </p:nvSpPr>
        <p:spPr>
          <a:xfrm>
            <a:off x="635508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0" name="Text 18"/>
          <p:cNvSpPr/>
          <p:nvPr/>
        </p:nvSpPr>
        <p:spPr>
          <a:xfrm>
            <a:off x="635508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Check-in Sự Kiện Ùn Tắc &amp; Dễ Trùng Lặp</a:t>
            </a:r>
            <a:endParaRPr lang="en-US" sz="1300" dirty="0"/>
          </a:p>
        </p:txBody>
      </p:sp>
      <p:sp>
        <p:nvSpPr>
          <p:cNvPr id="21" name="Text 19"/>
          <p:cNvSpPr/>
          <p:nvPr/>
        </p:nvSpPr>
        <p:spPr>
          <a:xfrm>
            <a:off x="635508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Tại các sự kiện lớn như Đại hội, Caravan, Gala Dinner, khâu soát vé giấy thủ công gây ùn tắc tại cửa ra vào, không kiểm soát được vé giả hoặc dùng chung vé.</a:t>
            </a:r>
            <a:endParaRPr lang="en-US" sz="1100" dirty="0"/>
          </a:p>
        </p:txBody>
      </p:sp>
      <p:sp>
        <p:nvSpPr>
          <p:cNvPr id="22" name="Shape 20"/>
          <p:cNvSpPr/>
          <p:nvPr/>
        </p:nvSpPr>
        <p:spPr>
          <a:xfrm>
            <a:off x="8823960" y="1920240"/>
            <a:ext cx="2560320" cy="4206240"/>
          </a:xfrm>
          <a:prstGeom prst="rect">
            <a:avLst/>
          </a:prstGeom>
          <a:solidFill>
            <a:srgbClr val="FFFFFF"/>
          </a:solidFill>
          <a:ln w="15240">
            <a:solidFill>
              <a:srgbClr val="BAE6FD"/>
            </a:solidFill>
            <a:prstDash val="solid"/>
          </a:ln>
        </p:spPr>
      </p:sp>
      <p:sp>
        <p:nvSpPr>
          <p:cNvPr id="23" name="Shape 21"/>
          <p:cNvSpPr/>
          <p:nvPr/>
        </p:nvSpPr>
        <p:spPr>
          <a:xfrm>
            <a:off x="8823960" y="1920240"/>
            <a:ext cx="2560320" cy="91440"/>
          </a:xfrm>
          <a:prstGeom prst="rect">
            <a:avLst/>
          </a:prstGeom>
          <a:solidFill>
            <a:srgbClr val="003B95"/>
          </a:solidFill>
          <a:ln/>
        </p:spPr>
      </p:sp>
      <p:sp>
        <p:nvSpPr>
          <p:cNvPr id="24" name="Text 22"/>
          <p:cNvSpPr/>
          <p:nvPr/>
        </p:nvSpPr>
        <p:spPr>
          <a:xfrm>
            <a:off x="905256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5" name="Text 23"/>
          <p:cNvSpPr/>
          <p:nvPr/>
        </p:nvSpPr>
        <p:spPr>
          <a:xfrm>
            <a:off x="905256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Giao Thương Nội Khối Thiếu Đo Lường</a:t>
            </a:r>
            <a:endParaRPr lang="en-US" sz="1300" dirty="0"/>
          </a:p>
        </p:txBody>
      </p:sp>
      <p:sp>
        <p:nvSpPr>
          <p:cNvPr id="26" name="Text 24"/>
          <p:cNvSpPr/>
          <p:nvPr/>
        </p:nvSpPr>
        <p:spPr>
          <a:xfrm>
            <a:off x="905256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Nhu cầu mua bán, hợp tác của các doanh nghiệp thành viên chia sẻ tự phát trong các nhóm chat, không có cơ chế thẩm định xuất xứ và không đo lường được quy mô giá trị Deals.</a:t>
            </a:r>
            <a:endParaRPr lang="en-US" sz="1100" dirty="0"/>
          </a:p>
        </p:txBody>
      </p:sp>
      <p:sp>
        <p:nvSpPr>
          <p:cNvPr id="27" name="Shape 25"/>
          <p:cNvSpPr/>
          <p:nvPr/>
        </p:nvSpPr>
        <p:spPr>
          <a:xfrm>
            <a:off x="731520" y="6400800"/>
            <a:ext cx="10725912" cy="18288"/>
          </a:xfrm>
          <a:prstGeom prst="rect">
            <a:avLst/>
          </a:prstGeom>
          <a:solidFill>
            <a:srgbClr val="BAE6FD"/>
          </a:solidFill>
          <a:ln/>
        </p:spPr>
      </p:sp>
      <p:sp>
        <p:nvSpPr>
          <p:cNvPr id="28" name="Text 26"/>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7"/>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GIỚI THIỆU HIỆP HỘI</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Câu Lạc Bộ Doanh Nhân CEO 1983 - Hội Doanh Nhân Trẻ Hà Nội</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Mạng lưới tinh hoa quy tụ các nhà sáng lập và lãnh đạo doanh nghiệp sinh năm Quý Hợi 1983</a:t>
            </a:r>
            <a:endParaRPr lang="en-US" sz="1200" dirty="0"/>
          </a:p>
        </p:txBody>
      </p:sp>
      <p:sp>
        <p:nvSpPr>
          <p:cNvPr id="7" name="Shape 5"/>
          <p:cNvSpPr/>
          <p:nvPr/>
        </p:nvSpPr>
        <p:spPr>
          <a:xfrm>
            <a:off x="731520" y="1920240"/>
            <a:ext cx="2560320" cy="4206240"/>
          </a:xfrm>
          <a:prstGeom prst="rect">
            <a:avLst/>
          </a:prstGeom>
          <a:solidFill>
            <a:srgbClr val="FFFFFF"/>
          </a:solidFill>
          <a:ln w="15240">
            <a:solidFill>
              <a:srgbClr val="BAE6FD"/>
            </a:solidFill>
            <a:prstDash val="solid"/>
          </a:ln>
        </p:spPr>
      </p:sp>
      <p:sp>
        <p:nvSpPr>
          <p:cNvPr id="8" name="Shape 6"/>
          <p:cNvSpPr/>
          <p:nvPr/>
        </p:nvSpPr>
        <p:spPr>
          <a:xfrm>
            <a:off x="731520" y="1920240"/>
            <a:ext cx="2560320" cy="91440"/>
          </a:xfrm>
          <a:prstGeom prst="rect">
            <a:avLst/>
          </a:prstGeom>
          <a:solidFill>
            <a:srgbClr val="003B95"/>
          </a:solidFill>
          <a:ln/>
        </p:spPr>
      </p:sp>
      <p:sp>
        <p:nvSpPr>
          <p:cNvPr id="9" name="Shape 7"/>
          <p:cNvSpPr/>
          <p:nvPr/>
        </p:nvSpPr>
        <p:spPr>
          <a:xfrm>
            <a:off x="960120" y="2148840"/>
            <a:ext cx="2103120" cy="274320"/>
          </a:xfrm>
          <a:prstGeom prst="rect">
            <a:avLst/>
          </a:prstGeom>
          <a:solidFill>
            <a:srgbClr val="EFF6FF"/>
          </a:solidFill>
          <a:ln/>
        </p:spPr>
      </p:sp>
      <p:sp>
        <p:nvSpPr>
          <p:cNvPr id="10" name="Text 8"/>
          <p:cNvSpPr/>
          <p:nvPr/>
        </p:nvSpPr>
        <p:spPr>
          <a:xfrm>
            <a:off x="96012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TÔN CHỈ HOẠT ĐỘNG</a:t>
            </a:r>
            <a:endParaRPr lang="en-US" sz="950" dirty="0"/>
          </a:p>
        </p:txBody>
      </p:sp>
      <p:sp>
        <p:nvSpPr>
          <p:cNvPr id="11" name="Text 9"/>
          <p:cNvSpPr/>
          <p:nvPr/>
        </p:nvSpPr>
        <p:spPr>
          <a:xfrm>
            <a:off x="96012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Đoàn Kết - Bản Lĩnh - Tiên Phong</a:t>
            </a:r>
            <a:endParaRPr lang="en-US" sz="1300" dirty="0"/>
          </a:p>
        </p:txBody>
      </p:sp>
      <p:sp>
        <p:nvSpPr>
          <p:cNvPr id="12" name="Text 10"/>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Xây dựng cộng đồng doanh nhân đồng niên vững mạnh, sẻ chia kinh nghiệm quản trị, tương trợ nguồn lực và cùng nhau kiến tạo các giá trị kinh tế bền vững cho xã hội.</a:t>
            </a:r>
            <a:endParaRPr lang="en-US" sz="1100" dirty="0"/>
          </a:p>
        </p:txBody>
      </p:sp>
      <p:sp>
        <p:nvSpPr>
          <p:cNvPr id="13" name="Shape 11"/>
          <p:cNvSpPr/>
          <p:nvPr/>
        </p:nvSpPr>
        <p:spPr>
          <a:xfrm>
            <a:off x="3429000" y="1920240"/>
            <a:ext cx="2560320" cy="4206240"/>
          </a:xfrm>
          <a:prstGeom prst="rect">
            <a:avLst/>
          </a:prstGeom>
          <a:solidFill>
            <a:srgbClr val="FFFFFF"/>
          </a:solidFill>
          <a:ln w="15240">
            <a:solidFill>
              <a:srgbClr val="BAE6FD"/>
            </a:solidFill>
            <a:prstDash val="solid"/>
          </a:ln>
        </p:spPr>
      </p:sp>
      <p:sp>
        <p:nvSpPr>
          <p:cNvPr id="14" name="Shape 12"/>
          <p:cNvSpPr/>
          <p:nvPr/>
        </p:nvSpPr>
        <p:spPr>
          <a:xfrm>
            <a:off x="3429000" y="1920240"/>
            <a:ext cx="2560320" cy="91440"/>
          </a:xfrm>
          <a:prstGeom prst="rect">
            <a:avLst/>
          </a:prstGeom>
          <a:solidFill>
            <a:srgbClr val="003B95"/>
          </a:solidFill>
          <a:ln/>
        </p:spPr>
      </p:sp>
      <p:sp>
        <p:nvSpPr>
          <p:cNvPr id="15" name="Shape 13"/>
          <p:cNvSpPr/>
          <p:nvPr/>
        </p:nvSpPr>
        <p:spPr>
          <a:xfrm>
            <a:off x="3657600" y="2148840"/>
            <a:ext cx="2103120" cy="274320"/>
          </a:xfrm>
          <a:prstGeom prst="rect">
            <a:avLst/>
          </a:prstGeom>
          <a:solidFill>
            <a:srgbClr val="EFF6FF"/>
          </a:solidFill>
          <a:ln/>
        </p:spPr>
      </p:sp>
      <p:sp>
        <p:nvSpPr>
          <p:cNvPr id="16" name="Text 14"/>
          <p:cNvSpPr/>
          <p:nvPr/>
        </p:nvSpPr>
        <p:spPr>
          <a:xfrm>
            <a:off x="365760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QUY MÔ CỘNG ĐỒNG</a:t>
            </a:r>
            <a:endParaRPr lang="en-US" sz="950" dirty="0"/>
          </a:p>
        </p:txBody>
      </p:sp>
      <p:sp>
        <p:nvSpPr>
          <p:cNvPr id="17" name="Text 15"/>
          <p:cNvSpPr/>
          <p:nvPr/>
        </p:nvSpPr>
        <p:spPr>
          <a:xfrm>
            <a:off x="365760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100+ Lãnh Đạo C-Level Đa Ngành</a:t>
            </a:r>
            <a:endParaRPr lang="en-US" sz="1300" dirty="0"/>
          </a:p>
        </p:txBody>
      </p:sp>
      <p:sp>
        <p:nvSpPr>
          <p:cNvPr id="18" name="Text 16"/>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Quy tụ hơn 100 Chủ tịch, Tổng Giám Đốc hoạt động trong các lĩnh vực trọng điểm: Xây dựng, Cơ khí sản xuất, Công nghệ thông tin, F&amp;B, Logistics, Y tế và Tài chính.</a:t>
            </a:r>
            <a:endParaRPr lang="en-US" sz="1100" dirty="0"/>
          </a:p>
        </p:txBody>
      </p:sp>
      <p:sp>
        <p:nvSpPr>
          <p:cNvPr id="19" name="Shape 17"/>
          <p:cNvSpPr/>
          <p:nvPr/>
        </p:nvSpPr>
        <p:spPr>
          <a:xfrm>
            <a:off x="6126480" y="1920240"/>
            <a:ext cx="2560320" cy="4206240"/>
          </a:xfrm>
          <a:prstGeom prst="rect">
            <a:avLst/>
          </a:prstGeom>
          <a:solidFill>
            <a:srgbClr val="FFFFFF"/>
          </a:solidFill>
          <a:ln w="15240">
            <a:solidFill>
              <a:srgbClr val="BAE6FD"/>
            </a:solidFill>
            <a:prstDash val="solid"/>
          </a:ln>
        </p:spPr>
      </p:sp>
      <p:sp>
        <p:nvSpPr>
          <p:cNvPr id="20" name="Shape 18"/>
          <p:cNvSpPr/>
          <p:nvPr/>
        </p:nvSpPr>
        <p:spPr>
          <a:xfrm>
            <a:off x="6126480" y="1920240"/>
            <a:ext cx="2560320" cy="91440"/>
          </a:xfrm>
          <a:prstGeom prst="rect">
            <a:avLst/>
          </a:prstGeom>
          <a:solidFill>
            <a:srgbClr val="003B95"/>
          </a:solidFill>
          <a:ln/>
        </p:spPr>
      </p:sp>
      <p:sp>
        <p:nvSpPr>
          <p:cNvPr id="21" name="Shape 19"/>
          <p:cNvSpPr/>
          <p:nvPr/>
        </p:nvSpPr>
        <p:spPr>
          <a:xfrm>
            <a:off x="6355080" y="2148840"/>
            <a:ext cx="2103120" cy="274320"/>
          </a:xfrm>
          <a:prstGeom prst="rect">
            <a:avLst/>
          </a:prstGeom>
          <a:solidFill>
            <a:srgbClr val="EFF6FF"/>
          </a:solidFill>
          <a:ln/>
        </p:spPr>
      </p:sp>
      <p:sp>
        <p:nvSpPr>
          <p:cNvPr id="22" name="Text 20"/>
          <p:cNvSpPr/>
          <p:nvPr/>
        </p:nvSpPr>
        <p:spPr>
          <a:xfrm>
            <a:off x="635508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TỔ CHỨC CHẶT CHẼ</a:t>
            </a:r>
            <a:endParaRPr lang="en-US" sz="950" dirty="0"/>
          </a:p>
        </p:txBody>
      </p:sp>
      <p:sp>
        <p:nvSpPr>
          <p:cNvPr id="23" name="Text 21"/>
          <p:cNvSpPr/>
          <p:nvPr/>
        </p:nvSpPr>
        <p:spPr>
          <a:xfrm>
            <a:off x="635508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5 Ban Chuyên Môn Trực Thuộc</a:t>
            </a:r>
            <a:endParaRPr lang="en-US" sz="1300" dirty="0"/>
          </a:p>
        </p:txBody>
      </p:sp>
      <p:sp>
        <p:nvSpPr>
          <p:cNvPr id="24" name="Text 22"/>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Hệ thống điều hành gồm: Ban Chủ Tịch, Ban Thư Ký, Ban Xúc Tiến Thương Mại, Ban Sự Kiện &amp; Truyền Thông, Ban Tài Chính &amp; Kiểm Soát hoạt động bài bản và chuyên nghiệp.</a:t>
            </a:r>
            <a:endParaRPr lang="en-US" sz="1100" dirty="0"/>
          </a:p>
        </p:txBody>
      </p:sp>
      <p:sp>
        <p:nvSpPr>
          <p:cNvPr id="25" name="Shape 23"/>
          <p:cNvSpPr/>
          <p:nvPr/>
        </p:nvSpPr>
        <p:spPr>
          <a:xfrm>
            <a:off x="8823960" y="1920240"/>
            <a:ext cx="2560320" cy="4206240"/>
          </a:xfrm>
          <a:prstGeom prst="rect">
            <a:avLst/>
          </a:prstGeom>
          <a:solidFill>
            <a:srgbClr val="FFFFFF"/>
          </a:solidFill>
          <a:ln w="15240">
            <a:solidFill>
              <a:srgbClr val="BAE6FD"/>
            </a:solidFill>
            <a:prstDash val="solid"/>
          </a:ln>
        </p:spPr>
      </p:sp>
      <p:sp>
        <p:nvSpPr>
          <p:cNvPr id="26" name="Shape 24"/>
          <p:cNvSpPr/>
          <p:nvPr/>
        </p:nvSpPr>
        <p:spPr>
          <a:xfrm>
            <a:off x="8823960" y="1920240"/>
            <a:ext cx="2560320" cy="91440"/>
          </a:xfrm>
          <a:prstGeom prst="rect">
            <a:avLst/>
          </a:prstGeom>
          <a:solidFill>
            <a:srgbClr val="003B95"/>
          </a:solidFill>
          <a:ln/>
        </p:spPr>
      </p:sp>
      <p:sp>
        <p:nvSpPr>
          <p:cNvPr id="27" name="Shape 25"/>
          <p:cNvSpPr/>
          <p:nvPr/>
        </p:nvSpPr>
        <p:spPr>
          <a:xfrm>
            <a:off x="9052560" y="2148840"/>
            <a:ext cx="2103120" cy="274320"/>
          </a:xfrm>
          <a:prstGeom prst="rect">
            <a:avLst/>
          </a:prstGeom>
          <a:solidFill>
            <a:srgbClr val="EFF6FF"/>
          </a:solidFill>
          <a:ln/>
        </p:spPr>
      </p:sp>
      <p:sp>
        <p:nvSpPr>
          <p:cNvPr id="28" name="Text 26"/>
          <p:cNvSpPr/>
          <p:nvPr/>
        </p:nvSpPr>
        <p:spPr>
          <a:xfrm>
            <a:off x="905256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TẦM NHÌN SỐ HÓA</a:t>
            </a:r>
            <a:endParaRPr lang="en-US" sz="950" dirty="0"/>
          </a:p>
        </p:txBody>
      </p:sp>
      <p:sp>
        <p:nvSpPr>
          <p:cNvPr id="29" name="Text 27"/>
          <p:cNvSpPr/>
          <p:nvPr/>
        </p:nvSpPr>
        <p:spPr>
          <a:xfrm>
            <a:off x="905256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Hiệp Hội Số Tiên Phong Toàn Quốc</a:t>
            </a:r>
            <a:endParaRPr lang="en-US" sz="1300" dirty="0"/>
          </a:p>
        </p:txBody>
      </p:sp>
      <p:sp>
        <p:nvSpPr>
          <p:cNvPr id="30" name="Text 28"/>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Mục tiêu trở thành hình mẫu chuẩn mực về ứng dụng công nghệ trong quản trị và vận hành hiệp hội doanh nghiệp, chuyển giao tài sản số trọn vẹn qua các nhiệm kỳ.</a:t>
            </a:r>
            <a:endParaRPr lang="en-US" sz="1100" dirty="0"/>
          </a:p>
        </p:txBody>
      </p:sp>
      <p:sp>
        <p:nvSpPr>
          <p:cNvPr id="31" name="Shape 29"/>
          <p:cNvSpPr/>
          <p:nvPr/>
        </p:nvSpPr>
        <p:spPr>
          <a:xfrm>
            <a:off x="731520" y="6400800"/>
            <a:ext cx="10725912" cy="18288"/>
          </a:xfrm>
          <a:prstGeom prst="rect">
            <a:avLst/>
          </a:prstGeom>
          <a:solidFill>
            <a:srgbClr val="BAE6FD"/>
          </a:solidFill>
          <a:ln/>
        </p:spPr>
      </p:sp>
      <p:sp>
        <p:nvSpPr>
          <p:cNvPr id="32" name="Text 30"/>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33" name="Text 31"/>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MỤC ĐÍCH &amp; GIẢI PHÁP</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Kiến Trúc Nền Tảng Kép (Dual-Platform) Cho Hiệp Hội Số</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Tách biệt chuyên sâu giao diện người dùng nhưng chia sẻ chung cơ sở dữ liệu thời gian thực</a:t>
            </a:r>
            <a:endParaRPr lang="en-US" sz="1200" dirty="0"/>
          </a:p>
        </p:txBody>
      </p:sp>
      <p:sp>
        <p:nvSpPr>
          <p:cNvPr id="7" name="Shape 5"/>
          <p:cNvSpPr/>
          <p:nvPr/>
        </p:nvSpPr>
        <p:spPr>
          <a:xfrm>
            <a:off x="731520" y="1920240"/>
            <a:ext cx="2560320" cy="4206240"/>
          </a:xfrm>
          <a:prstGeom prst="rect">
            <a:avLst/>
          </a:prstGeom>
          <a:solidFill>
            <a:srgbClr val="FFFFFF"/>
          </a:solidFill>
          <a:ln w="15240">
            <a:solidFill>
              <a:srgbClr val="E2E8F0"/>
            </a:solidFill>
            <a:prstDash val="solid"/>
          </a:ln>
        </p:spPr>
      </p:sp>
      <p:sp>
        <p:nvSpPr>
          <p:cNvPr id="8" name="Shape 6"/>
          <p:cNvSpPr/>
          <p:nvPr/>
        </p:nvSpPr>
        <p:spPr>
          <a:xfrm>
            <a:off x="731520" y="1920240"/>
            <a:ext cx="2560320" cy="91440"/>
          </a:xfrm>
          <a:prstGeom prst="rect">
            <a:avLst/>
          </a:prstGeom>
          <a:solidFill>
            <a:srgbClr val="003B95"/>
          </a:solidFill>
          <a:ln/>
        </p:spPr>
      </p:sp>
      <p:sp>
        <p:nvSpPr>
          <p:cNvPr id="9" name="Text 7"/>
          <p:cNvSpPr/>
          <p:nvPr/>
        </p:nvSpPr>
        <p:spPr>
          <a:xfrm>
            <a:off x="96012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01</a:t>
            </a:r>
            <a:endParaRPr lang="en-US" sz="2200" dirty="0"/>
          </a:p>
        </p:txBody>
      </p:sp>
      <p:sp>
        <p:nvSpPr>
          <p:cNvPr id="10" name="Text 8"/>
          <p:cNvSpPr/>
          <p:nvPr/>
        </p:nvSpPr>
        <p:spPr>
          <a:xfrm>
            <a:off x="96012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Mục Đích Phát Triển</a:t>
            </a:r>
            <a:endParaRPr lang="en-US" sz="1300" dirty="0"/>
          </a:p>
        </p:txBody>
      </p:sp>
      <p:sp>
        <p:nvSpPr>
          <p:cNvPr id="11" name="Text 9"/>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Số hóa 100% quy trình điều hành của Ban Lãnh Đạo, tự động hóa đối soát tài chính, kiểm soát cổng sự kiện trong 1 giây và cung cấp không gian giao thương tin cậy cho hội viên.</a:t>
            </a:r>
            <a:endParaRPr lang="en-US" sz="1100" dirty="0"/>
          </a:p>
        </p:txBody>
      </p:sp>
      <p:sp>
        <p:nvSpPr>
          <p:cNvPr id="12" name="Shape 10"/>
          <p:cNvSpPr/>
          <p:nvPr/>
        </p:nvSpPr>
        <p:spPr>
          <a:xfrm>
            <a:off x="3429000" y="1920240"/>
            <a:ext cx="2560320" cy="4206240"/>
          </a:xfrm>
          <a:prstGeom prst="rect">
            <a:avLst/>
          </a:prstGeom>
          <a:solidFill>
            <a:srgbClr val="FFFFFF"/>
          </a:solidFill>
          <a:ln w="15240">
            <a:solidFill>
              <a:srgbClr val="E2E8F0"/>
            </a:solidFill>
            <a:prstDash val="solid"/>
          </a:ln>
        </p:spPr>
      </p:sp>
      <p:sp>
        <p:nvSpPr>
          <p:cNvPr id="13" name="Shape 11"/>
          <p:cNvSpPr/>
          <p:nvPr/>
        </p:nvSpPr>
        <p:spPr>
          <a:xfrm>
            <a:off x="3429000" y="1920240"/>
            <a:ext cx="2560320" cy="91440"/>
          </a:xfrm>
          <a:prstGeom prst="rect">
            <a:avLst/>
          </a:prstGeom>
          <a:solidFill>
            <a:srgbClr val="0284C7"/>
          </a:solidFill>
          <a:ln/>
        </p:spPr>
      </p:sp>
      <p:sp>
        <p:nvSpPr>
          <p:cNvPr id="14" name="Text 12"/>
          <p:cNvSpPr/>
          <p:nvPr/>
        </p:nvSpPr>
        <p:spPr>
          <a:xfrm>
            <a:off x="365760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02</a:t>
            </a:r>
            <a:endParaRPr lang="en-US" sz="2200" dirty="0"/>
          </a:p>
        </p:txBody>
      </p:sp>
      <p:sp>
        <p:nvSpPr>
          <p:cNvPr id="15" name="Text 13"/>
          <p:cNvSpPr/>
          <p:nvPr/>
        </p:nvSpPr>
        <p:spPr>
          <a:xfrm>
            <a:off x="365760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Web CRM Quản Trị Tập Trung</a:t>
            </a:r>
            <a:endParaRPr lang="en-US" sz="1300" dirty="0"/>
          </a:p>
        </p:txBody>
      </p:sp>
      <p:sp>
        <p:nvSpPr>
          <p:cNvPr id="16" name="Text 14"/>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Trung tâm điều hành dành riêng cho Ban Chủ Tịch và Ban Thư Ký trên máy tính văn phòng: Thẩm định hồ sơ, quản trị vé đại biểu, sơ đồ bàn VIP, sổ quỹ kế toán và kiểm duyệt sản phẩm.</a:t>
            </a:r>
            <a:endParaRPr lang="en-US" sz="1100" dirty="0"/>
          </a:p>
        </p:txBody>
      </p:sp>
      <p:sp>
        <p:nvSpPr>
          <p:cNvPr id="17" name="Shape 15"/>
          <p:cNvSpPr/>
          <p:nvPr/>
        </p:nvSpPr>
        <p:spPr>
          <a:xfrm>
            <a:off x="6126480" y="1920240"/>
            <a:ext cx="2560320" cy="4206240"/>
          </a:xfrm>
          <a:prstGeom prst="rect">
            <a:avLst/>
          </a:prstGeom>
          <a:solidFill>
            <a:srgbClr val="FFFFFF"/>
          </a:solidFill>
          <a:ln w="15240">
            <a:solidFill>
              <a:srgbClr val="E2E8F0"/>
            </a:solidFill>
            <a:prstDash val="solid"/>
          </a:ln>
        </p:spPr>
      </p:sp>
      <p:sp>
        <p:nvSpPr>
          <p:cNvPr id="18" name="Shape 16"/>
          <p:cNvSpPr/>
          <p:nvPr/>
        </p:nvSpPr>
        <p:spPr>
          <a:xfrm>
            <a:off x="6126480" y="1920240"/>
            <a:ext cx="2560320" cy="91440"/>
          </a:xfrm>
          <a:prstGeom prst="rect">
            <a:avLst/>
          </a:prstGeom>
          <a:solidFill>
            <a:srgbClr val="003B95"/>
          </a:solidFill>
          <a:ln/>
        </p:spPr>
      </p:sp>
      <p:sp>
        <p:nvSpPr>
          <p:cNvPr id="19" name="Text 17"/>
          <p:cNvSpPr/>
          <p:nvPr/>
        </p:nvSpPr>
        <p:spPr>
          <a:xfrm>
            <a:off x="635508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03</a:t>
            </a:r>
            <a:endParaRPr lang="en-US" sz="2200" dirty="0"/>
          </a:p>
        </p:txBody>
      </p:sp>
      <p:sp>
        <p:nvSpPr>
          <p:cNvPr id="20" name="Text 18"/>
          <p:cNvSpPr/>
          <p:nvPr/>
        </p:nvSpPr>
        <p:spPr>
          <a:xfrm>
            <a:off x="635508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Mobile App Hội Viên Bỏ Túi</a:t>
            </a:r>
            <a:endParaRPr lang="en-US" sz="1300" dirty="0"/>
          </a:p>
        </p:txBody>
      </p:sp>
      <p:sp>
        <p:nvSpPr>
          <p:cNvPr id="21" name="Text 19"/>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Ứng dụng di động cài trực tiếp trên iOS và Android cho doanh nhân: Thẻ hội viên VIP 3D, danh thiếp chạm NFC, nhận vé QR check-in, chat bảo mật và quét VietQR nộp hội phí 1 chạm.</a:t>
            </a:r>
            <a:endParaRPr lang="en-US" sz="1100" dirty="0"/>
          </a:p>
        </p:txBody>
      </p:sp>
      <p:sp>
        <p:nvSpPr>
          <p:cNvPr id="22" name="Shape 20"/>
          <p:cNvSpPr/>
          <p:nvPr/>
        </p:nvSpPr>
        <p:spPr>
          <a:xfrm>
            <a:off x="8823960" y="1920240"/>
            <a:ext cx="2560320" cy="4206240"/>
          </a:xfrm>
          <a:prstGeom prst="rect">
            <a:avLst/>
          </a:prstGeom>
          <a:solidFill>
            <a:srgbClr val="FFFFFF"/>
          </a:solidFill>
          <a:ln w="15240">
            <a:solidFill>
              <a:srgbClr val="E2E8F0"/>
            </a:solidFill>
            <a:prstDash val="solid"/>
          </a:ln>
        </p:spPr>
      </p:sp>
      <p:sp>
        <p:nvSpPr>
          <p:cNvPr id="23" name="Shape 21"/>
          <p:cNvSpPr/>
          <p:nvPr/>
        </p:nvSpPr>
        <p:spPr>
          <a:xfrm>
            <a:off x="8823960" y="1920240"/>
            <a:ext cx="2560320" cy="91440"/>
          </a:xfrm>
          <a:prstGeom prst="rect">
            <a:avLst/>
          </a:prstGeom>
          <a:solidFill>
            <a:srgbClr val="0284C7"/>
          </a:solidFill>
          <a:ln/>
        </p:spPr>
      </p:sp>
      <p:sp>
        <p:nvSpPr>
          <p:cNvPr id="24" name="Text 22"/>
          <p:cNvSpPr/>
          <p:nvPr/>
        </p:nvSpPr>
        <p:spPr>
          <a:xfrm>
            <a:off x="905256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04</a:t>
            </a:r>
            <a:endParaRPr lang="en-US" sz="2200" dirty="0"/>
          </a:p>
        </p:txBody>
      </p:sp>
      <p:sp>
        <p:nvSpPr>
          <p:cNvPr id="25" name="Text 23"/>
          <p:cNvSpPr/>
          <p:nvPr/>
        </p:nvSpPr>
        <p:spPr>
          <a:xfrm>
            <a:off x="905256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Đồng Bộ Hai Chiều Tức Thời</a:t>
            </a:r>
            <a:endParaRPr lang="en-US" sz="1300" dirty="0"/>
          </a:p>
        </p:txBody>
      </p:sp>
      <p:sp>
        <p:nvSpPr>
          <p:cNvPr id="26" name="Text 24"/>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Mọi thao tác phê duyệt trên Web CRM lập tức cập nhật dữ liệu xuống điện thoại của hội viên qua đường truyền bảo mật SSL/HTTPS, đảm bảo dữ liệu nhất quán và bảo mật tuyệt đối.</a:t>
            </a:r>
            <a:endParaRPr lang="en-US" sz="1100" dirty="0"/>
          </a:p>
        </p:txBody>
      </p:sp>
      <p:sp>
        <p:nvSpPr>
          <p:cNvPr id="27" name="Shape 25"/>
          <p:cNvSpPr/>
          <p:nvPr/>
        </p:nvSpPr>
        <p:spPr>
          <a:xfrm>
            <a:off x="731520" y="6400800"/>
            <a:ext cx="10725912" cy="18288"/>
          </a:xfrm>
          <a:prstGeom prst="rect">
            <a:avLst/>
          </a:prstGeom>
          <a:solidFill>
            <a:srgbClr val="BAE6FD"/>
          </a:solidFill>
          <a:ln/>
        </p:spPr>
      </p:sp>
      <p:sp>
        <p:nvSpPr>
          <p:cNvPr id="28" name="Text 26"/>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7"/>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01</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Cổng Đăng Nhập CRM Quản Trị &amp; Phân Quyền Bảo Mật</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Bảo vệ an toàn thông tin hiệp hội với giao diện chuẩn Trắng - Xanh thanh lịch</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Mã hóa phiên làm việc qua JWT Token &amp; Kết nối bảo mật SSL/HTTPS 100%</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Đăng Nhập Quản Trị Viên An Toàn</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Xác thực nhanh qua Email và Mật khẩu được mã hóa bcrypt bảo vệ tuyệt đối dữ liệu nội bộ.</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Phân Quyền Vai Trò Đa Cấp (RBAC)</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Tách bạch quyền hạn: Super Admin, Ban Thư Ký, Ban Sự Kiện và Ban Tài Chính đúng trách nhiệm.</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Lưu Phiên Tự Động &amp; Chống Tấn Công</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Bảo vệ phiên làm việc qua cơ chế SameSite Cookie và tự động thu hồi quyền khi hết hạn.</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Giao Diện Tối Ưu Mọi Màn Hình Desktop</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Trải nghiệm mượt mà từ máy trạm văn phòng đến máy tính bảng điều hành khi đi công tác.</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02</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Bảng Điều Khiển Tổng Quan (Dashboard) &amp; Chỉ Số KPI Thực</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Bức tranh toàn cảnh về sức khỏe hiệp hội: Hội viên, Dòng tiền sổ quỹ và Giao thương B2B</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Dữ liệu phản hồi trực tiếp từ Database với biểu đồ tiến độ &amp; thống kê thời gian thực</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Chỉ Số Tăng Trưởng Hội Viên</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Thống kê tổng số 31 doanh nhân chính thức đang hoạt động và số lượng hồ sơ mới đang chờ thẩm định.</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Theo Dõi Dòng Tiền &amp; Quỹ Hội</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Đo lường nguồn thu niên liễm 435 triệu đồng, vé sự kiện và các khoản tài trợ chuyển khoản về tài khoản hiệp hội.</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Đo Lường Hiệu Quả Sàn B2B</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Tổng hợp số lượng 30 hoạt động kết nối, sản phẩm niêm yết và số lượng Deal giao thương thành công.</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Xuất Báo Cáo Ban Chấp Hành Tức Thì</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Tải dữ liệu chuẩn hóa phục vụ các kỳ họp Ban Chấp Hành định kỳ chỉ với một cú nhấp chuột.</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03</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Trị Danh Sách Hội Viên, Phân Hạng &amp; Bộ Lọc Ban Ngành</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Quản lý toàn bộ 100+ lãnh đạo doanh nhân sinh năm 1983 theo ban chuyên môn</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Bảng dữ liệu đa năng hỗ trợ tìm kiếm nhanh, lọc theo trạng thái và xuất Excel</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Danh Mục Hồ Sơ Doanh Nhân Đầy Đủ</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Lưu trữ họ tên, công ty, mã số thuế, chức vụ trong CLB, số điện thoại và địa chỉ trụ sở.</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Bộ Lọc &amp; Tìm Kiếm Thông Minh</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Tra cứu tức thì theo tên doanh nhân, công ty, số điện thoại hoặc trạng thái Hoạt động/Chờ duyệt.</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Phân Bổ Ban Chuyên Môn Sinh Hoạt</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Sắp xếp hội viên vào Ban Sự kiện, Ban Tài chính, Ban Xúc tiến Thương mại, Ban Truyền thông.</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Xuất Báo Cáo Excel Danh Bạ</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Tải file Excel định dạng chuẩn phục vụ công tác in ấn kỷ yếu và lưu trữ nội bộ hiệp hội.</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04</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Thẩm Định Hồ Sơ 360° &amp; Tự Động Cấp Tài Khoản Qua Email</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Quy trình xét duyệt hồ sơ online khép kín, minh bạch và chuyên nghiệp</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Bấm Phê duyệt: Tự động kích hoạt tài khoản DB &amp; Gửi ngay Email mật khẩu cho hội viên</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Drawer Thẩm Định Toàn Diện 360°</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Xem trọn vẹn giấy phép đăng ký kinh doanh, chức vụ C-Level và lĩnh vực kinh doanh của doanh nghiệp.</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Thao Tác Phê Duyệt (Approve) 1 Chạm</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Admin xác nhận: Hồ sơ chuyển trạng thái Hoạt động và tự động sinh mã định danh hội viên chính thức.</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Tự Động Kích Hoạt Quyền Trên App</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Cấp tài khoản và quyền đăng nhập tức thì vào CSDL cho người dùng trên ứng dụng di động.</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Bắn Email Chào Mừng Kèm Mật Khẩu</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Hệ thống gửi thư điện tử thông báo kết nạp kèm mật khẩu khởi tạo an toàn về hòm thư hội viên.</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05</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Trị Tổ Chức Sự Kiện, Cấu Hình Vé Đa Tầng &amp; Bán Vé</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Lập kế hoạch Đại hội thường niên, Caravan xúc tiến thương mại và Gala Doanh nhân</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Thiết lập vé VIP miễn phí cho hội viên và vé đại biểu có phí thu qua VietQR tự động</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Khởi Tạo Sự Kiện Nhanh Chóng</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Thiết lập thời gian, địa điểm, nội dung chương trình và banner sự kiện đẩy trực tiếp lên Mobile App.</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Cấu Hình Vé Đa Tầng Linh Hoạt</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Phân loại: Vé Hội viên VIP (0đ đặc quyền), Vé Khách mời mở rộng, Vé Nhà tài trợ kim cương.</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Giám Sát Số Lượng Vé Thời Gian Thực</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Theo dõi số lượng vé đã phát hành, doanh thu bán vé sự kiện và số chỗ ngồi còn trống.</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Đồng Bộ Thông Báo Đẩy Xuống App</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Tự động gửi thông báo push đến điện thoại của toàn bộ hội viên khi sự kiện mới được mở đăng ký.</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06</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Sơ Đồ Rạp Cinema Seating Map &amp; Xếp Chỗ VIP Gala Dinner</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Bố trí sơ đồ bàn tiệc trực quan, định vị chính xác chỗ ngồi danh dự</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Phân bổ Bàn VIP Đoàn Chủ Tịch và đồng bộ số ghế chính xác vào Vé Điện Tử trên App</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Trực Quan Hóa Sơ Đồ Khán Phòng</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Mô phỏng chân thực ma trận ghế ngồi và bàn tiệc: Bàn VIP Kim Cương, Bàn Đại biểu, Bàn Khách mời.</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Kéo Thả Xếp Chỗ Ngồi Danh Dự</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Gán đại biểu và khách VIP vào từng vị trí ghế ngồi cụ thể theo giao thức ngoại giao trang trọng.</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Tự Động Cập Nhật Lên Vé Trên App</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Vị trí số bàn và số ghế tự động hiển thị trên Vé điện tử thông minh trong điện thoại của hội viên.</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Ngăn Ngừa Trùng Lặp Chỗ Ngồi 100%</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Hệ thống tự động khóa ghế đã được gán, đảm bảo không bao giờ xảy ra tình trạng xếp trùng vị trí.</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07</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Cổng Soát Vé Check-in QR Tốc Độ Cao &amp; Giám Sát Cửa</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Kiểm soát ra vào hội trường trong 1 giây, hiển thị thông tin đại biểu trân trọng</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Tốc độ quét mã 1 giây/người, chống chụp màn hình gian lận &amp; âm thanh xác nhận tức thì</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Quét Mã Vé QR Điện Tử Siêu Tốc</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Hỗ trợ đầu đọc mã vạch chuyên dụng hoặc camera máy tính bảng quét vé QR từ App hội viên trong 1 giây.</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Hiển Thị Thông Tin Đại Biểu Lễ Tân</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Màn hình ngay lập tức hiển thị họ tên, chức vụ, ảnh đại diện và vị trí số bàn tiệc để lễ tân đón tiếp.</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Chống Quét Lại &amp; Gian Lận 100%</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Cảnh báo màu đỏ nổi bật nếu mã vé đã được quét trước đó, ngăn chặn hành vi sử dụng chung vé.</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Báo Cáo Tỷ Lệ Tham Dự Realtime</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Thống kê tức thời số lượng khách đã có mặt tại hội trường phục vụ công tác khai mạc đại hội.</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08</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Trị Bầu Cử Đại Hội &amp; Biểu Quyết Tín Nhiệm Đại Biểu</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Số hóa công tác hiệp thương nhân sự, thiết lập kỳ bầu cử và kiểm phiếu tự động</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Quản lý kỳ bầu cử BCH: Giám sát tỷ lệ biểu quyết, ứng viên đại biểu &amp; biểu đồ kết quả trực tiếp</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Khởi Tạo Kỳ Bầu Cử &amp; Biểu Quyết Nhanh</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Thiết lập tiêu đề kỳ họp, thời gian mở/đóng hòm phiếu điện tử và số lượng ứng viên tối đa được chọn.</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Quản Lý Danh Sách Ứng Cử Viên Ban Chấp Hành</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Cập nhật hồ sơ ứng viên, hình ảnh, chức vụ hiện tại và chương trình hành động để đại biểu nghiên cứu.</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Kiểm Phiếu Tự Động &amp; Chống Gian Lận</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Thuật toán mã hóa một chiều ngăn chặn bỏ phiếu hai lần, tự động tổng hợp số phiếu và tỷ lệ phần trăm.</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Xuất Báo Cáo Kiểm Phiếu Chuẩn Đại Hội</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In biên bản kiểm phiếu phục vụ Ban Kiểm Soát đại hội ký duyệt và lưu trữ văn kiện nhiệm kỳ.</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09</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Trị Vòng Quay May Mắn Lucky Draw &amp; Cơ Cấu Giải Thưởng</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Khuấy động không khí đêm Gala với cơ chế quay số ngẫu nhiên theo mã vé may mắn</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Cơ cấu Giải đặc biệt VinFast VF3 - Quay số minh bạch, tìm người trúng giải &amp; thông báo tức thì</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Cấu Hình Cơ Cấu Giải Thưởng Hấp Dẫn</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Thiết lập Giải Đặc Biệt (Ô tô VinFast VF3), Giải Nhất, Giải Nhì, Giải Ba kèm hình ảnh minh họa sống động.</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Quay Số Ngẫu Nhiên Minh Bạch 100%</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Hệ thống quay số ngẫu nhiên từ tập hợp mã vé đã check-in vào sự kiện, hiển thị số nhảy trên màn LED.</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Xác Nhận Người Trúng Thưởng &amp; Mã Vé</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Hệ thống tự động hiển thị thông tin trúng thưởng (VD: Ngô Bảo Anh - Mã vé #2190) lên màn hình lớn.</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Gửi Thông Báo Push Chúc Mừng Xuống App</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Admin bấm nút gửi thông báo: Điện thoại người trúng nhận ngay tin nhắn chúc mừng lên sân khấu nhận giải.</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10</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Trị Sàn Marketplace, Kiểm Duyệt Sản Phẩm Doanh Nghiệp</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Thẩm định chất lượng và xuất xứ trước khi niêm yết chào hàng nội bộ</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Gán nhãn Đã Kiểm Duyệt CLB CEO 1983 và kích hoạt ưu đãi đặc quyền cho hội viên</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Hàng Đợi Kiểm Duyệt Sản Phẩm</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Tiếp nhận bài đăng sản phẩm từ Mobile App hội viên, xem hình ảnh, thông số kỹ thuật và báo giá sỉ.</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Thẩm Định Chính Sách Ưu Đãi Nội Bộ</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Đảm bảo sản phẩm có chính sách chiết khấu thực chất dành riêng cho cộng đồng doanh nhân CEO 1983.</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Phê Duyệt Xuất Bản Lên App Tức Thì</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Bấm Duyệt: Sản phẩm ngay lập tức xuất hiện trên sàn giao dịch của toàn bộ hội viên trên di động.</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Theo Dõi &amp; Giám Sát Báo Giá B2B</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Thống kê số lượt hội viên gửi yêu cầu báo giá và lưu lượng tương tác giao thương giữa các bên.</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11</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Điều Phối Cơ Hội Giao Thương B2B &amp; Thống Kê Giá Trị Deals</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Nắm bắt dòng chảy giao thương, kết nối cung cầu và thúc đẩy hợp đồng kinh tế</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Đo lường giá trị các Deal kinh doanh đã kết nối thành công phục vụ báo cáo hiệp hội</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Nắm Bắt Toàn Diện Nhu Cầu Giao Thương</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Theo dõi các đề xuất mua bán, tìm nhà cung ứng, mời gọi hợp tác đầu tư và phân phối hàng hóa.</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Giám Sát Trạng Thái Kết Nối Deals</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Biết chính xác cơ hội nào đã được hội viên đón nhận (Claimed) và tiến độ ký kết hợp đồng.</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Thống Kê Tổng Giá Trị Giao Thương</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Đo lường quy mô kinh tế bằng tiền (Tỷ đồng) mà hệ sinh thái CEO 1983 đã tạo ra cho thành viên.</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Hỗ Trợ Kết Nối Chéo Giữa Các Ban</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Ban Xúc tiến thương mại đóng vai trò điều phối, giới thiệu các đối tác tiềm năng phù hợp nhất.</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12</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Lý Thu Hội Phí Thường Niên, Đối Soát VietQR &amp; Sổ Quỹ</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Tự động hóa đối soát sao kê ngân hàng, gạch nợ hội phí không cần xử lý thủ công</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Gạch nợ tự động qua VietQR, xuất phiếu thu điện tử và lưu trữ sổ quỹ kế toán minh bạch</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Theo Dõi Niên Liễm Theo Năm Tài Chính</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Bảng theo dõi trạng thái hoàn thành hội phí: Đã thanh toán, Chưa nộp, Miễn giảm theo từng hội viên.</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Đối Soát Tự Động Qua Cổng VietQR</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Khi hội viên quét mã chuyển khoản trên App, hệ thống tự động gạch nợ và gia hạn thẻ số tức thì.</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Quản Lý Sổ Quỹ Thu Chi Minh Bạch</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Ghi nhận chi tiết mọi dòng tiền: Thu hội phí, Thu vé sự kiện, Thu tài trợ và các khoản chi hoạt động.</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Xuất Báo Cáo Kế Toán &amp; Phiếu Thu Số</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Tự động tạo phiếu thu điện tử gửi về email hội viên và xuất file đối soát phục vụ ban kiểm soát.</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13</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Lý Doanh Nghiệp Thành Viên &amp; Bản Đồ Chuỗi Cung Ứng</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Xây dựng mạng lưới liên kết sản xuất và tiêu dùng nội bộ bền vững</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Bản đồ năng lực chuỗi cung ứng: Kết nối sản xuất, phân phối và dịch vụ C-Level</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Lưu Trữ Hồ Sơ Pháp Nhân Đầy Đủ</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Quản lý mã số thuế, địa chỉ trụ sở, người đại diện pháp luật và hồ sơ năng lực chi tiết của công ty.</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Phân Loại Ngành Nghề Chuỗi Giá Trị</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Sắp xếp theo cụm ngành: Cơ khí sản xuất, Xây dựng hoàn thiện, F&amp;B, Logistics, Dịch vụ số.</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Thúc Đẩy Sử Dụng Sản Phẩm Chéo</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Khuyến khích hội viên ưu tiên sử dụng vật tư, thiết bị và dịch vụ của nhau với chiết khấu nội bộ.</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Liên Kết Tài Khoản Lãnh Đạo Với Công Ty</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Một doanh nghiệp có thể có Chủ tịch và Tổng Giám Đốc cùng sinh hoạt với quyền hạn rõ ràng.</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14</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Cấu Hình Phân Quyền Quản Trị RBAC &amp; Nhật Ký Kiểm Toán</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Lưu vết bất biến toàn bộ thao tác vận hành, đảm bảo an toàn tuyệt đối</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Nhật ký kiểm toán lưu vết IP, tài khoản thực hiện và thời gian chính xác của mọi thao tác</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Ma Trận Phân Quyền Chi Tiết (RBAC)</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Cấp quyền Xem, Thêm, Sửa, Xóa, Duyệt cho từng vị trí trong Ban Thư Ký và Ban Quản Trị.</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Nhật Ký Kiểm Toán An Ninh Bất Biến</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Ghi nhận lịch sử: Ai đã phê duyệt hội viên, ai đã sửa số liệu sổ quỹ, ai đã xuất file danh bạ.</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Bảo Vệ Hạ Tầng Chuẩn SSL/HTTPS</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Toàn bộ dữ liệu truyền tải giữa Web CRM, App Mobile và CSDL đều được mã hóa tuyệt đối.</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Cơ Chế Sao Lưu Định Kỳ Tự Động</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Tự động sao lưu dự phòng CSDL hàng ngày, đảm bảo khả năng phục hồi nguyên vẹn khi cần thiết.</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ƯU ĐIỂM VƯỢT TRỘI</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Giá Trị Cốt Lõi &amp; Hiệu Quả Đột Phá Cho Ban Lãnh Đạo</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Tối ưu hóa nguồn lực, bảo vệ dữ liệu và nâng cao năng lực quản trị hiệp hội</a:t>
            </a:r>
            <a:endParaRPr lang="en-US" sz="1200" dirty="0"/>
          </a:p>
        </p:txBody>
      </p:sp>
      <p:sp>
        <p:nvSpPr>
          <p:cNvPr id="7" name="Shape 5"/>
          <p:cNvSpPr/>
          <p:nvPr/>
        </p:nvSpPr>
        <p:spPr>
          <a:xfrm>
            <a:off x="731520" y="1920240"/>
            <a:ext cx="2560320" cy="4206240"/>
          </a:xfrm>
          <a:prstGeom prst="rect">
            <a:avLst/>
          </a:prstGeom>
          <a:solidFill>
            <a:srgbClr val="FFFFFF"/>
          </a:solidFill>
          <a:ln w="15240">
            <a:solidFill>
              <a:srgbClr val="BAE6FD"/>
            </a:solidFill>
            <a:prstDash val="solid"/>
          </a:ln>
        </p:spPr>
      </p:sp>
      <p:sp>
        <p:nvSpPr>
          <p:cNvPr id="8" name="Shape 6"/>
          <p:cNvSpPr/>
          <p:nvPr/>
        </p:nvSpPr>
        <p:spPr>
          <a:xfrm>
            <a:off x="731520" y="1920240"/>
            <a:ext cx="2560320" cy="91440"/>
          </a:xfrm>
          <a:prstGeom prst="rect">
            <a:avLst/>
          </a:prstGeom>
          <a:solidFill>
            <a:srgbClr val="003B95"/>
          </a:solidFill>
          <a:ln/>
        </p:spPr>
      </p:sp>
      <p:sp>
        <p:nvSpPr>
          <p:cNvPr id="9" name="Text 7"/>
          <p:cNvSpPr/>
          <p:nvPr/>
        </p:nvSpPr>
        <p:spPr>
          <a:xfrm>
            <a:off x="96012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01</a:t>
            </a:r>
            <a:endParaRPr lang="en-US" sz="2200" dirty="0"/>
          </a:p>
        </p:txBody>
      </p:sp>
      <p:sp>
        <p:nvSpPr>
          <p:cNvPr id="10" name="Text 8"/>
          <p:cNvSpPr/>
          <p:nvPr/>
        </p:nvSpPr>
        <p:spPr>
          <a:xfrm>
            <a:off x="96012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Tiết Kiệm 90% Thời Gian Thủ Công</a:t>
            </a:r>
            <a:endParaRPr lang="en-US" sz="1300" dirty="0"/>
          </a:p>
        </p:txBody>
      </p:sp>
      <p:sp>
        <p:nvSpPr>
          <p:cNvPr id="11" name="Text 9"/>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Tự động hóa hoàn toàn việc tiếp nhận hồ sơ, gửi email mật khẩu, xuất danh sách đại biểu và gạch nợ hội phí, giải phóng sức lao động cho Ban Thư Ký.</a:t>
            </a:r>
            <a:endParaRPr lang="en-US" sz="1100" dirty="0"/>
          </a:p>
        </p:txBody>
      </p:sp>
      <p:sp>
        <p:nvSpPr>
          <p:cNvPr id="12" name="Shape 10"/>
          <p:cNvSpPr/>
          <p:nvPr/>
        </p:nvSpPr>
        <p:spPr>
          <a:xfrm>
            <a:off x="3429000" y="1920240"/>
            <a:ext cx="2560320" cy="4206240"/>
          </a:xfrm>
          <a:prstGeom prst="rect">
            <a:avLst/>
          </a:prstGeom>
          <a:solidFill>
            <a:srgbClr val="FFFFFF"/>
          </a:solidFill>
          <a:ln w="15240">
            <a:solidFill>
              <a:srgbClr val="BAE6FD"/>
            </a:solidFill>
            <a:prstDash val="solid"/>
          </a:ln>
        </p:spPr>
      </p:sp>
      <p:sp>
        <p:nvSpPr>
          <p:cNvPr id="13" name="Shape 11"/>
          <p:cNvSpPr/>
          <p:nvPr/>
        </p:nvSpPr>
        <p:spPr>
          <a:xfrm>
            <a:off x="3429000" y="1920240"/>
            <a:ext cx="2560320" cy="91440"/>
          </a:xfrm>
          <a:prstGeom prst="rect">
            <a:avLst/>
          </a:prstGeom>
          <a:solidFill>
            <a:srgbClr val="003B95"/>
          </a:solidFill>
          <a:ln/>
        </p:spPr>
      </p:sp>
      <p:sp>
        <p:nvSpPr>
          <p:cNvPr id="14" name="Text 12"/>
          <p:cNvSpPr/>
          <p:nvPr/>
        </p:nvSpPr>
        <p:spPr>
          <a:xfrm>
            <a:off x="365760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02</a:t>
            </a:r>
            <a:endParaRPr lang="en-US" sz="2200" dirty="0"/>
          </a:p>
        </p:txBody>
      </p:sp>
      <p:sp>
        <p:nvSpPr>
          <p:cNvPr id="15" name="Text 13"/>
          <p:cNvSpPr/>
          <p:nvPr/>
        </p:nvSpPr>
        <p:spPr>
          <a:xfrm>
            <a:off x="365760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Minh Bạch Tài Chính Tuyệt Đối</a:t>
            </a:r>
            <a:endParaRPr lang="en-US" sz="1300" dirty="0"/>
          </a:p>
        </p:txBody>
      </p:sp>
      <p:sp>
        <p:nvSpPr>
          <p:cNvPr id="16" name="Text 14"/>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Mọi dòng tiền thu chi đều được đối soát khớp lệnh qua mã VietQR và lưu vết trong sổ quỹ điện tử, sẵn sàng cho công tác kiểm toán của Ban Kiểm Soát.</a:t>
            </a:r>
            <a:endParaRPr lang="en-US" sz="1100" dirty="0"/>
          </a:p>
        </p:txBody>
      </p:sp>
      <p:sp>
        <p:nvSpPr>
          <p:cNvPr id="17" name="Shape 15"/>
          <p:cNvSpPr/>
          <p:nvPr/>
        </p:nvSpPr>
        <p:spPr>
          <a:xfrm>
            <a:off x="6126480" y="1920240"/>
            <a:ext cx="2560320" cy="4206240"/>
          </a:xfrm>
          <a:prstGeom prst="rect">
            <a:avLst/>
          </a:prstGeom>
          <a:solidFill>
            <a:srgbClr val="FFFFFF"/>
          </a:solidFill>
          <a:ln w="15240">
            <a:solidFill>
              <a:srgbClr val="BAE6FD"/>
            </a:solidFill>
            <a:prstDash val="solid"/>
          </a:ln>
        </p:spPr>
      </p:sp>
      <p:sp>
        <p:nvSpPr>
          <p:cNvPr id="18" name="Shape 16"/>
          <p:cNvSpPr/>
          <p:nvPr/>
        </p:nvSpPr>
        <p:spPr>
          <a:xfrm>
            <a:off x="6126480" y="1920240"/>
            <a:ext cx="2560320" cy="91440"/>
          </a:xfrm>
          <a:prstGeom prst="rect">
            <a:avLst/>
          </a:prstGeom>
          <a:solidFill>
            <a:srgbClr val="003B95"/>
          </a:solidFill>
          <a:ln/>
        </p:spPr>
      </p:sp>
      <p:sp>
        <p:nvSpPr>
          <p:cNvPr id="19" name="Text 17"/>
          <p:cNvSpPr/>
          <p:nvPr/>
        </p:nvSpPr>
        <p:spPr>
          <a:xfrm>
            <a:off x="635508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03</a:t>
            </a:r>
            <a:endParaRPr lang="en-US" sz="2200" dirty="0"/>
          </a:p>
        </p:txBody>
      </p:sp>
      <p:sp>
        <p:nvSpPr>
          <p:cNvPr id="20" name="Text 18"/>
          <p:cNvSpPr/>
          <p:nvPr/>
        </p:nvSpPr>
        <p:spPr>
          <a:xfrm>
            <a:off x="635508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Kế Thừa Dữ Liệu Bất Biến Qua Các Nhiệm Kỳ</a:t>
            </a:r>
            <a:endParaRPr lang="en-US" sz="1300" dirty="0"/>
          </a:p>
        </p:txBody>
      </p:sp>
      <p:sp>
        <p:nvSpPr>
          <p:cNvPr id="21" name="Text 19"/>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Toàn bộ danh bạ hội viên, kỷ yếu sự kiện và lịch sử giao thương được lưu trữ trên hạ tầng CSDL bảo mật, giúp chuyển giao nhiệm kỳ suôn sẻ và nguyên vẹn.</a:t>
            </a:r>
            <a:endParaRPr lang="en-US" sz="1100" dirty="0"/>
          </a:p>
        </p:txBody>
      </p:sp>
      <p:sp>
        <p:nvSpPr>
          <p:cNvPr id="22" name="Shape 20"/>
          <p:cNvSpPr/>
          <p:nvPr/>
        </p:nvSpPr>
        <p:spPr>
          <a:xfrm>
            <a:off x="8823960" y="1920240"/>
            <a:ext cx="2560320" cy="4206240"/>
          </a:xfrm>
          <a:prstGeom prst="rect">
            <a:avLst/>
          </a:prstGeom>
          <a:solidFill>
            <a:srgbClr val="FFFFFF"/>
          </a:solidFill>
          <a:ln w="15240">
            <a:solidFill>
              <a:srgbClr val="BAE6FD"/>
            </a:solidFill>
            <a:prstDash val="solid"/>
          </a:ln>
        </p:spPr>
      </p:sp>
      <p:sp>
        <p:nvSpPr>
          <p:cNvPr id="23" name="Shape 21"/>
          <p:cNvSpPr/>
          <p:nvPr/>
        </p:nvSpPr>
        <p:spPr>
          <a:xfrm>
            <a:off x="8823960" y="1920240"/>
            <a:ext cx="2560320" cy="91440"/>
          </a:xfrm>
          <a:prstGeom prst="rect">
            <a:avLst/>
          </a:prstGeom>
          <a:solidFill>
            <a:srgbClr val="003B95"/>
          </a:solidFill>
          <a:ln/>
        </p:spPr>
      </p:sp>
      <p:sp>
        <p:nvSpPr>
          <p:cNvPr id="24" name="Text 22"/>
          <p:cNvSpPr/>
          <p:nvPr/>
        </p:nvSpPr>
        <p:spPr>
          <a:xfrm>
            <a:off x="905256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04</a:t>
            </a:r>
            <a:endParaRPr lang="en-US" sz="2200" dirty="0"/>
          </a:p>
        </p:txBody>
      </p:sp>
      <p:sp>
        <p:nvSpPr>
          <p:cNvPr id="25" name="Text 23"/>
          <p:cNvSpPr/>
          <p:nvPr/>
        </p:nvSpPr>
        <p:spPr>
          <a:xfrm>
            <a:off x="905256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Độ Tin Cậy &amp; Sẵn Sàng 99.9%</a:t>
            </a:r>
            <a:endParaRPr lang="en-US" sz="1300" dirty="0"/>
          </a:p>
        </p:txBody>
      </p:sp>
      <p:sp>
        <p:nvSpPr>
          <p:cNvPr id="26" name="Text 24"/>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Kiến trúc Docker container hóa trên máy chủ hiệu năng cao, phản hồi dưới 100ms và cơ chế tự động khôi phục sự cố bảo đảm hệ thống luôn thông suốt.</a:t>
            </a:r>
            <a:endParaRPr lang="en-US" sz="1100" dirty="0"/>
          </a:p>
        </p:txBody>
      </p:sp>
      <p:sp>
        <p:nvSpPr>
          <p:cNvPr id="27" name="Shape 25"/>
          <p:cNvSpPr/>
          <p:nvPr/>
        </p:nvSpPr>
        <p:spPr>
          <a:xfrm>
            <a:off x="731520" y="6400800"/>
            <a:ext cx="10725912" cy="18288"/>
          </a:xfrm>
          <a:prstGeom prst="rect">
            <a:avLst/>
          </a:prstGeom>
          <a:solidFill>
            <a:srgbClr val="BAE6FD"/>
          </a:solidFill>
          <a:ln/>
        </p:spPr>
      </p:sp>
      <p:sp>
        <p:nvSpPr>
          <p:cNvPr id="28" name="Text 26"/>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7"/>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HƯỚNG PHÁT TRIỂN TƯƠNG LAI</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Lộ Trình Nâng Cấp Hệ Thống CRM Quản Trị Giai Đoạn 2026 - 2028</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Tích hợp Trí tuệ nhân tạo và mở rộng liên minh giao thương hiệp hội toàn quốc</a:t>
            </a:r>
            <a:endParaRPr lang="en-US" sz="1200" dirty="0"/>
          </a:p>
        </p:txBody>
      </p:sp>
      <p:sp>
        <p:nvSpPr>
          <p:cNvPr id="7" name="Shape 5"/>
          <p:cNvSpPr/>
          <p:nvPr/>
        </p:nvSpPr>
        <p:spPr>
          <a:xfrm>
            <a:off x="731520" y="1920240"/>
            <a:ext cx="2560320" cy="4206240"/>
          </a:xfrm>
          <a:prstGeom prst="rect">
            <a:avLst/>
          </a:prstGeom>
          <a:solidFill>
            <a:srgbClr val="FFFFFF"/>
          </a:solidFill>
          <a:ln w="15240">
            <a:solidFill>
              <a:srgbClr val="E2E8F0"/>
            </a:solidFill>
            <a:prstDash val="solid"/>
          </a:ln>
        </p:spPr>
      </p:sp>
      <p:sp>
        <p:nvSpPr>
          <p:cNvPr id="8" name="Shape 6"/>
          <p:cNvSpPr/>
          <p:nvPr/>
        </p:nvSpPr>
        <p:spPr>
          <a:xfrm>
            <a:off x="731520" y="1920240"/>
            <a:ext cx="2560320" cy="91440"/>
          </a:xfrm>
          <a:prstGeom prst="rect">
            <a:avLst/>
          </a:prstGeom>
          <a:solidFill>
            <a:srgbClr val="003B95"/>
          </a:solidFill>
          <a:ln/>
        </p:spPr>
      </p:sp>
      <p:sp>
        <p:nvSpPr>
          <p:cNvPr id="9" name="Shape 7"/>
          <p:cNvSpPr/>
          <p:nvPr/>
        </p:nvSpPr>
        <p:spPr>
          <a:xfrm>
            <a:off x="960120" y="2148840"/>
            <a:ext cx="2103120" cy="292608"/>
          </a:xfrm>
          <a:prstGeom prst="rect">
            <a:avLst/>
          </a:prstGeom>
          <a:solidFill>
            <a:srgbClr val="EFF6FF"/>
          </a:solidFill>
          <a:ln/>
        </p:spPr>
      </p:sp>
      <p:sp>
        <p:nvSpPr>
          <p:cNvPr id="10" name="Text 8"/>
          <p:cNvSpPr/>
          <p:nvPr/>
        </p:nvSpPr>
        <p:spPr>
          <a:xfrm>
            <a:off x="96012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1 (ĐÃ HOÀN THÀNH)</a:t>
            </a:r>
            <a:endParaRPr lang="en-US" sz="850" dirty="0"/>
          </a:p>
        </p:txBody>
      </p:sp>
      <p:sp>
        <p:nvSpPr>
          <p:cNvPr id="11" name="Text 9"/>
          <p:cNvSpPr/>
          <p:nvPr/>
        </p:nvSpPr>
        <p:spPr>
          <a:xfrm>
            <a:off x="96012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Chuẩn Hóa Nền Tảng Quản Trị Số</a:t>
            </a:r>
            <a:endParaRPr lang="en-US" sz="1300" dirty="0"/>
          </a:p>
        </p:txBody>
      </p:sp>
      <p:sp>
        <p:nvSpPr>
          <p:cNvPr id="12" name="Text 10"/>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Số hóa 100% hồ sơ hội viên, tự động hóa duyệt tài khoản, sơ đồ khán phòng VIP, cổng soát vé QR 1s và đối soát tài chính tự động VietQR.</a:t>
            </a:r>
            <a:endParaRPr lang="en-US" sz="1100" dirty="0"/>
          </a:p>
        </p:txBody>
      </p:sp>
      <p:sp>
        <p:nvSpPr>
          <p:cNvPr id="13" name="Shape 11"/>
          <p:cNvSpPr/>
          <p:nvPr/>
        </p:nvSpPr>
        <p:spPr>
          <a:xfrm>
            <a:off x="3429000" y="1920240"/>
            <a:ext cx="2560320" cy="4206240"/>
          </a:xfrm>
          <a:prstGeom prst="rect">
            <a:avLst/>
          </a:prstGeom>
          <a:solidFill>
            <a:srgbClr val="FFFFFF"/>
          </a:solidFill>
          <a:ln w="15240">
            <a:solidFill>
              <a:srgbClr val="E2E8F0"/>
            </a:solidFill>
            <a:prstDash val="solid"/>
          </a:ln>
        </p:spPr>
      </p:sp>
      <p:sp>
        <p:nvSpPr>
          <p:cNvPr id="14" name="Shape 12"/>
          <p:cNvSpPr/>
          <p:nvPr/>
        </p:nvSpPr>
        <p:spPr>
          <a:xfrm>
            <a:off x="3429000" y="1920240"/>
            <a:ext cx="2560320" cy="91440"/>
          </a:xfrm>
          <a:prstGeom prst="rect">
            <a:avLst/>
          </a:prstGeom>
          <a:solidFill>
            <a:srgbClr val="003B95"/>
          </a:solidFill>
          <a:ln/>
        </p:spPr>
      </p:sp>
      <p:sp>
        <p:nvSpPr>
          <p:cNvPr id="15" name="Shape 13"/>
          <p:cNvSpPr/>
          <p:nvPr/>
        </p:nvSpPr>
        <p:spPr>
          <a:xfrm>
            <a:off x="3657600" y="2148840"/>
            <a:ext cx="2103120" cy="292608"/>
          </a:xfrm>
          <a:prstGeom prst="rect">
            <a:avLst/>
          </a:prstGeom>
          <a:solidFill>
            <a:srgbClr val="EFF6FF"/>
          </a:solidFill>
          <a:ln/>
        </p:spPr>
      </p:sp>
      <p:sp>
        <p:nvSpPr>
          <p:cNvPr id="16" name="Text 14"/>
          <p:cNvSpPr/>
          <p:nvPr/>
        </p:nvSpPr>
        <p:spPr>
          <a:xfrm>
            <a:off x="365760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2 (QUÝ 3 - QUÝ 4/2026)</a:t>
            </a:r>
            <a:endParaRPr lang="en-US" sz="850" dirty="0"/>
          </a:p>
        </p:txBody>
      </p:sp>
      <p:sp>
        <p:nvSpPr>
          <p:cNvPr id="17" name="Text 15"/>
          <p:cNvSpPr/>
          <p:nvPr/>
        </p:nvSpPr>
        <p:spPr>
          <a:xfrm>
            <a:off x="365760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Tích Hợp AI Matching &amp; Trợ Lý Ảo</a:t>
            </a:r>
            <a:endParaRPr lang="en-US" sz="1300" dirty="0"/>
          </a:p>
        </p:txBody>
      </p:sp>
      <p:sp>
        <p:nvSpPr>
          <p:cNvPr id="18" name="Text 16"/>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Thuật toán AI tự động gợi ý kết nối cung - cầu giữa các doanh nghiệp theo lĩnh vực; Trợ lý ảo AI tóm tắt biên bản họp BCH và tự động soạn thảo nghị quyết.</a:t>
            </a:r>
            <a:endParaRPr lang="en-US" sz="1100" dirty="0"/>
          </a:p>
        </p:txBody>
      </p:sp>
      <p:sp>
        <p:nvSpPr>
          <p:cNvPr id="19" name="Shape 17"/>
          <p:cNvSpPr/>
          <p:nvPr/>
        </p:nvSpPr>
        <p:spPr>
          <a:xfrm>
            <a:off x="6126480" y="1920240"/>
            <a:ext cx="2560320" cy="4206240"/>
          </a:xfrm>
          <a:prstGeom prst="rect">
            <a:avLst/>
          </a:prstGeom>
          <a:solidFill>
            <a:srgbClr val="FFFFFF"/>
          </a:solidFill>
          <a:ln w="15240">
            <a:solidFill>
              <a:srgbClr val="E2E8F0"/>
            </a:solidFill>
            <a:prstDash val="solid"/>
          </a:ln>
        </p:spPr>
      </p:sp>
      <p:sp>
        <p:nvSpPr>
          <p:cNvPr id="20" name="Shape 18"/>
          <p:cNvSpPr/>
          <p:nvPr/>
        </p:nvSpPr>
        <p:spPr>
          <a:xfrm>
            <a:off x="6126480" y="1920240"/>
            <a:ext cx="2560320" cy="91440"/>
          </a:xfrm>
          <a:prstGeom prst="rect">
            <a:avLst/>
          </a:prstGeom>
          <a:solidFill>
            <a:srgbClr val="003B95"/>
          </a:solidFill>
          <a:ln/>
        </p:spPr>
      </p:sp>
      <p:sp>
        <p:nvSpPr>
          <p:cNvPr id="21" name="Shape 19"/>
          <p:cNvSpPr/>
          <p:nvPr/>
        </p:nvSpPr>
        <p:spPr>
          <a:xfrm>
            <a:off x="6355080" y="2148840"/>
            <a:ext cx="2103120" cy="292608"/>
          </a:xfrm>
          <a:prstGeom prst="rect">
            <a:avLst/>
          </a:prstGeom>
          <a:solidFill>
            <a:srgbClr val="EFF6FF"/>
          </a:solidFill>
          <a:ln/>
        </p:spPr>
      </p:sp>
      <p:sp>
        <p:nvSpPr>
          <p:cNvPr id="22" name="Text 20"/>
          <p:cNvSpPr/>
          <p:nvPr/>
        </p:nvSpPr>
        <p:spPr>
          <a:xfrm>
            <a:off x="635508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3 (NĂM 2027)</a:t>
            </a:r>
            <a:endParaRPr lang="en-US" sz="850" dirty="0"/>
          </a:p>
        </p:txBody>
      </p:sp>
      <p:sp>
        <p:nvSpPr>
          <p:cNvPr id="23" name="Text 21"/>
          <p:cNvSpPr/>
          <p:nvPr/>
        </p:nvSpPr>
        <p:spPr>
          <a:xfrm>
            <a:off x="635508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Hệ Thống Phân Tích Dữ Liệu Lớn (BI)</a:t>
            </a:r>
            <a:endParaRPr lang="en-US" sz="1300" dirty="0"/>
          </a:p>
        </p:txBody>
      </p:sp>
      <p:sp>
        <p:nvSpPr>
          <p:cNvPr id="24" name="Text 22"/>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Báo cáo thông minh dự báo xu hướng dòng tiền quỹ hội, đo lường chỉ số gắn kết của từng thành viên và cảnh báo sớm nguy cơ rời bỏ hiệp hội.</a:t>
            </a:r>
            <a:endParaRPr lang="en-US" sz="1100" dirty="0"/>
          </a:p>
        </p:txBody>
      </p:sp>
      <p:sp>
        <p:nvSpPr>
          <p:cNvPr id="25" name="Shape 23"/>
          <p:cNvSpPr/>
          <p:nvPr/>
        </p:nvSpPr>
        <p:spPr>
          <a:xfrm>
            <a:off x="8823960" y="1920240"/>
            <a:ext cx="2560320" cy="4206240"/>
          </a:xfrm>
          <a:prstGeom prst="rect">
            <a:avLst/>
          </a:prstGeom>
          <a:solidFill>
            <a:srgbClr val="FFFFFF"/>
          </a:solidFill>
          <a:ln w="15240">
            <a:solidFill>
              <a:srgbClr val="E2E8F0"/>
            </a:solidFill>
            <a:prstDash val="solid"/>
          </a:ln>
        </p:spPr>
      </p:sp>
      <p:sp>
        <p:nvSpPr>
          <p:cNvPr id="26" name="Shape 24"/>
          <p:cNvSpPr/>
          <p:nvPr/>
        </p:nvSpPr>
        <p:spPr>
          <a:xfrm>
            <a:off x="8823960" y="1920240"/>
            <a:ext cx="2560320" cy="91440"/>
          </a:xfrm>
          <a:prstGeom prst="rect">
            <a:avLst/>
          </a:prstGeom>
          <a:solidFill>
            <a:srgbClr val="003B95"/>
          </a:solidFill>
          <a:ln/>
        </p:spPr>
      </p:sp>
      <p:sp>
        <p:nvSpPr>
          <p:cNvPr id="27" name="Shape 25"/>
          <p:cNvSpPr/>
          <p:nvPr/>
        </p:nvSpPr>
        <p:spPr>
          <a:xfrm>
            <a:off x="9052560" y="2148840"/>
            <a:ext cx="2103120" cy="292608"/>
          </a:xfrm>
          <a:prstGeom prst="rect">
            <a:avLst/>
          </a:prstGeom>
          <a:solidFill>
            <a:srgbClr val="EFF6FF"/>
          </a:solidFill>
          <a:ln/>
        </p:spPr>
      </p:sp>
      <p:sp>
        <p:nvSpPr>
          <p:cNvPr id="28" name="Text 26"/>
          <p:cNvSpPr/>
          <p:nvPr/>
        </p:nvSpPr>
        <p:spPr>
          <a:xfrm>
            <a:off x="905256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4 (NĂM 2028)</a:t>
            </a:r>
            <a:endParaRPr lang="en-US" sz="850" dirty="0"/>
          </a:p>
        </p:txBody>
      </p:sp>
      <p:sp>
        <p:nvSpPr>
          <p:cNvPr id="29" name="Text 27"/>
          <p:cNvSpPr/>
          <p:nvPr/>
        </p:nvSpPr>
        <p:spPr>
          <a:xfrm>
            <a:off x="905256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Liên Minh Số Hiệp Hội Toàn Quốc</a:t>
            </a:r>
            <a:endParaRPr lang="en-US" sz="1300" dirty="0"/>
          </a:p>
        </p:txBody>
      </p:sp>
      <p:sp>
        <p:nvSpPr>
          <p:cNvPr id="30" name="Text 28"/>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Mở rộng liên kết cơ sở dữ liệu với Hội Doanh Nhân Trẻ các tỉnh thành và các tổ chức xúc tiến thương mại quốc tế, mở ra mạng lưới giao thương toàn cầu.</a:t>
            </a:r>
            <a:endParaRPr lang="en-US" sz="1100" dirty="0"/>
          </a:p>
        </p:txBody>
      </p:sp>
      <p:sp>
        <p:nvSpPr>
          <p:cNvPr id="31" name="Shape 29"/>
          <p:cNvSpPr/>
          <p:nvPr/>
        </p:nvSpPr>
        <p:spPr>
          <a:xfrm>
            <a:off x="731520" y="6400800"/>
            <a:ext cx="10725912" cy="18288"/>
          </a:xfrm>
          <a:prstGeom prst="rect">
            <a:avLst/>
          </a:prstGeom>
          <a:solidFill>
            <a:srgbClr val="BAE6FD"/>
          </a:solidFill>
          <a:ln/>
        </p:spPr>
      </p:sp>
      <p:sp>
        <p:nvSpPr>
          <p:cNvPr id="32" name="Text 30"/>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33" name="Text 31"/>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3B95"/>
          </a:solidFill>
          <a:ln/>
        </p:spPr>
      </p:sp>
      <p:sp>
        <p:nvSpPr>
          <p:cNvPr id="3" name="Shape 1"/>
          <p:cNvSpPr/>
          <p:nvPr/>
        </p:nvSpPr>
        <p:spPr>
          <a:xfrm>
            <a:off x="731520" y="914400"/>
            <a:ext cx="4754880" cy="365760"/>
          </a:xfrm>
          <a:prstGeom prst="rect">
            <a:avLst/>
          </a:prstGeom>
          <a:solidFill>
            <a:srgbClr val="EFF6FF"/>
          </a:solidFill>
          <a:ln w="19050">
            <a:solidFill>
              <a:srgbClr val="BAE6FD"/>
            </a:solidFill>
            <a:prstDash val="solid"/>
          </a:ln>
        </p:spPr>
      </p:sp>
      <p:sp>
        <p:nvSpPr>
          <p:cNvPr id="4" name="Text 2"/>
          <p:cNvSpPr/>
          <p:nvPr/>
        </p:nvSpPr>
        <p:spPr>
          <a:xfrm>
            <a:off x="731520" y="914400"/>
            <a:ext cx="4754880" cy="365760"/>
          </a:xfrm>
          <a:prstGeom prst="rect">
            <a:avLst/>
          </a:prstGeom>
          <a:noFill/>
          <a:ln/>
        </p:spPr>
        <p:txBody>
          <a:bodyPr wrap="square" rtlCol="0" anchor="ctr"/>
          <a:lstStyle/>
          <a:p>
            <a:pPr algn="ctr" indent="0" marL="0">
              <a:buNone/>
            </a:pPr>
            <a:r>
              <a:rPr lang="en-US" sz="1100" b="1" dirty="0">
                <a:solidFill>
                  <a:srgbClr val="003B95"/>
                </a:solidFill>
                <a:latin typeface="Calibri" pitchFamily="34" charset="0"/>
                <a:ea typeface="Calibri" pitchFamily="34" charset="-122"/>
                <a:cs typeface="Calibri" pitchFamily="34" charset="-120"/>
              </a:rPr>
              <a:t>KHẲNG ĐỊNH VỊ THẾ HIỆP HỘI TIÊN PHONG</a:t>
            </a:r>
            <a:endParaRPr lang="en-US" sz="1100" dirty="0"/>
          </a:p>
        </p:txBody>
      </p:sp>
      <p:sp>
        <p:nvSpPr>
          <p:cNvPr id="5" name="Text 3"/>
          <p:cNvSpPr/>
          <p:nvPr/>
        </p:nvSpPr>
        <p:spPr>
          <a:xfrm>
            <a:off x="731520" y="1463040"/>
            <a:ext cx="10725912" cy="822960"/>
          </a:xfrm>
          <a:prstGeom prst="rect">
            <a:avLst/>
          </a:prstGeom>
          <a:noFill/>
          <a:ln/>
        </p:spPr>
        <p:txBody>
          <a:bodyPr wrap="square" rtlCol="0" anchor="ctr"/>
          <a:lstStyle/>
          <a:p>
            <a:pPr indent="0" marL="0">
              <a:buNone/>
            </a:pPr>
            <a:r>
              <a:rPr lang="en-US" sz="3200" b="1" dirty="0">
                <a:solidFill>
                  <a:srgbClr val="003B95"/>
                </a:solidFill>
                <a:latin typeface="Calibri" pitchFamily="34" charset="0"/>
                <a:ea typeface="Calibri" pitchFamily="34" charset="-122"/>
                <a:cs typeface="Calibri" pitchFamily="34" charset="-120"/>
              </a:rPr>
              <a:t>TỔNG KẾT &amp; CAM KẾT VẬN HÀNH SỐ HÓA</a:t>
            </a:r>
            <a:endParaRPr lang="en-US" sz="3200" dirty="0"/>
          </a:p>
        </p:txBody>
      </p:sp>
      <p:sp>
        <p:nvSpPr>
          <p:cNvPr id="6" name="Text 4"/>
          <p:cNvSpPr/>
          <p:nvPr/>
        </p:nvSpPr>
        <p:spPr>
          <a:xfrm>
            <a:off x="731520" y="2331720"/>
            <a:ext cx="10725912" cy="457200"/>
          </a:xfrm>
          <a:prstGeom prst="rect">
            <a:avLst/>
          </a:prstGeom>
          <a:noFill/>
          <a:ln/>
        </p:spPr>
        <p:txBody>
          <a:bodyPr wrap="square" rtlCol="0" anchor="ctr"/>
          <a:lstStyle/>
          <a:p>
            <a:pPr indent="0" marL="0">
              <a:buNone/>
            </a:pPr>
            <a:r>
              <a:rPr lang="en-US" sz="1600" b="1" i="1" dirty="0">
                <a:solidFill>
                  <a:srgbClr val="0284C7"/>
                </a:solidFill>
                <a:latin typeface="Calibri" pitchFamily="34" charset="0"/>
                <a:ea typeface="Calibri" pitchFamily="34" charset="-122"/>
                <a:cs typeface="Calibri" pitchFamily="34" charset="-120"/>
              </a:rPr>
              <a:t>Khẳng định đẳng cấp quản trị · Minh bạch tài chính · Sẵn sàng bàn giao nhiệm kỳ trọn vẹn</a:t>
            </a:r>
            <a:endParaRPr lang="en-US" sz="1600" dirty="0"/>
          </a:p>
        </p:txBody>
      </p:sp>
      <p:sp>
        <p:nvSpPr>
          <p:cNvPr id="7" name="Shape 5"/>
          <p:cNvSpPr/>
          <p:nvPr/>
        </p:nvSpPr>
        <p:spPr>
          <a:xfrm>
            <a:off x="731520" y="3108960"/>
            <a:ext cx="3383280" cy="2743200"/>
          </a:xfrm>
          <a:prstGeom prst="rect">
            <a:avLst/>
          </a:prstGeom>
          <a:solidFill>
            <a:srgbClr val="FFFFFF"/>
          </a:solidFill>
          <a:ln w="19050">
            <a:solidFill>
              <a:srgbClr val="BAE6FD"/>
            </a:solidFill>
            <a:prstDash val="solid"/>
          </a:ln>
        </p:spPr>
      </p:sp>
      <p:sp>
        <p:nvSpPr>
          <p:cNvPr id="8" name="Text 6"/>
          <p:cNvSpPr/>
          <p:nvPr/>
        </p:nvSpPr>
        <p:spPr>
          <a:xfrm>
            <a:off x="1005840" y="3383280"/>
            <a:ext cx="2834640" cy="54864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  Đơn Giản Hóa Vận Hành</a:t>
            </a:r>
            <a:endParaRPr lang="en-US" sz="1400" dirty="0"/>
          </a:p>
        </p:txBody>
      </p:sp>
      <p:sp>
        <p:nvSpPr>
          <p:cNvPr id="9" name="Text 7"/>
          <p:cNvSpPr/>
          <p:nvPr/>
        </p:nvSpPr>
        <p:spPr>
          <a:xfrm>
            <a:off x="1005840" y="4023360"/>
            <a:ext cx="2834640" cy="155448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Mọi nghiệp vụ từ duyệt hội viên đến tổ chức sự kiện đều được quy chuẩn hóa trong một phần mềm duy nhất, dễ dùng và trực quan.</a:t>
            </a:r>
            <a:endParaRPr lang="en-US" sz="1150" dirty="0"/>
          </a:p>
        </p:txBody>
      </p:sp>
      <p:sp>
        <p:nvSpPr>
          <p:cNvPr id="10" name="Shape 8"/>
          <p:cNvSpPr/>
          <p:nvPr/>
        </p:nvSpPr>
        <p:spPr>
          <a:xfrm>
            <a:off x="4389120" y="3108960"/>
            <a:ext cx="3383280" cy="2743200"/>
          </a:xfrm>
          <a:prstGeom prst="rect">
            <a:avLst/>
          </a:prstGeom>
          <a:solidFill>
            <a:srgbClr val="FFFFFF"/>
          </a:solidFill>
          <a:ln w="19050">
            <a:solidFill>
              <a:srgbClr val="BAE6FD"/>
            </a:solidFill>
            <a:prstDash val="solid"/>
          </a:ln>
        </p:spPr>
      </p:sp>
      <p:sp>
        <p:nvSpPr>
          <p:cNvPr id="11" name="Text 9"/>
          <p:cNvSpPr/>
          <p:nvPr/>
        </p:nvSpPr>
        <p:spPr>
          <a:xfrm>
            <a:off x="4663440" y="3383280"/>
            <a:ext cx="2834640" cy="54864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  Bảo Toàn Di Sản Hiệp Hội</a:t>
            </a:r>
            <a:endParaRPr lang="en-US" sz="1400" dirty="0"/>
          </a:p>
        </p:txBody>
      </p:sp>
      <p:sp>
        <p:nvSpPr>
          <p:cNvPr id="12" name="Text 10"/>
          <p:cNvSpPr/>
          <p:nvPr/>
        </p:nvSpPr>
        <p:spPr>
          <a:xfrm>
            <a:off x="4663440" y="4023360"/>
            <a:ext cx="2834640" cy="155448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Dữ liệu không bao giờ bị mất mát, tạo nền tảng vững chắc cho các thế hệ Ban Chấp Hành kế tiếp phát triển lớn mạnh hơn.</a:t>
            </a:r>
            <a:endParaRPr lang="en-US" sz="1150" dirty="0"/>
          </a:p>
        </p:txBody>
      </p:sp>
      <p:sp>
        <p:nvSpPr>
          <p:cNvPr id="13" name="Shape 11"/>
          <p:cNvSpPr/>
          <p:nvPr/>
        </p:nvSpPr>
        <p:spPr>
          <a:xfrm>
            <a:off x="8046720" y="3108960"/>
            <a:ext cx="3383280" cy="2743200"/>
          </a:xfrm>
          <a:prstGeom prst="rect">
            <a:avLst/>
          </a:prstGeom>
          <a:solidFill>
            <a:srgbClr val="FFFFFF"/>
          </a:solidFill>
          <a:ln w="19050">
            <a:solidFill>
              <a:srgbClr val="BAE6FD"/>
            </a:solidFill>
            <a:prstDash val="solid"/>
          </a:ln>
        </p:spPr>
      </p:sp>
      <p:sp>
        <p:nvSpPr>
          <p:cNvPr id="14" name="Text 12"/>
          <p:cNvSpPr/>
          <p:nvPr/>
        </p:nvSpPr>
        <p:spPr>
          <a:xfrm>
            <a:off x="8321040" y="3383280"/>
            <a:ext cx="2834640" cy="54864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  Lan Tỏa Giá Trị Thực Chất</a:t>
            </a:r>
            <a:endParaRPr lang="en-US" sz="1400" dirty="0"/>
          </a:p>
        </p:txBody>
      </p:sp>
      <p:sp>
        <p:nvSpPr>
          <p:cNvPr id="15" name="Text 13"/>
          <p:cNvSpPr/>
          <p:nvPr/>
        </p:nvSpPr>
        <p:spPr>
          <a:xfrm>
            <a:off x="8321040" y="4023360"/>
            <a:ext cx="2834640" cy="155448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Đưa CLB CEO 1983 trở thành mái nhà chung kết nối kinh doanh hiệu quả, tin cậy và bền vững hàng đầu thủ đô.</a:t>
            </a:r>
            <a:endParaRPr lang="en-US" sz="1150" dirty="0"/>
          </a:p>
        </p:txBody>
      </p:sp>
      <p:sp>
        <p:nvSpPr>
          <p:cNvPr id="16" name="Text 14"/>
          <p:cNvSpPr/>
          <p:nvPr/>
        </p:nvSpPr>
        <p:spPr>
          <a:xfrm>
            <a:off x="731520" y="6172200"/>
            <a:ext cx="10725912" cy="2743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Hệ Thống CRM Quản Trị · CLB Doanh Nhân CEO 1983 · Hội Doanh Nhân Trẻ Hà Nội (HanoiBA)</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003B95"/>
          </a:solidFill>
          <a:ln/>
        </p:spPr>
      </p:sp>
      <p:sp>
        <p:nvSpPr>
          <p:cNvPr id="3" name="Shape 1"/>
          <p:cNvSpPr/>
          <p:nvPr/>
        </p:nvSpPr>
        <p:spPr>
          <a:xfrm>
            <a:off x="2286000" y="822960"/>
            <a:ext cx="7616952" cy="411480"/>
          </a:xfrm>
          <a:prstGeom prst="rect">
            <a:avLst/>
          </a:prstGeom>
          <a:solidFill>
            <a:srgbClr val="EFF6FF"/>
          </a:solidFill>
          <a:ln w="19050">
            <a:solidFill>
              <a:srgbClr val="BAE6FD"/>
            </a:solidFill>
            <a:prstDash val="solid"/>
          </a:ln>
        </p:spPr>
      </p:sp>
      <p:sp>
        <p:nvSpPr>
          <p:cNvPr id="4" name="Text 2"/>
          <p:cNvSpPr/>
          <p:nvPr/>
        </p:nvSpPr>
        <p:spPr>
          <a:xfrm>
            <a:off x="2286000" y="822960"/>
            <a:ext cx="7616952" cy="411480"/>
          </a:xfrm>
          <a:prstGeom prst="rect">
            <a:avLst/>
          </a:prstGeom>
          <a:noFill/>
          <a:ln/>
        </p:spPr>
        <p:txBody>
          <a:bodyPr wrap="square" rtlCol="0" anchor="ctr"/>
          <a:lstStyle/>
          <a:p>
            <a:pPr algn="ctr" indent="0" marL="0">
              <a:buNone/>
            </a:pPr>
            <a:r>
              <a:rPr lang="en-US" sz="1200" b="1" dirty="0">
                <a:solidFill>
                  <a:srgbClr val="003B95"/>
                </a:solidFill>
                <a:latin typeface="Calibri" pitchFamily="34" charset="0"/>
                <a:ea typeface="Calibri" pitchFamily="34" charset="-122"/>
                <a:cs typeface="Calibri" pitchFamily="34" charset="-120"/>
              </a:rPr>
              <a:t>TRUNG TÂM CHỈ HUY &amp; ĐIỀU HÀNH SỐ HÓA HIỆP HỘI</a:t>
            </a:r>
            <a:endParaRPr lang="en-US" sz="1200" dirty="0"/>
          </a:p>
        </p:txBody>
      </p:sp>
      <p:sp>
        <p:nvSpPr>
          <p:cNvPr id="5" name="Text 3"/>
          <p:cNvSpPr/>
          <p:nvPr/>
        </p:nvSpPr>
        <p:spPr>
          <a:xfrm>
            <a:off x="914400" y="1417320"/>
            <a:ext cx="10360152" cy="822960"/>
          </a:xfrm>
          <a:prstGeom prst="rect">
            <a:avLst/>
          </a:prstGeom>
          <a:noFill/>
          <a:ln/>
        </p:spPr>
        <p:txBody>
          <a:bodyPr wrap="square" rtlCol="0" anchor="ctr"/>
          <a:lstStyle/>
          <a:p>
            <a:pPr algn="ctr" indent="0" marL="0">
              <a:buNone/>
            </a:pPr>
            <a:r>
              <a:rPr lang="en-US" sz="4000" b="1" dirty="0">
                <a:solidFill>
                  <a:srgbClr val="003B95"/>
                </a:solidFill>
                <a:latin typeface="Calibri" pitchFamily="34" charset="0"/>
                <a:ea typeface="Calibri" pitchFamily="34" charset="-122"/>
                <a:cs typeface="Calibri" pitchFamily="34" charset="-120"/>
              </a:rPr>
              <a:t>XIN TRÂN TRỌNG CẢM ƠN!</a:t>
            </a:r>
            <a:endParaRPr lang="en-US" sz="4000" dirty="0"/>
          </a:p>
        </p:txBody>
      </p:sp>
      <p:sp>
        <p:nvSpPr>
          <p:cNvPr id="6" name="Text 4"/>
          <p:cNvSpPr/>
          <p:nvPr/>
        </p:nvSpPr>
        <p:spPr>
          <a:xfrm>
            <a:off x="914400" y="2286000"/>
            <a:ext cx="10360152" cy="411480"/>
          </a:xfrm>
          <a:prstGeom prst="rect">
            <a:avLst/>
          </a:prstGeom>
          <a:noFill/>
          <a:ln/>
        </p:spPr>
        <p:txBody>
          <a:bodyPr wrap="square" rtlCol="0" anchor="ctr"/>
          <a:lstStyle/>
          <a:p>
            <a:pPr algn="ctr" indent="0" marL="0">
              <a:buNone/>
            </a:pPr>
            <a:r>
              <a:rPr lang="en-US" sz="1550" b="1" dirty="0">
                <a:solidFill>
                  <a:srgbClr val="0284C7"/>
                </a:solidFill>
                <a:latin typeface="Calibri" pitchFamily="34" charset="0"/>
                <a:ea typeface="Calibri" pitchFamily="34" charset="-122"/>
                <a:cs typeface="Calibri" pitchFamily="34" charset="-120"/>
              </a:rPr>
              <a:t>KÍNH CHÚC QUÝ LÃNH ĐẠO &amp; QUÝ ANH CHỊ DOANH NHÂN SỨC KHỎE, HẠNH PHÚC &amp; THỊNH VƯỢNG!</a:t>
            </a:r>
            <a:endParaRPr lang="en-US" sz="1550" dirty="0"/>
          </a:p>
        </p:txBody>
      </p:sp>
      <p:sp>
        <p:nvSpPr>
          <p:cNvPr id="7" name="Text 5"/>
          <p:cNvSpPr/>
          <p:nvPr/>
        </p:nvSpPr>
        <p:spPr>
          <a:xfrm>
            <a:off x="914400" y="2743200"/>
            <a:ext cx="10360152" cy="365760"/>
          </a:xfrm>
          <a:prstGeom prst="rect">
            <a:avLst/>
          </a:prstGeom>
          <a:noFill/>
          <a:ln/>
        </p:spPr>
        <p:txBody>
          <a:bodyPr wrap="square" rtlCol="0" anchor="ctr"/>
          <a:lstStyle/>
          <a:p>
            <a:pPr algn="ctr" indent="0" marL="0">
              <a:buNone/>
            </a:pPr>
            <a:r>
              <a:rPr lang="en-US" sz="1350" b="1" i="1" dirty="0">
                <a:solidFill>
                  <a:srgbClr val="003B95"/>
                </a:solidFill>
                <a:latin typeface="Calibri" pitchFamily="34" charset="0"/>
                <a:ea typeface="Calibri" pitchFamily="34" charset="-122"/>
                <a:cs typeface="Calibri" pitchFamily="34" charset="-120"/>
              </a:rPr>
              <a:t>"TÂM - TẦM - TÍN - THỊNH"  ·  "KẾT NỐI BỀN - PHÁT TRIỂN VỮNG"</a:t>
            </a:r>
            <a:endParaRPr lang="en-US" sz="1350" dirty="0"/>
          </a:p>
        </p:txBody>
      </p:sp>
      <p:sp>
        <p:nvSpPr>
          <p:cNvPr id="8" name="Shape 6"/>
          <p:cNvSpPr/>
          <p:nvPr/>
        </p:nvSpPr>
        <p:spPr>
          <a:xfrm>
            <a:off x="914400" y="3337560"/>
            <a:ext cx="3291840" cy="2560320"/>
          </a:xfrm>
          <a:prstGeom prst="rect">
            <a:avLst/>
          </a:prstGeom>
          <a:solidFill>
            <a:srgbClr val="FFFFFF"/>
          </a:solidFill>
          <a:ln w="19050">
            <a:solidFill>
              <a:srgbClr val="BAE6FD"/>
            </a:solidFill>
            <a:prstDash val="solid"/>
          </a:ln>
        </p:spPr>
      </p:sp>
      <p:sp>
        <p:nvSpPr>
          <p:cNvPr id="9" name="Text 7"/>
          <p:cNvSpPr/>
          <p:nvPr/>
        </p:nvSpPr>
        <p:spPr>
          <a:xfrm>
            <a:off x="914400" y="3520440"/>
            <a:ext cx="3291840" cy="45720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0" name="Text 8"/>
          <p:cNvSpPr/>
          <p:nvPr/>
        </p:nvSpPr>
        <p:spPr>
          <a:xfrm>
            <a:off x="1051560" y="4069080"/>
            <a:ext cx="3017520" cy="365760"/>
          </a:xfrm>
          <a:prstGeom prst="rect">
            <a:avLst/>
          </a:prstGeom>
          <a:noFill/>
          <a:ln/>
        </p:spPr>
        <p:txBody>
          <a:bodyPr wrap="square" rtlCol="0" anchor="ctr"/>
          <a:lstStyle/>
          <a:p>
            <a:pPr algn="ctr" indent="0" marL="0">
              <a:buNone/>
            </a:pPr>
            <a:r>
              <a:rPr lang="en-US" sz="1250" b="1" dirty="0">
                <a:solidFill>
                  <a:srgbClr val="003B95"/>
                </a:solidFill>
                <a:latin typeface="Calibri" pitchFamily="34" charset="0"/>
                <a:ea typeface="Calibri" pitchFamily="34" charset="-122"/>
                <a:cs typeface="Calibri" pitchFamily="34" charset="-120"/>
              </a:rPr>
              <a:t>CLB DOANH NHÂN CEO 1983</a:t>
            </a:r>
            <a:endParaRPr lang="en-US" sz="1250" dirty="0"/>
          </a:p>
        </p:txBody>
      </p:sp>
      <p:sp>
        <p:nvSpPr>
          <p:cNvPr id="11" name="Text 9"/>
          <p:cNvSpPr/>
          <p:nvPr/>
        </p:nvSpPr>
        <p:spPr>
          <a:xfrm>
            <a:off x="1051560" y="4434840"/>
            <a:ext cx="3017520" cy="320040"/>
          </a:xfrm>
          <a:prstGeom prst="rect">
            <a:avLst/>
          </a:prstGeom>
          <a:noFill/>
          <a:ln/>
        </p:spPr>
        <p:txBody>
          <a:bodyPr wrap="square" rtlCol="0" anchor="ctr"/>
          <a:lstStyle/>
          <a:p>
            <a:pPr algn="ctr" indent="0" marL="0">
              <a:buNone/>
            </a:pPr>
            <a:r>
              <a:rPr lang="en-US" sz="1050" b="1" dirty="0">
                <a:solidFill>
                  <a:srgbClr val="0284C7"/>
                </a:solidFill>
                <a:latin typeface="Calibri" pitchFamily="34" charset="0"/>
                <a:ea typeface="Calibri" pitchFamily="34" charset="-122"/>
                <a:cs typeface="Calibri" pitchFamily="34" charset="-120"/>
              </a:rPr>
              <a:t>Trực thuộc HanoiBA</a:t>
            </a:r>
            <a:endParaRPr lang="en-US" sz="1050" dirty="0"/>
          </a:p>
        </p:txBody>
      </p:sp>
      <p:sp>
        <p:nvSpPr>
          <p:cNvPr id="12" name="Text 10"/>
          <p:cNvSpPr/>
          <p:nvPr/>
        </p:nvSpPr>
        <p:spPr>
          <a:xfrm>
            <a:off x="1097280" y="4800600"/>
            <a:ext cx="2926080" cy="960120"/>
          </a:xfrm>
          <a:prstGeom prst="rect">
            <a:avLst/>
          </a:prstGeom>
          <a:noFill/>
          <a:ln/>
        </p:spPr>
        <p:txBody>
          <a:bodyPr wrap="square" rtlCol="0" anchor="ctr"/>
          <a:lstStyle/>
          <a:p>
            <a:pPr algn="ctr" indent="0" marL="0">
              <a:buNone/>
            </a:pPr>
            <a:r>
              <a:rPr lang="en-US" sz="1050" dirty="0">
                <a:solidFill>
                  <a:srgbClr val="334155"/>
                </a:solidFill>
                <a:latin typeface="Calibri" pitchFamily="34" charset="0"/>
                <a:ea typeface="Calibri" pitchFamily="34" charset="-122"/>
                <a:cs typeface="Calibri" pitchFamily="34" charset="-120"/>
              </a:rPr>
              <a:t>Mái nhà chung kết nối các lãnh đạo doanh nhân sinh năm 1983, cùng kiến tạo giá trị kinh tế và phụng sự cộng đồng.</a:t>
            </a:r>
            <a:endParaRPr lang="en-US" sz="1050" dirty="0"/>
          </a:p>
        </p:txBody>
      </p:sp>
      <p:sp>
        <p:nvSpPr>
          <p:cNvPr id="13" name="Shape 11"/>
          <p:cNvSpPr/>
          <p:nvPr/>
        </p:nvSpPr>
        <p:spPr>
          <a:xfrm>
            <a:off x="4480560" y="3337560"/>
            <a:ext cx="3291840" cy="2560320"/>
          </a:xfrm>
          <a:prstGeom prst="rect">
            <a:avLst/>
          </a:prstGeom>
          <a:solidFill>
            <a:srgbClr val="FFFFFF"/>
          </a:solidFill>
          <a:ln w="19050">
            <a:solidFill>
              <a:srgbClr val="BAE6FD"/>
            </a:solidFill>
            <a:prstDash val="solid"/>
          </a:ln>
        </p:spPr>
      </p:sp>
      <p:sp>
        <p:nvSpPr>
          <p:cNvPr id="14" name="Text 12"/>
          <p:cNvSpPr/>
          <p:nvPr/>
        </p:nvSpPr>
        <p:spPr>
          <a:xfrm>
            <a:off x="4480560" y="3520440"/>
            <a:ext cx="3291840" cy="45720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5" name="Text 13"/>
          <p:cNvSpPr/>
          <p:nvPr/>
        </p:nvSpPr>
        <p:spPr>
          <a:xfrm>
            <a:off x="4617720" y="4069080"/>
            <a:ext cx="3017520" cy="365760"/>
          </a:xfrm>
          <a:prstGeom prst="rect">
            <a:avLst/>
          </a:prstGeom>
          <a:noFill/>
          <a:ln/>
        </p:spPr>
        <p:txBody>
          <a:bodyPr wrap="square" rtlCol="0" anchor="ctr"/>
          <a:lstStyle/>
          <a:p>
            <a:pPr algn="ctr" indent="0" marL="0">
              <a:buNone/>
            </a:pPr>
            <a:r>
              <a:rPr lang="en-US" sz="1250" b="1" dirty="0">
                <a:solidFill>
                  <a:srgbClr val="003B95"/>
                </a:solidFill>
                <a:latin typeface="Calibri" pitchFamily="34" charset="0"/>
                <a:ea typeface="Calibri" pitchFamily="34" charset="-122"/>
                <a:cs typeface="Calibri" pitchFamily="34" charset="-120"/>
              </a:rPr>
              <a:t>PHIÊN HỎI ĐÁP &amp; THẢO LUẬN (Q&amp;A)</a:t>
            </a:r>
            <a:endParaRPr lang="en-US" sz="1250" dirty="0"/>
          </a:p>
        </p:txBody>
      </p:sp>
      <p:sp>
        <p:nvSpPr>
          <p:cNvPr id="16" name="Text 14"/>
          <p:cNvSpPr/>
          <p:nvPr/>
        </p:nvSpPr>
        <p:spPr>
          <a:xfrm>
            <a:off x="4617720" y="4434840"/>
            <a:ext cx="3017520" cy="320040"/>
          </a:xfrm>
          <a:prstGeom prst="rect">
            <a:avLst/>
          </a:prstGeom>
          <a:noFill/>
          <a:ln/>
        </p:spPr>
        <p:txBody>
          <a:bodyPr wrap="square" rtlCol="0" anchor="ctr"/>
          <a:lstStyle/>
          <a:p>
            <a:pPr algn="ctr" indent="0" marL="0">
              <a:buNone/>
            </a:pPr>
            <a:r>
              <a:rPr lang="en-US" sz="1050" b="1" dirty="0">
                <a:solidFill>
                  <a:srgbClr val="0284C7"/>
                </a:solidFill>
                <a:latin typeface="Calibri" pitchFamily="34" charset="0"/>
                <a:ea typeface="Calibri" pitchFamily="34" charset="-122"/>
                <a:cs typeface="Calibri" pitchFamily="34" charset="-120"/>
              </a:rPr>
              <a:t>Lắng nghe &amp; tiếp thu ý kiến</a:t>
            </a:r>
            <a:endParaRPr lang="en-US" sz="1050" dirty="0"/>
          </a:p>
        </p:txBody>
      </p:sp>
      <p:sp>
        <p:nvSpPr>
          <p:cNvPr id="17" name="Text 15"/>
          <p:cNvSpPr/>
          <p:nvPr/>
        </p:nvSpPr>
        <p:spPr>
          <a:xfrm>
            <a:off x="4663440" y="4800600"/>
            <a:ext cx="2926080" cy="960120"/>
          </a:xfrm>
          <a:prstGeom prst="rect">
            <a:avLst/>
          </a:prstGeom>
          <a:noFill/>
          <a:ln/>
        </p:spPr>
        <p:txBody>
          <a:bodyPr wrap="square" rtlCol="0" anchor="ctr"/>
          <a:lstStyle/>
          <a:p>
            <a:pPr algn="ctr" indent="0" marL="0">
              <a:buNone/>
            </a:pPr>
            <a:r>
              <a:rPr lang="en-US" sz="1050" dirty="0">
                <a:solidFill>
                  <a:srgbClr val="334155"/>
                </a:solidFill>
                <a:latin typeface="Calibri" pitchFamily="34" charset="0"/>
                <a:ea typeface="Calibri" pitchFamily="34" charset="-122"/>
                <a:cs typeface="Calibri" pitchFamily="34" charset="-120"/>
              </a:rPr>
              <a:t>Ban Thư Ký luôn sẵn sàng giải đáp mọi thắc mắc và tiếp thu ý kiến đóng góp từ Quý Ban Chấp Hành &amp; Hội viên.</a:t>
            </a:r>
            <a:endParaRPr lang="en-US" sz="1050" dirty="0"/>
          </a:p>
        </p:txBody>
      </p:sp>
      <p:sp>
        <p:nvSpPr>
          <p:cNvPr id="18" name="Shape 16"/>
          <p:cNvSpPr/>
          <p:nvPr/>
        </p:nvSpPr>
        <p:spPr>
          <a:xfrm>
            <a:off x="8046720" y="3337560"/>
            <a:ext cx="3291840" cy="2560320"/>
          </a:xfrm>
          <a:prstGeom prst="rect">
            <a:avLst/>
          </a:prstGeom>
          <a:solidFill>
            <a:srgbClr val="FFFFFF"/>
          </a:solidFill>
          <a:ln w="19050">
            <a:solidFill>
              <a:srgbClr val="BAE6FD"/>
            </a:solidFill>
            <a:prstDash val="solid"/>
          </a:ln>
        </p:spPr>
      </p:sp>
      <p:sp>
        <p:nvSpPr>
          <p:cNvPr id="19" name="Text 17"/>
          <p:cNvSpPr/>
          <p:nvPr/>
        </p:nvSpPr>
        <p:spPr>
          <a:xfrm>
            <a:off x="8046720" y="3520440"/>
            <a:ext cx="3291840" cy="45720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0" name="Text 18"/>
          <p:cNvSpPr/>
          <p:nvPr/>
        </p:nvSpPr>
        <p:spPr>
          <a:xfrm>
            <a:off x="8183880" y="4069080"/>
            <a:ext cx="3017520" cy="365760"/>
          </a:xfrm>
          <a:prstGeom prst="rect">
            <a:avLst/>
          </a:prstGeom>
          <a:noFill/>
          <a:ln/>
        </p:spPr>
        <p:txBody>
          <a:bodyPr wrap="square" rtlCol="0" anchor="ctr"/>
          <a:lstStyle/>
          <a:p>
            <a:pPr algn="ctr" indent="0" marL="0">
              <a:buNone/>
            </a:pPr>
            <a:r>
              <a:rPr lang="en-US" sz="1250" b="1" dirty="0">
                <a:solidFill>
                  <a:srgbClr val="003B95"/>
                </a:solidFill>
                <a:latin typeface="Calibri" pitchFamily="34" charset="0"/>
                <a:ea typeface="Calibri" pitchFamily="34" charset="-122"/>
                <a:cs typeface="Calibri" pitchFamily="34" charset="-120"/>
              </a:rPr>
              <a:t>HỖ TRỢ VẬN HÀNH &amp; KỸ THUẬT</a:t>
            </a:r>
            <a:endParaRPr lang="en-US" sz="1250" dirty="0"/>
          </a:p>
        </p:txBody>
      </p:sp>
      <p:sp>
        <p:nvSpPr>
          <p:cNvPr id="21" name="Text 19"/>
          <p:cNvSpPr/>
          <p:nvPr/>
        </p:nvSpPr>
        <p:spPr>
          <a:xfrm>
            <a:off x="8183880" y="4434840"/>
            <a:ext cx="3017520" cy="320040"/>
          </a:xfrm>
          <a:prstGeom prst="rect">
            <a:avLst/>
          </a:prstGeom>
          <a:noFill/>
          <a:ln/>
        </p:spPr>
        <p:txBody>
          <a:bodyPr wrap="square" rtlCol="0" anchor="ctr"/>
          <a:lstStyle/>
          <a:p>
            <a:pPr algn="ctr" indent="0" marL="0">
              <a:buNone/>
            </a:pPr>
            <a:r>
              <a:rPr lang="en-US" sz="1050" b="1" dirty="0">
                <a:solidFill>
                  <a:srgbClr val="0284C7"/>
                </a:solidFill>
                <a:latin typeface="Calibri" pitchFamily="34" charset="0"/>
                <a:ea typeface="Calibri" pitchFamily="34" charset="-122"/>
                <a:cs typeface="Calibri" pitchFamily="34" charset="-120"/>
              </a:rPr>
              <a:t>Ban Thư Ký CLB CEO 1983</a:t>
            </a:r>
            <a:endParaRPr lang="en-US" sz="1050" dirty="0"/>
          </a:p>
        </p:txBody>
      </p:sp>
      <p:sp>
        <p:nvSpPr>
          <p:cNvPr id="22" name="Text 20"/>
          <p:cNvSpPr/>
          <p:nvPr/>
        </p:nvSpPr>
        <p:spPr>
          <a:xfrm>
            <a:off x="8229600" y="4800600"/>
            <a:ext cx="2926080" cy="960120"/>
          </a:xfrm>
          <a:prstGeom prst="rect">
            <a:avLst/>
          </a:prstGeom>
          <a:noFill/>
          <a:ln/>
        </p:spPr>
        <p:txBody>
          <a:bodyPr wrap="square" rtlCol="0" anchor="ctr"/>
          <a:lstStyle/>
          <a:p>
            <a:pPr algn="ctr" indent="0" marL="0">
              <a:buNone/>
            </a:pPr>
            <a:r>
              <a:rPr lang="en-US" sz="1050" dirty="0">
                <a:solidFill>
                  <a:srgbClr val="334155"/>
                </a:solidFill>
                <a:latin typeface="Calibri" pitchFamily="34" charset="0"/>
                <a:ea typeface="Calibri" pitchFamily="34" charset="-122"/>
                <a:cs typeface="Calibri" pitchFamily="34" charset="-120"/>
              </a:rPr>
              <a:t>Hotline / Zalo hỗ trợ vận hành trực tiếp, tiếp nhận thẩm định hồ sơ hội viên và hướng dẫn sử dụng phần mềm 24/7.</a:t>
            </a:r>
            <a:endParaRPr lang="en-US" sz="1050" dirty="0"/>
          </a:p>
        </p:txBody>
      </p:sp>
      <p:sp>
        <p:nvSpPr>
          <p:cNvPr id="23" name="Text 21"/>
          <p:cNvSpPr/>
          <p:nvPr/>
        </p:nvSpPr>
        <p:spPr>
          <a:xfrm>
            <a:off x="914400" y="6263640"/>
            <a:ext cx="10360152" cy="274320"/>
          </a:xfrm>
          <a:prstGeom prst="rect">
            <a:avLst/>
          </a:prstGeom>
          <a:noFill/>
          <a:ln/>
        </p:spPr>
        <p:txBody>
          <a:bodyPr wrap="square"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Hệ Thống CRM Quản Trị · CLB Doanh Nhân CEO 1983 · Hội Doanh Nhân Trẻ Hà Nội (HanoiBA)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CLB Doanh Nhân CEO 1983 · HanoiBA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Thuyết Trình Hệ Thống CRM Quản Trị CLB Doanh Nhân CEO 1983</dc:title>
  <dc:subject>PptxGenJS Presentation</dc:subject>
  <dc:creator>Ban Quản Trị &amp; Ban Thư Ký CLB Doanh Nhân CEO 1983</dc:creator>
  <cp:lastModifiedBy>Ban Quản Trị &amp; Ban Thư Ký CLB Doanh Nhân CEO 1983</cp:lastModifiedBy>
  <cp:revision>1</cp:revision>
  <dcterms:created xsi:type="dcterms:W3CDTF">2026-09-21T03:41:06Z</dcterms:created>
  <dcterms:modified xsi:type="dcterms:W3CDTF">2026-09-21T03:41:06Z</dcterms:modified>
</cp:coreProperties>
</file>
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360152" cy="137160"/>
          </a:xfrm>
          <a:prstGeom prst="rect">
            <a:avLst/>
          </a:prstGeom>
          <a:solidFill>
            <a:srgbClr val="003B95"/>
          </a:solidFill>
          <a:ln/>
        </p:spPr>
      </p:sp>
      <p:sp>
        <p:nvSpPr>
          <p:cNvPr id="3" name="Shape 1"/>
          <p:cNvSpPr/>
          <p:nvPr/>
        </p:nvSpPr>
        <p:spPr>
          <a:xfrm>
            <a:off x="10360152" y="0"/>
            <a:ext cx="1828800" cy="137160"/>
          </a:xfrm>
          <a:prstGeom prst="rect">
            <a:avLst/>
          </a:prstGeom>
          <a:solidFill>
            <a:srgbClr val="F59E0B"/>
          </a:solidFill>
          <a:ln/>
        </p:spPr>
      </p:sp>
      <p:sp>
        <p:nvSpPr>
          <p:cNvPr id="4" name="Shape 2"/>
          <p:cNvSpPr/>
          <p:nvPr/>
        </p:nvSpPr>
        <p:spPr>
          <a:xfrm>
            <a:off x="1828800" y="914400"/>
            <a:ext cx="8531352" cy="438912"/>
          </a:xfrm>
          <a:prstGeom prst="rect">
            <a:avLst/>
          </a:prstGeom>
          <a:solidFill>
            <a:srgbClr val="003B95"/>
          </a:solidFill>
          <a:ln w="19050">
            <a:solidFill>
              <a:srgbClr val="F59E0B"/>
            </a:solidFill>
            <a:prstDash val="solid"/>
          </a:ln>
        </p:spPr>
      </p:sp>
      <p:sp>
        <p:nvSpPr>
          <p:cNvPr id="5" name="Text 3"/>
          <p:cNvSpPr/>
          <p:nvPr/>
        </p:nvSpPr>
        <p:spPr>
          <a:xfrm>
            <a:off x="1828800" y="914400"/>
            <a:ext cx="853135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CLB DOANH NHÂN CEO 1983 · HỘI DOANH NHÂN TRẺ HÀ NỘI (HANOIBA)</a:t>
            </a:r>
            <a:endParaRPr lang="en-US" sz="1300" dirty="0"/>
          </a:p>
        </p:txBody>
      </p:sp>
      <p:sp>
        <p:nvSpPr>
          <p:cNvPr id="6" name="Text 4"/>
          <p:cNvSpPr/>
          <p:nvPr/>
        </p:nvSpPr>
        <p:spPr>
          <a:xfrm>
            <a:off x="914400" y="1691640"/>
            <a:ext cx="10360152" cy="1005840"/>
          </a:xfrm>
          <a:prstGeom prst="rect">
            <a:avLst/>
          </a:prstGeom>
          <a:noFill/>
          <a:ln/>
        </p:spPr>
        <p:txBody>
          <a:bodyPr wrap="square" rtlCol="0" anchor="ctr"/>
          <a:lstStyle/>
          <a:p>
            <a:pPr algn="ctr" indent="0" marL="0">
              <a:buNone/>
            </a:pPr>
            <a:r>
              <a:rPr lang="en-US" sz="3400" b="1" dirty="0">
                <a:solidFill>
                  <a:srgbClr val="003B95"/>
                </a:solidFill>
                <a:latin typeface="Calibri" pitchFamily="34" charset="0"/>
                <a:ea typeface="Calibri" pitchFamily="34" charset="-122"/>
                <a:cs typeface="Calibri" pitchFamily="34" charset="-120"/>
              </a:rPr>
              <a:t>ỨNG DỤNG DI ĐỘNG HỘI VIÊN CEO 1983</a:t>
            </a:r>
            <a:endParaRPr lang="en-US" sz="3400" dirty="0"/>
          </a:p>
        </p:txBody>
      </p:sp>
      <p:sp>
        <p:nvSpPr>
          <p:cNvPr id="7" name="Shape 5"/>
          <p:cNvSpPr/>
          <p:nvPr/>
        </p:nvSpPr>
        <p:spPr>
          <a:xfrm>
            <a:off x="4937760" y="2834640"/>
            <a:ext cx="2313432" cy="45720"/>
          </a:xfrm>
          <a:prstGeom prst="rect">
            <a:avLst/>
          </a:prstGeom>
          <a:solidFill>
            <a:srgbClr val="F59E0B"/>
          </a:solidFill>
          <a:ln/>
        </p:spPr>
      </p:sp>
      <p:sp>
        <p:nvSpPr>
          <p:cNvPr id="8" name="Text 6"/>
          <p:cNvSpPr/>
          <p:nvPr/>
        </p:nvSpPr>
        <p:spPr>
          <a:xfrm>
            <a:off x="914400" y="3017520"/>
            <a:ext cx="10360152" cy="457200"/>
          </a:xfrm>
          <a:prstGeom prst="rect">
            <a:avLst/>
          </a:prstGeom>
          <a:noFill/>
          <a:ln/>
        </p:spPr>
        <p:txBody>
          <a:bodyPr wrap="square" rtlCol="0" anchor="ctr"/>
          <a:lstStyle/>
          <a:p>
            <a:pPr algn="ctr" indent="0" marL="0">
              <a:buNone/>
            </a:pPr>
            <a:r>
              <a:rPr lang="en-US" sz="1500" b="1" dirty="0">
                <a:solidFill>
                  <a:srgbClr val="003B95"/>
                </a:solidFill>
                <a:latin typeface="Calibri" pitchFamily="34" charset="0"/>
                <a:ea typeface="Calibri" pitchFamily="34" charset="-122"/>
                <a:cs typeface="Calibri" pitchFamily="34" charset="-120"/>
              </a:rPr>
              <a:t>NỀN TẢNG KẾT NỐI DOANH NHÂN &amp; ĐẶC QUYỀN SỐ HÓA ĐỘC BẢN</a:t>
            </a:r>
            <a:endParaRPr lang="en-US" sz="1500" dirty="0"/>
          </a:p>
        </p:txBody>
      </p:sp>
      <p:sp>
        <p:nvSpPr>
          <p:cNvPr id="9" name="Text 7"/>
          <p:cNvSpPr/>
          <p:nvPr/>
        </p:nvSpPr>
        <p:spPr>
          <a:xfrm>
            <a:off x="914400" y="3520440"/>
            <a:ext cx="10360152" cy="411480"/>
          </a:xfrm>
          <a:prstGeom prst="rect">
            <a:avLst/>
          </a:prstGeom>
          <a:noFill/>
          <a:ln/>
        </p:spPr>
        <p:txBody>
          <a:bodyPr wrap="square"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Thẻ Hội Viên VIP Gold · Thẻ Visit Card Số Hóa · Check-in QR Sự Kiện &amp; Bàn VIP · Sàn Cơ Hội Giao Thương B2B</a:t>
            </a:r>
            <a:endParaRPr lang="en-US" sz="1250" dirty="0"/>
          </a:p>
        </p:txBody>
      </p:sp>
      <p:sp>
        <p:nvSpPr>
          <p:cNvPr id="10" name="Shape 8"/>
          <p:cNvSpPr/>
          <p:nvPr/>
        </p:nvSpPr>
        <p:spPr>
          <a:xfrm>
            <a:off x="2011680" y="4251960"/>
            <a:ext cx="8165592" cy="1645920"/>
          </a:xfrm>
          <a:prstGeom prst="rect">
            <a:avLst/>
          </a:prstGeom>
          <a:solidFill>
            <a:srgbClr val="FFFFFF"/>
          </a:solidFill>
          <a:ln w="19050">
            <a:solidFill>
              <a:srgbClr val="E2E8F0"/>
            </a:solidFill>
            <a:prstDash val="solid"/>
          </a:ln>
        </p:spPr>
      </p:sp>
      <p:sp>
        <p:nvSpPr>
          <p:cNvPr id="11" name="Shape 9"/>
          <p:cNvSpPr/>
          <p:nvPr/>
        </p:nvSpPr>
        <p:spPr>
          <a:xfrm>
            <a:off x="2011680" y="4251960"/>
            <a:ext cx="137160" cy="1645920"/>
          </a:xfrm>
          <a:prstGeom prst="rect">
            <a:avLst/>
          </a:prstGeom>
          <a:solidFill>
            <a:srgbClr val="F59E0B"/>
          </a:solidFill>
          <a:ln/>
        </p:spPr>
      </p:sp>
      <p:sp>
        <p:nvSpPr>
          <p:cNvPr id="12" name="Text 10"/>
          <p:cNvSpPr/>
          <p:nvPr/>
        </p:nvSpPr>
        <p:spPr>
          <a:xfrm>
            <a:off x="2286000" y="4389120"/>
            <a:ext cx="7616952" cy="1371600"/>
          </a:xfrm>
          <a:prstGeom prst="rect">
            <a:avLst/>
          </a:prstGeom>
          <a:noFill/>
          <a:ln/>
        </p:spPr>
        <p:txBody>
          <a:bodyPr wrap="square" rtlCol="0" anchor="ctr"/>
          <a:lstStyle/>
          <a:p>
            <a:pPr algn="ctr" indent="0" marL="0">
              <a:buNone/>
            </a:pPr>
            <a:r>
              <a:rPr lang="en-US" sz="1200" b="1" dirty="0">
                <a:solidFill>
                  <a:srgbClr val="003B95"/>
                </a:solidFill>
                <a:latin typeface="Calibri" pitchFamily="34" charset="0"/>
                <a:ea typeface="Calibri" pitchFamily="34" charset="-122"/>
                <a:cs typeface="Calibri" pitchFamily="34" charset="-120"/>
              </a:rPr>
              <a:t>Đơn Vị Phát Triển: </a:t>
            </a:r>
            <a:pPr algn="ctr" indent="0" marL="0">
              <a:buNone/>
            </a:pPr>
            <a:r>
              <a:rPr lang="en-US" sz="1200" dirty="0">
                <a:solidFill>
                  <a:srgbClr val="334155"/>
                </a:solidFill>
                <a:latin typeface="Calibri" pitchFamily="34" charset="0"/>
                <a:ea typeface="Calibri" pitchFamily="34" charset="-122"/>
                <a:cs typeface="Calibri" pitchFamily="34" charset="-120"/>
              </a:rPr>
              <a:t>Ban Quản Trị &amp; Ban Thư Ký CLB Doanh Nhân CEO 1983 (Trực thuộc HanoiBA)
</a:t>
            </a:r>
            <a:pPr algn="ctr" indent="0" marL="0">
              <a:buNone/>
            </a:pPr>
            <a:r>
              <a:rPr lang="en-US" sz="1200" b="1" dirty="0">
                <a:solidFill>
                  <a:srgbClr val="003B95"/>
                </a:solidFill>
                <a:latin typeface="Calibri" pitchFamily="34" charset="0"/>
                <a:ea typeface="Calibri" pitchFamily="34" charset="-122"/>
                <a:cs typeface="Calibri" pitchFamily="34" charset="-120"/>
              </a:rPr>
              <a:t>Chuyên Viên Phụ Trách: </a:t>
            </a:r>
            <a:pPr algn="ctr" indent="0" marL="0">
              <a:buNone/>
            </a:pPr>
            <a:r>
              <a:rPr lang="en-US" sz="1200" dirty="0">
                <a:solidFill>
                  <a:srgbClr val="334155"/>
                </a:solidFill>
                <a:latin typeface="Calibri" pitchFamily="34" charset="0"/>
                <a:ea typeface="Calibri" pitchFamily="34" charset="-122"/>
                <a:cs typeface="Calibri" pitchFamily="34" charset="-120"/>
              </a:rPr>
              <a:t>Phạm Văn Vũ  |  </a:t>
            </a:r>
            <a:pPr algn="ctr" indent="0" marL="0">
              <a:buNone/>
            </a:pPr>
            <a:r>
              <a:rPr lang="en-US" sz="1200" b="1" dirty="0">
                <a:solidFill>
                  <a:srgbClr val="003B95"/>
                </a:solidFill>
                <a:latin typeface="Calibri" pitchFamily="34" charset="0"/>
                <a:ea typeface="Calibri" pitchFamily="34" charset="-122"/>
                <a:cs typeface="Calibri" pitchFamily="34" charset="-120"/>
              </a:rPr>
              <a:t>Nền Tảng: </a:t>
            </a:r>
            <a:pPr algn="ctr" indent="0" marL="0">
              <a:buNone/>
            </a:pPr>
            <a:r>
              <a:rPr lang="en-US" sz="1200" dirty="0">
                <a:solidFill>
                  <a:srgbClr val="334155"/>
                </a:solidFill>
                <a:latin typeface="Calibri" pitchFamily="34" charset="0"/>
                <a:ea typeface="Calibri" pitchFamily="34" charset="-122"/>
                <a:cs typeface="Calibri" pitchFamily="34" charset="-120"/>
              </a:rPr>
              <a:t>Mobile App (iOS PWA / Android Native) 2.0
</a:t>
            </a:r>
            <a:pPr algn="ctr" indent="0" marL="0">
              <a:buNone/>
            </a:pPr>
            <a:r>
              <a:rPr lang="en-US" sz="1200" b="1" dirty="0">
                <a:solidFill>
                  <a:srgbClr val="003B95"/>
                </a:solidFill>
                <a:latin typeface="Calibri" pitchFamily="34" charset="0"/>
                <a:ea typeface="Calibri" pitchFamily="34" charset="-122"/>
                <a:cs typeface="Calibri" pitchFamily="34" charset="-120"/>
              </a:rPr>
              <a:t>Thời Gian: </a:t>
            </a:r>
            <a:pPr algn="ctr" indent="0" marL="0">
              <a:buNone/>
            </a:pPr>
            <a:r>
              <a:rPr lang="en-US" sz="1200" dirty="0">
                <a:solidFill>
                  <a:srgbClr val="64748B"/>
                </a:solidFill>
                <a:latin typeface="Calibri" pitchFamily="34" charset="0"/>
                <a:ea typeface="Calibri" pitchFamily="34" charset="-122"/>
                <a:cs typeface="Calibri" pitchFamily="34" charset="-120"/>
              </a:rPr>
              <a:t>Tháng 09/2026  ·  Hà Nội, Việt Nam</a:t>
            </a:r>
            <a:endParaRPr lang="en-US" sz="1200" dirty="0"/>
          </a:p>
        </p:txBody>
      </p:sp>
      <p:sp>
        <p:nvSpPr>
          <p:cNvPr id="13" name="Text 11"/>
          <p:cNvSpPr/>
          <p:nvPr/>
        </p:nvSpPr>
        <p:spPr>
          <a:xfrm>
            <a:off x="914400" y="6263640"/>
            <a:ext cx="10360152"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Bản Quyền © 2026 CLB Doanh Nhân CEO 1983 · Trực thuộc Hội Doanh Nhân Trẻ Hà Nội (HanoiBA)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0" y="73152"/>
            <a:ext cx="12188952" cy="27432"/>
          </a:xfrm>
          <a:prstGeom prst="rect">
            <a:avLst/>
          </a:prstGeom>
          <a:solidFill>
            <a:srgbClr val="F59E0B"/>
          </a:solidFill>
          <a:ln/>
        </p:spPr>
      </p:sp>
      <p:sp>
        <p:nvSpPr>
          <p:cNvPr id="4" name="Shape 2"/>
          <p:cNvSpPr/>
          <p:nvPr/>
        </p:nvSpPr>
        <p:spPr>
          <a:xfrm>
            <a:off x="914400" y="914400"/>
            <a:ext cx="5120640" cy="365760"/>
          </a:xfrm>
          <a:prstGeom prst="rect">
            <a:avLst/>
          </a:prstGeom>
          <a:solidFill>
            <a:srgbClr val="003B95"/>
          </a:solidFill>
          <a:ln w="19050">
            <a:solidFill>
              <a:srgbClr val="F59E0B"/>
            </a:solidFill>
            <a:prstDash val="solid"/>
          </a:ln>
        </p:spPr>
      </p:sp>
      <p:sp>
        <p:nvSpPr>
          <p:cNvPr id="5" name="Text 3"/>
          <p:cNvSpPr/>
          <p:nvPr/>
        </p:nvSpPr>
        <p:spPr>
          <a:xfrm>
            <a:off x="914400" y="914400"/>
            <a:ext cx="51206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ỨNG DỤNG DI ĐỘNG HIỆP HỘI THỜI KỲ SỐ</a:t>
            </a:r>
            <a:endParaRPr lang="en-US" sz="1100" dirty="0"/>
          </a:p>
        </p:txBody>
      </p:sp>
      <p:sp>
        <p:nvSpPr>
          <p:cNvPr id="6" name="Text 4"/>
          <p:cNvSpPr/>
          <p:nvPr/>
        </p:nvSpPr>
        <p:spPr>
          <a:xfrm>
            <a:off x="914400" y="1463040"/>
            <a:ext cx="10360152" cy="822960"/>
          </a:xfrm>
          <a:prstGeom prst="rect">
            <a:avLst/>
          </a:prstGeom>
          <a:noFill/>
          <a:ln/>
        </p:spPr>
        <p:txBody>
          <a:bodyPr wrap="square" rtlCol="0" anchor="ctr"/>
          <a:lstStyle/>
          <a:p>
            <a:pPr indent="0" marL="0">
              <a:buNone/>
            </a:pPr>
            <a:r>
              <a:rPr lang="en-US" sz="3000" b="1" dirty="0">
                <a:solidFill>
                  <a:srgbClr val="003B95"/>
                </a:solidFill>
                <a:latin typeface="Calibri" pitchFamily="34" charset="0"/>
                <a:ea typeface="Calibri" pitchFamily="34" charset="-122"/>
                <a:cs typeface="Calibri" pitchFamily="34" charset="-120"/>
              </a:rPr>
              <a:t>TỔNG QUAN NỀN TẢNG: 4 GIÁ TRỊ ĐẶC QUYỀN HỘI VIÊN</a:t>
            </a:r>
            <a:endParaRPr lang="en-US" sz="3000" dirty="0"/>
          </a:p>
        </p:txBody>
      </p:sp>
      <p:sp>
        <p:nvSpPr>
          <p:cNvPr id="7" name="Text 5"/>
          <p:cNvSpPr/>
          <p:nvPr/>
        </p:nvSpPr>
        <p:spPr>
          <a:xfrm>
            <a:off x="914400" y="2331720"/>
            <a:ext cx="10360152" cy="457200"/>
          </a:xfrm>
          <a:prstGeom prst="rect">
            <a:avLst/>
          </a:prstGeom>
          <a:noFill/>
          <a:ln/>
        </p:spPr>
        <p:txBody>
          <a:bodyPr wrap="square" rtlCol="0" anchor="ctr"/>
          <a:lstStyle/>
          <a:p>
            <a:pPr indent="0" marL="0">
              <a:buNone/>
            </a:pPr>
            <a:r>
              <a:rPr lang="en-US" sz="1400" dirty="0">
                <a:solidFill>
                  <a:srgbClr val="003B95"/>
                </a:solidFill>
                <a:latin typeface="Calibri" pitchFamily="34" charset="0"/>
                <a:ea typeface="Calibri" pitchFamily="34" charset="-122"/>
                <a:cs typeface="Calibri" pitchFamily="34" charset="-120"/>
              </a:rPr>
              <a:t>Không Gian Số Hội Viên Đẳng Cấp: Thẻ VIP Gold · Danh Thiếp Visit Card · Chạm NFC · Quét QR Công Khai</a:t>
            </a:r>
            <a:endParaRPr lang="en-US" sz="1400" dirty="0"/>
          </a:p>
        </p:txBody>
      </p:sp>
      <p:sp>
        <p:nvSpPr>
          <p:cNvPr id="8" name="Shape 6"/>
          <p:cNvSpPr/>
          <p:nvPr/>
        </p:nvSpPr>
        <p:spPr>
          <a:xfrm>
            <a:off x="914400" y="3200400"/>
            <a:ext cx="2468880" cy="2468880"/>
          </a:xfrm>
          <a:prstGeom prst="rect">
            <a:avLst/>
          </a:prstGeom>
          <a:solidFill>
            <a:srgbClr val="FFFFFF"/>
          </a:solidFill>
          <a:ln w="15240">
            <a:solidFill>
              <a:srgbClr val="E2E8F0"/>
            </a:solidFill>
            <a:prstDash val="solid"/>
          </a:ln>
        </p:spPr>
      </p:sp>
      <p:sp>
        <p:nvSpPr>
          <p:cNvPr id="9" name="Shape 7"/>
          <p:cNvSpPr/>
          <p:nvPr/>
        </p:nvSpPr>
        <p:spPr>
          <a:xfrm>
            <a:off x="1097280" y="3337560"/>
            <a:ext cx="365760" cy="36576"/>
          </a:xfrm>
          <a:prstGeom prst="rect">
            <a:avLst/>
          </a:prstGeom>
          <a:solidFill>
            <a:srgbClr val="F59E0B"/>
          </a:solidFill>
          <a:ln/>
        </p:spPr>
      </p:sp>
      <p:sp>
        <p:nvSpPr>
          <p:cNvPr id="10" name="Text 8"/>
          <p:cNvSpPr/>
          <p:nvPr/>
        </p:nvSpPr>
        <p:spPr>
          <a:xfrm>
            <a:off x="1097280" y="342900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01</a:t>
            </a:r>
            <a:endParaRPr lang="en-US" sz="2200" dirty="0"/>
          </a:p>
        </p:txBody>
      </p:sp>
      <p:sp>
        <p:nvSpPr>
          <p:cNvPr id="11" name="Text 9"/>
          <p:cNvSpPr/>
          <p:nvPr/>
        </p:nvSpPr>
        <p:spPr>
          <a:xfrm>
            <a:off x="1097280" y="388620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Thẻ VIP &amp; NFC 1 Chạm</a:t>
            </a:r>
            <a:endParaRPr lang="en-US" sz="1300" dirty="0"/>
          </a:p>
        </p:txBody>
      </p:sp>
      <p:sp>
        <p:nvSpPr>
          <p:cNvPr id="12" name="Text 10"/>
          <p:cNvSpPr/>
          <p:nvPr/>
        </p:nvSpPr>
        <p:spPr>
          <a:xfrm>
            <a:off x="109728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Thẻ hội viên VIP Gold số hóa chuẩn quốc tế, tích hợp chip NFC chạm trao danh thiếp ngay trên điện thoại.</a:t>
            </a:r>
            <a:endParaRPr lang="en-US" sz="1050" dirty="0"/>
          </a:p>
        </p:txBody>
      </p:sp>
      <p:sp>
        <p:nvSpPr>
          <p:cNvPr id="13" name="Shape 11"/>
          <p:cNvSpPr/>
          <p:nvPr/>
        </p:nvSpPr>
        <p:spPr>
          <a:xfrm>
            <a:off x="3566160" y="3200400"/>
            <a:ext cx="2468880" cy="2468880"/>
          </a:xfrm>
          <a:prstGeom prst="rect">
            <a:avLst/>
          </a:prstGeom>
          <a:solidFill>
            <a:srgbClr val="FFFFFF"/>
          </a:solidFill>
          <a:ln w="15240">
            <a:solidFill>
              <a:srgbClr val="E2E8F0"/>
            </a:solidFill>
            <a:prstDash val="solid"/>
          </a:ln>
        </p:spPr>
      </p:sp>
      <p:sp>
        <p:nvSpPr>
          <p:cNvPr id="14" name="Shape 12"/>
          <p:cNvSpPr/>
          <p:nvPr/>
        </p:nvSpPr>
        <p:spPr>
          <a:xfrm>
            <a:off x="3749040" y="3337560"/>
            <a:ext cx="365760" cy="36576"/>
          </a:xfrm>
          <a:prstGeom prst="rect">
            <a:avLst/>
          </a:prstGeom>
          <a:solidFill>
            <a:srgbClr val="F59E0B"/>
          </a:solidFill>
          <a:ln/>
        </p:spPr>
      </p:sp>
      <p:sp>
        <p:nvSpPr>
          <p:cNvPr id="15" name="Text 13"/>
          <p:cNvSpPr/>
          <p:nvPr/>
        </p:nvSpPr>
        <p:spPr>
          <a:xfrm>
            <a:off x="3749040" y="342900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02</a:t>
            </a:r>
            <a:endParaRPr lang="en-US" sz="2200" dirty="0"/>
          </a:p>
        </p:txBody>
      </p:sp>
      <p:sp>
        <p:nvSpPr>
          <p:cNvPr id="16" name="Text 14"/>
          <p:cNvSpPr/>
          <p:nvPr/>
        </p:nvSpPr>
        <p:spPr>
          <a:xfrm>
            <a:off x="3749040" y="388620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Sàn Trao Đổi Cơ Hội B2B</a:t>
            </a:r>
            <a:endParaRPr lang="en-US" sz="1300" dirty="0"/>
          </a:p>
        </p:txBody>
      </p:sp>
      <p:sp>
        <p:nvSpPr>
          <p:cNvPr id="17" name="Text 15"/>
          <p:cNvSpPr/>
          <p:nvPr/>
        </p:nvSpPr>
        <p:spPr>
          <a:xfrm>
            <a:off x="374904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Chia sẻ nhu cầu mua bán sỉ, kết nối cung ứng và kêu gọi đầu tư trực tiếp giữa các doanh nhân.</a:t>
            </a:r>
            <a:endParaRPr lang="en-US" sz="1050" dirty="0"/>
          </a:p>
        </p:txBody>
      </p:sp>
      <p:sp>
        <p:nvSpPr>
          <p:cNvPr id="18" name="Shape 16"/>
          <p:cNvSpPr/>
          <p:nvPr/>
        </p:nvSpPr>
        <p:spPr>
          <a:xfrm>
            <a:off x="6217920" y="3200400"/>
            <a:ext cx="2468880" cy="2468880"/>
          </a:xfrm>
          <a:prstGeom prst="rect">
            <a:avLst/>
          </a:prstGeom>
          <a:solidFill>
            <a:srgbClr val="FFFFFF"/>
          </a:solidFill>
          <a:ln w="15240">
            <a:solidFill>
              <a:srgbClr val="E2E8F0"/>
            </a:solidFill>
            <a:prstDash val="solid"/>
          </a:ln>
        </p:spPr>
      </p:sp>
      <p:sp>
        <p:nvSpPr>
          <p:cNvPr id="19" name="Shape 17"/>
          <p:cNvSpPr/>
          <p:nvPr/>
        </p:nvSpPr>
        <p:spPr>
          <a:xfrm>
            <a:off x="6400800" y="3337560"/>
            <a:ext cx="365760" cy="36576"/>
          </a:xfrm>
          <a:prstGeom prst="rect">
            <a:avLst/>
          </a:prstGeom>
          <a:solidFill>
            <a:srgbClr val="F59E0B"/>
          </a:solidFill>
          <a:ln/>
        </p:spPr>
      </p:sp>
      <p:sp>
        <p:nvSpPr>
          <p:cNvPr id="20" name="Text 18"/>
          <p:cNvSpPr/>
          <p:nvPr/>
        </p:nvSpPr>
        <p:spPr>
          <a:xfrm>
            <a:off x="6400800" y="342900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03</a:t>
            </a:r>
            <a:endParaRPr lang="en-US" sz="2200" dirty="0"/>
          </a:p>
        </p:txBody>
      </p:sp>
      <p:sp>
        <p:nvSpPr>
          <p:cNvPr id="21" name="Text 19"/>
          <p:cNvSpPr/>
          <p:nvPr/>
        </p:nvSpPr>
        <p:spPr>
          <a:xfrm>
            <a:off x="6400800" y="388620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Sự Kiện, Vé &amp; Bầu Cử Đại Hội</a:t>
            </a:r>
            <a:endParaRPr lang="en-US" sz="1300" dirty="0"/>
          </a:p>
        </p:txBody>
      </p:sp>
      <p:sp>
        <p:nvSpPr>
          <p:cNvPr id="22" name="Text 20"/>
          <p:cNvSpPr/>
          <p:nvPr/>
        </p:nvSpPr>
        <p:spPr>
          <a:xfrm>
            <a:off x="640080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Xem lịch đại hội, đăng ký vé VietQR, quét mã QR vào cửa 1s, bỏ phiếu BCH và quay số trúng thưởng.</a:t>
            </a:r>
            <a:endParaRPr lang="en-US" sz="1050" dirty="0"/>
          </a:p>
        </p:txBody>
      </p:sp>
      <p:sp>
        <p:nvSpPr>
          <p:cNvPr id="23" name="Shape 21"/>
          <p:cNvSpPr/>
          <p:nvPr/>
        </p:nvSpPr>
        <p:spPr>
          <a:xfrm>
            <a:off x="8869680" y="3200400"/>
            <a:ext cx="2468880" cy="2468880"/>
          </a:xfrm>
          <a:prstGeom prst="rect">
            <a:avLst/>
          </a:prstGeom>
          <a:solidFill>
            <a:srgbClr val="FFFFFF"/>
          </a:solidFill>
          <a:ln w="15240">
            <a:solidFill>
              <a:srgbClr val="E2E8F0"/>
            </a:solidFill>
            <a:prstDash val="solid"/>
          </a:ln>
        </p:spPr>
      </p:sp>
      <p:sp>
        <p:nvSpPr>
          <p:cNvPr id="24" name="Shape 22"/>
          <p:cNvSpPr/>
          <p:nvPr/>
        </p:nvSpPr>
        <p:spPr>
          <a:xfrm>
            <a:off x="9052560" y="3337560"/>
            <a:ext cx="365760" cy="36576"/>
          </a:xfrm>
          <a:prstGeom prst="rect">
            <a:avLst/>
          </a:prstGeom>
          <a:solidFill>
            <a:srgbClr val="F59E0B"/>
          </a:solidFill>
          <a:ln/>
        </p:spPr>
      </p:sp>
      <p:sp>
        <p:nvSpPr>
          <p:cNvPr id="25" name="Text 23"/>
          <p:cNvSpPr/>
          <p:nvPr/>
        </p:nvSpPr>
        <p:spPr>
          <a:xfrm>
            <a:off x="9052560" y="342900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04</a:t>
            </a:r>
            <a:endParaRPr lang="en-US" sz="2200" dirty="0"/>
          </a:p>
        </p:txBody>
      </p:sp>
      <p:sp>
        <p:nvSpPr>
          <p:cNvPr id="26" name="Text 24"/>
          <p:cNvSpPr/>
          <p:nvPr/>
        </p:nvSpPr>
        <p:spPr>
          <a:xfrm>
            <a:off x="9052560" y="388620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Đồng Bộ Realtime CRM</a:t>
            </a:r>
            <a:endParaRPr lang="en-US" sz="1300" dirty="0"/>
          </a:p>
        </p:txBody>
      </p:sp>
      <p:sp>
        <p:nvSpPr>
          <p:cNvPr id="27" name="Text 25"/>
          <p:cNvSpPr/>
          <p:nvPr/>
        </p:nvSpPr>
        <p:spPr>
          <a:xfrm>
            <a:off x="905256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Tách biệt giao diện chuyên dụng cho hội viên nhưng liên kết 100% dữ liệu vận hành từ Web CRM Quản trị.</a:t>
            </a:r>
            <a:endParaRPr lang="en-US" sz="1050" dirty="0"/>
          </a:p>
        </p:txBody>
      </p:sp>
      <p:sp>
        <p:nvSpPr>
          <p:cNvPr id="28" name="Text 26"/>
          <p:cNvSpPr/>
          <p:nvPr/>
        </p:nvSpPr>
        <p:spPr>
          <a:xfrm>
            <a:off x="914400" y="6172200"/>
            <a:ext cx="10360152" cy="320040"/>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CLB Doanh Nhân CEO 1983 · Trực thuộc Hội Doanh Nhân Trẻ Hà Nội (HanoiBA)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BÀI TOÁN &amp; THỰC TRẠNG</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Thách Thức Trong Kết Nối &amp; Trải Nghiệm Của Doanh Nhân</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Những bất tiện mà các chủ doanh nghiệp thường xuyên gặp phải trong sinh hoạt cộng đồng</a:t>
            </a:r>
            <a:endParaRPr lang="en-US" sz="1200" dirty="0"/>
          </a:p>
        </p:txBody>
      </p:sp>
      <p:sp>
        <p:nvSpPr>
          <p:cNvPr id="8" name="Shape 6"/>
          <p:cNvSpPr/>
          <p:nvPr/>
        </p:nvSpPr>
        <p:spPr>
          <a:xfrm>
            <a:off x="731520" y="1920240"/>
            <a:ext cx="2560320" cy="4206240"/>
          </a:xfrm>
          <a:prstGeom prst="rect">
            <a:avLst/>
          </a:prstGeom>
          <a:solidFill>
            <a:srgbClr val="FFFFFF"/>
          </a:solidFill>
          <a:ln w="15240">
            <a:solidFill>
              <a:srgbClr val="E2E8F0"/>
            </a:solidFill>
            <a:prstDash val="solid"/>
          </a:ln>
        </p:spPr>
      </p:sp>
      <p:sp>
        <p:nvSpPr>
          <p:cNvPr id="9" name="Shape 7"/>
          <p:cNvSpPr/>
          <p:nvPr/>
        </p:nvSpPr>
        <p:spPr>
          <a:xfrm>
            <a:off x="731520" y="1920240"/>
            <a:ext cx="2560320" cy="73152"/>
          </a:xfrm>
          <a:prstGeom prst="rect">
            <a:avLst/>
          </a:prstGeom>
          <a:solidFill>
            <a:srgbClr val="003B95"/>
          </a:solidFill>
          <a:ln/>
        </p:spPr>
      </p:sp>
      <p:sp>
        <p:nvSpPr>
          <p:cNvPr id="10" name="Text 8"/>
          <p:cNvSpPr/>
          <p:nvPr/>
        </p:nvSpPr>
        <p:spPr>
          <a:xfrm>
            <a:off x="96012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1" name="Text 9"/>
          <p:cNvSpPr/>
          <p:nvPr/>
        </p:nvSpPr>
        <p:spPr>
          <a:xfrm>
            <a:off x="96012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Danh Thiếp Giấy Dễ Thất Lạc</a:t>
            </a:r>
            <a:endParaRPr lang="en-US" sz="1300" dirty="0"/>
          </a:p>
        </p:txBody>
      </p:sp>
      <p:sp>
        <p:nvSpPr>
          <p:cNvPr id="12" name="Text 10"/>
          <p:cNvSpPr/>
          <p:nvPr/>
        </p:nvSpPr>
        <p:spPr>
          <a:xfrm>
            <a:off x="96012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Sau các buổi giao lưu, danh thiếp giấy thường bị quên lãng, thất lạc hoặc thông tin liên lạc bị lỗi thời khi đối tác thay đổi số điện thoại hay công ty.</a:t>
            </a:r>
            <a:endParaRPr lang="en-US" sz="1100" dirty="0"/>
          </a:p>
        </p:txBody>
      </p:sp>
      <p:sp>
        <p:nvSpPr>
          <p:cNvPr id="13" name="Shape 11"/>
          <p:cNvSpPr/>
          <p:nvPr/>
        </p:nvSpPr>
        <p:spPr>
          <a:xfrm>
            <a:off x="3429000" y="1920240"/>
            <a:ext cx="2560320" cy="4206240"/>
          </a:xfrm>
          <a:prstGeom prst="rect">
            <a:avLst/>
          </a:prstGeom>
          <a:solidFill>
            <a:srgbClr val="FFFFFF"/>
          </a:solidFill>
          <a:ln w="15240">
            <a:solidFill>
              <a:srgbClr val="E2E8F0"/>
            </a:solidFill>
            <a:prstDash val="solid"/>
          </a:ln>
        </p:spPr>
      </p:sp>
      <p:sp>
        <p:nvSpPr>
          <p:cNvPr id="14" name="Shape 12"/>
          <p:cNvSpPr/>
          <p:nvPr/>
        </p:nvSpPr>
        <p:spPr>
          <a:xfrm>
            <a:off x="3429000" y="1920240"/>
            <a:ext cx="2560320" cy="73152"/>
          </a:xfrm>
          <a:prstGeom prst="rect">
            <a:avLst/>
          </a:prstGeom>
          <a:solidFill>
            <a:srgbClr val="003B95"/>
          </a:solidFill>
          <a:ln/>
        </p:spPr>
      </p:sp>
      <p:sp>
        <p:nvSpPr>
          <p:cNvPr id="15" name="Text 13"/>
          <p:cNvSpPr/>
          <p:nvPr/>
        </p:nvSpPr>
        <p:spPr>
          <a:xfrm>
            <a:off x="365760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6" name="Text 14"/>
          <p:cNvSpPr/>
          <p:nvPr/>
        </p:nvSpPr>
        <p:spPr>
          <a:xfrm>
            <a:off x="365760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Cơ Hội Giao Thương Bị Trôi Tin</a:t>
            </a:r>
            <a:endParaRPr lang="en-US" sz="1300" dirty="0"/>
          </a:p>
        </p:txBody>
      </p:sp>
      <p:sp>
        <p:nvSpPr>
          <p:cNvPr id="17" name="Text 15"/>
          <p:cNvSpPr/>
          <p:nvPr/>
        </p:nvSpPr>
        <p:spPr>
          <a:xfrm>
            <a:off x="365760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Nhu cầu mua hàng, tìm nhà cung ứng đăng trong nhóm chat Zalo bị tin nhắn chào hỏi làm trôi mất, không có bộ lọc ngành nghề để tìm lại đối tác phù hợp.</a:t>
            </a:r>
            <a:endParaRPr lang="en-US" sz="1100" dirty="0"/>
          </a:p>
        </p:txBody>
      </p:sp>
      <p:sp>
        <p:nvSpPr>
          <p:cNvPr id="18" name="Shape 16"/>
          <p:cNvSpPr/>
          <p:nvPr/>
        </p:nvSpPr>
        <p:spPr>
          <a:xfrm>
            <a:off x="6126480" y="1920240"/>
            <a:ext cx="2560320" cy="4206240"/>
          </a:xfrm>
          <a:prstGeom prst="rect">
            <a:avLst/>
          </a:prstGeom>
          <a:solidFill>
            <a:srgbClr val="FFFFFF"/>
          </a:solidFill>
          <a:ln w="15240">
            <a:solidFill>
              <a:srgbClr val="E2E8F0"/>
            </a:solidFill>
            <a:prstDash val="solid"/>
          </a:ln>
        </p:spPr>
      </p:sp>
      <p:sp>
        <p:nvSpPr>
          <p:cNvPr id="19" name="Shape 17"/>
          <p:cNvSpPr/>
          <p:nvPr/>
        </p:nvSpPr>
        <p:spPr>
          <a:xfrm>
            <a:off x="6126480" y="1920240"/>
            <a:ext cx="2560320" cy="73152"/>
          </a:xfrm>
          <a:prstGeom prst="rect">
            <a:avLst/>
          </a:prstGeom>
          <a:solidFill>
            <a:srgbClr val="003B95"/>
          </a:solidFill>
          <a:ln/>
        </p:spPr>
      </p:sp>
      <p:sp>
        <p:nvSpPr>
          <p:cNvPr id="20" name="Text 18"/>
          <p:cNvSpPr/>
          <p:nvPr/>
        </p:nvSpPr>
        <p:spPr>
          <a:xfrm>
            <a:off x="635508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1" name="Text 19"/>
          <p:cNvSpPr/>
          <p:nvPr/>
        </p:nvSpPr>
        <p:spPr>
          <a:xfrm>
            <a:off x="635508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Check-in Sự Kiện Thủ Công Phiền Hà</a:t>
            </a:r>
            <a:endParaRPr lang="en-US" sz="1300" dirty="0"/>
          </a:p>
        </p:txBody>
      </p:sp>
      <p:sp>
        <p:nvSpPr>
          <p:cNvPr id="22" name="Text 20"/>
          <p:cNvSpPr/>
          <p:nvPr/>
        </p:nvSpPr>
        <p:spPr>
          <a:xfrm>
            <a:off x="635508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Doanh nhân bận rộn dễ quên lịch họp, quên vé giấy. Khi đến sự kiện phải đứng xếp hàng chờ tìm tên trong danh sách giấy in gây cảm giác thiếu chuyên nghiệp.</a:t>
            </a:r>
            <a:endParaRPr lang="en-US" sz="1100" dirty="0"/>
          </a:p>
        </p:txBody>
      </p:sp>
      <p:sp>
        <p:nvSpPr>
          <p:cNvPr id="23" name="Shape 21"/>
          <p:cNvSpPr/>
          <p:nvPr/>
        </p:nvSpPr>
        <p:spPr>
          <a:xfrm>
            <a:off x="8823960" y="1920240"/>
            <a:ext cx="2560320" cy="4206240"/>
          </a:xfrm>
          <a:prstGeom prst="rect">
            <a:avLst/>
          </a:prstGeom>
          <a:solidFill>
            <a:srgbClr val="FFFFFF"/>
          </a:solidFill>
          <a:ln w="15240">
            <a:solidFill>
              <a:srgbClr val="E2E8F0"/>
            </a:solidFill>
            <a:prstDash val="solid"/>
          </a:ln>
        </p:spPr>
      </p:sp>
      <p:sp>
        <p:nvSpPr>
          <p:cNvPr id="24" name="Shape 22"/>
          <p:cNvSpPr/>
          <p:nvPr/>
        </p:nvSpPr>
        <p:spPr>
          <a:xfrm>
            <a:off x="8823960" y="1920240"/>
            <a:ext cx="2560320" cy="73152"/>
          </a:xfrm>
          <a:prstGeom prst="rect">
            <a:avLst/>
          </a:prstGeom>
          <a:solidFill>
            <a:srgbClr val="003B95"/>
          </a:solidFill>
          <a:ln/>
        </p:spPr>
      </p:sp>
      <p:sp>
        <p:nvSpPr>
          <p:cNvPr id="25" name="Text 23"/>
          <p:cNvSpPr/>
          <p:nvPr/>
        </p:nvSpPr>
        <p:spPr>
          <a:xfrm>
            <a:off x="905256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6" name="Text 24"/>
          <p:cNvSpPr/>
          <p:nvPr/>
        </p:nvSpPr>
        <p:spPr>
          <a:xfrm>
            <a:off x="905256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Đóng Phí Phức Tạp &amp; Thiếu Xác Nhận</a:t>
            </a:r>
            <a:endParaRPr lang="en-US" sz="1300" dirty="0"/>
          </a:p>
        </p:txBody>
      </p:sp>
      <p:sp>
        <p:nvSpPr>
          <p:cNvPr id="27" name="Text 25"/>
          <p:cNvSpPr/>
          <p:nvPr/>
        </p:nvSpPr>
        <p:spPr>
          <a:xfrm>
            <a:off x="905256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Chuyển khoản nộp hội phí niên liễm phải chụp màn hình gửi xác nhận qua lại, không có hóa đơn điện tử hay thẻ số để xuất trình quyền lợi ngay lập tức.</a:t>
            </a:r>
            <a:endParaRPr lang="en-US" sz="1100" dirty="0"/>
          </a:p>
        </p:txBody>
      </p:sp>
      <p:sp>
        <p:nvSpPr>
          <p:cNvPr id="28" name="Shape 26"/>
          <p:cNvSpPr/>
          <p:nvPr/>
        </p:nvSpPr>
        <p:spPr>
          <a:xfrm>
            <a:off x="731520" y="6400800"/>
            <a:ext cx="10725912" cy="18288"/>
          </a:xfrm>
          <a:prstGeom prst="rect">
            <a:avLst/>
          </a:prstGeom>
          <a:solidFill>
            <a:srgbClr val="E2E8F0"/>
          </a:solidFill>
          <a:ln/>
        </p:spPr>
      </p:sp>
      <p:sp>
        <p:nvSpPr>
          <p:cNvPr id="29" name="Text 27"/>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30" name="Text 28"/>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GIỚI THIỆU KHÔNG GIAN SỐ</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Hệ Sinh Thái Di Động Dành Riêng Cho Doanh Nhân CEO 1983</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Nền tảng số hóa toàn diện kết nối hơn 100+ nhà sáng lập thế hệ Quý Hợi 1983</a:t>
            </a:r>
            <a:endParaRPr lang="en-US" sz="1200" dirty="0"/>
          </a:p>
        </p:txBody>
      </p:sp>
      <p:sp>
        <p:nvSpPr>
          <p:cNvPr id="8" name="Shape 6"/>
          <p:cNvSpPr/>
          <p:nvPr/>
        </p:nvSpPr>
        <p:spPr>
          <a:xfrm>
            <a:off x="731520" y="1920240"/>
            <a:ext cx="2560320" cy="4206240"/>
          </a:xfrm>
          <a:prstGeom prst="rect">
            <a:avLst/>
          </a:prstGeom>
          <a:solidFill>
            <a:srgbClr val="FFFFFF"/>
          </a:solidFill>
          <a:ln w="15240">
            <a:solidFill>
              <a:srgbClr val="E2E8F0"/>
            </a:solidFill>
            <a:prstDash val="solid"/>
          </a:ln>
        </p:spPr>
      </p:sp>
      <p:sp>
        <p:nvSpPr>
          <p:cNvPr id="9" name="Shape 7"/>
          <p:cNvSpPr/>
          <p:nvPr/>
        </p:nvSpPr>
        <p:spPr>
          <a:xfrm>
            <a:off x="731520" y="1920240"/>
            <a:ext cx="2560320" cy="73152"/>
          </a:xfrm>
          <a:prstGeom prst="rect">
            <a:avLst/>
          </a:prstGeom>
          <a:solidFill>
            <a:srgbClr val="003B95"/>
          </a:solidFill>
          <a:ln/>
        </p:spPr>
      </p:sp>
      <p:sp>
        <p:nvSpPr>
          <p:cNvPr id="10" name="Shape 8"/>
          <p:cNvSpPr/>
          <p:nvPr/>
        </p:nvSpPr>
        <p:spPr>
          <a:xfrm>
            <a:off x="960120" y="2148840"/>
            <a:ext cx="2103120" cy="274320"/>
          </a:xfrm>
          <a:prstGeom prst="rect">
            <a:avLst/>
          </a:prstGeom>
          <a:solidFill>
            <a:srgbClr val="EFF6FF"/>
          </a:solidFill>
          <a:ln/>
        </p:spPr>
      </p:sp>
      <p:sp>
        <p:nvSpPr>
          <p:cNvPr id="11" name="Text 9"/>
          <p:cNvSpPr/>
          <p:nvPr/>
        </p:nvSpPr>
        <p:spPr>
          <a:xfrm>
            <a:off x="96012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ĐỐI TƯỢNG HỘI VIÊN</a:t>
            </a:r>
            <a:endParaRPr lang="en-US" sz="950" dirty="0"/>
          </a:p>
        </p:txBody>
      </p:sp>
      <p:sp>
        <p:nvSpPr>
          <p:cNvPr id="12" name="Text 10"/>
          <p:cNvSpPr/>
          <p:nvPr/>
        </p:nvSpPr>
        <p:spPr>
          <a:xfrm>
            <a:off x="96012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100+ Chủ Tịch &amp; CEO Tinh Hoa</a:t>
            </a:r>
            <a:endParaRPr lang="en-US" sz="1300" dirty="0"/>
          </a:p>
        </p:txBody>
      </p:sp>
      <p:sp>
        <p:nvSpPr>
          <p:cNvPr id="13" name="Text 11"/>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Không gian sinh hoạt kín đáo, đẳng cấp dành riêng cho các chủ doanh nghiệp sinh năm 1983 trực thuộc Hội Doanh Nhân Trẻ Hà Nội (HanoiBA).</a:t>
            </a:r>
            <a:endParaRPr lang="en-US" sz="1100" dirty="0"/>
          </a:p>
        </p:txBody>
      </p:sp>
      <p:sp>
        <p:nvSpPr>
          <p:cNvPr id="14" name="Shape 12"/>
          <p:cNvSpPr/>
          <p:nvPr/>
        </p:nvSpPr>
        <p:spPr>
          <a:xfrm>
            <a:off x="3429000" y="1920240"/>
            <a:ext cx="2560320" cy="4206240"/>
          </a:xfrm>
          <a:prstGeom prst="rect">
            <a:avLst/>
          </a:prstGeom>
          <a:solidFill>
            <a:srgbClr val="FFFFFF"/>
          </a:solidFill>
          <a:ln w="15240">
            <a:solidFill>
              <a:srgbClr val="E2E8F0"/>
            </a:solidFill>
            <a:prstDash val="solid"/>
          </a:ln>
        </p:spPr>
      </p:sp>
      <p:sp>
        <p:nvSpPr>
          <p:cNvPr id="15" name="Shape 13"/>
          <p:cNvSpPr/>
          <p:nvPr/>
        </p:nvSpPr>
        <p:spPr>
          <a:xfrm>
            <a:off x="3429000" y="1920240"/>
            <a:ext cx="2560320" cy="73152"/>
          </a:xfrm>
          <a:prstGeom prst="rect">
            <a:avLst/>
          </a:prstGeom>
          <a:solidFill>
            <a:srgbClr val="003B95"/>
          </a:solidFill>
          <a:ln/>
        </p:spPr>
      </p:sp>
      <p:sp>
        <p:nvSpPr>
          <p:cNvPr id="16" name="Shape 14"/>
          <p:cNvSpPr/>
          <p:nvPr/>
        </p:nvSpPr>
        <p:spPr>
          <a:xfrm>
            <a:off x="3657600" y="2148840"/>
            <a:ext cx="2103120" cy="274320"/>
          </a:xfrm>
          <a:prstGeom prst="rect">
            <a:avLst/>
          </a:prstGeom>
          <a:solidFill>
            <a:srgbClr val="EFF6FF"/>
          </a:solidFill>
          <a:ln/>
        </p:spPr>
      </p:sp>
      <p:sp>
        <p:nvSpPr>
          <p:cNvPr id="17" name="Text 15"/>
          <p:cNvSpPr/>
          <p:nvPr/>
        </p:nvSpPr>
        <p:spPr>
          <a:xfrm>
            <a:off x="365760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PHONG CÁCH THIẾT KẾ</a:t>
            </a:r>
            <a:endParaRPr lang="en-US" sz="950" dirty="0"/>
          </a:p>
        </p:txBody>
      </p:sp>
      <p:sp>
        <p:nvSpPr>
          <p:cNvPr id="18" name="Text 16"/>
          <p:cNvSpPr/>
          <p:nvPr/>
        </p:nvSpPr>
        <p:spPr>
          <a:xfrm>
            <a:off x="365760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Sang Trọng - Hiện Đại - Tối Ưu</a:t>
            </a:r>
            <a:endParaRPr lang="en-US" sz="1300" dirty="0"/>
          </a:p>
        </p:txBody>
      </p:sp>
      <p:sp>
        <p:nvSpPr>
          <p:cNvPr id="19" name="Text 17"/>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Ngôn ngữ thiết kế Trắng sáng thanh lịch, Xanh Navy hoàng gia quyền lực, điểm xuyết Ánh Kim Vàng Gold sang trọng, trải nghiệm vuốt chuẩn 60fps.</a:t>
            </a:r>
            <a:endParaRPr lang="en-US" sz="1100" dirty="0"/>
          </a:p>
        </p:txBody>
      </p:sp>
      <p:sp>
        <p:nvSpPr>
          <p:cNvPr id="20" name="Shape 18"/>
          <p:cNvSpPr/>
          <p:nvPr/>
        </p:nvSpPr>
        <p:spPr>
          <a:xfrm>
            <a:off x="6126480" y="1920240"/>
            <a:ext cx="2560320" cy="4206240"/>
          </a:xfrm>
          <a:prstGeom prst="rect">
            <a:avLst/>
          </a:prstGeom>
          <a:solidFill>
            <a:srgbClr val="FFFFFF"/>
          </a:solidFill>
          <a:ln w="15240">
            <a:solidFill>
              <a:srgbClr val="E2E8F0"/>
            </a:solidFill>
            <a:prstDash val="solid"/>
          </a:ln>
        </p:spPr>
      </p:sp>
      <p:sp>
        <p:nvSpPr>
          <p:cNvPr id="21" name="Shape 19"/>
          <p:cNvSpPr/>
          <p:nvPr/>
        </p:nvSpPr>
        <p:spPr>
          <a:xfrm>
            <a:off x="6126480" y="1920240"/>
            <a:ext cx="2560320" cy="73152"/>
          </a:xfrm>
          <a:prstGeom prst="rect">
            <a:avLst/>
          </a:prstGeom>
          <a:solidFill>
            <a:srgbClr val="003B95"/>
          </a:solidFill>
          <a:ln/>
        </p:spPr>
      </p:sp>
      <p:sp>
        <p:nvSpPr>
          <p:cNvPr id="22" name="Shape 20"/>
          <p:cNvSpPr/>
          <p:nvPr/>
        </p:nvSpPr>
        <p:spPr>
          <a:xfrm>
            <a:off x="6355080" y="2148840"/>
            <a:ext cx="2103120" cy="274320"/>
          </a:xfrm>
          <a:prstGeom prst="rect">
            <a:avLst/>
          </a:prstGeom>
          <a:solidFill>
            <a:srgbClr val="EFF6FF"/>
          </a:solidFill>
          <a:ln/>
        </p:spPr>
      </p:sp>
      <p:sp>
        <p:nvSpPr>
          <p:cNvPr id="23" name="Text 21"/>
          <p:cNvSpPr/>
          <p:nvPr/>
        </p:nvSpPr>
        <p:spPr>
          <a:xfrm>
            <a:off x="635508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CÔNG NGHỆ TIÊN PHONG</a:t>
            </a:r>
            <a:endParaRPr lang="en-US" sz="950" dirty="0"/>
          </a:p>
        </p:txBody>
      </p:sp>
      <p:sp>
        <p:nvSpPr>
          <p:cNvPr id="24" name="Text 22"/>
          <p:cNvSpPr/>
          <p:nvPr/>
        </p:nvSpPr>
        <p:spPr>
          <a:xfrm>
            <a:off x="635508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Tích Hợp Thẻ VIP 3D &amp; Chạm NFC</a:t>
            </a:r>
            <a:endParaRPr lang="en-US" sz="1300" dirty="0"/>
          </a:p>
        </p:txBody>
      </p:sp>
      <p:sp>
        <p:nvSpPr>
          <p:cNvPr id="25" name="Text 23"/>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Ứng dụng công nghệ phần cứng NFC không tiếp xúc kết hợp mã QR mã hóa động, mang lại trải nghiệm networking đẳng cấp số một hiện nay.</a:t>
            </a:r>
            <a:endParaRPr lang="en-US" sz="1100" dirty="0"/>
          </a:p>
        </p:txBody>
      </p:sp>
      <p:sp>
        <p:nvSpPr>
          <p:cNvPr id="26" name="Shape 24"/>
          <p:cNvSpPr/>
          <p:nvPr/>
        </p:nvSpPr>
        <p:spPr>
          <a:xfrm>
            <a:off x="8823960" y="1920240"/>
            <a:ext cx="2560320" cy="4206240"/>
          </a:xfrm>
          <a:prstGeom prst="rect">
            <a:avLst/>
          </a:prstGeom>
          <a:solidFill>
            <a:srgbClr val="FFFFFF"/>
          </a:solidFill>
          <a:ln w="15240">
            <a:solidFill>
              <a:srgbClr val="E2E8F0"/>
            </a:solidFill>
            <a:prstDash val="solid"/>
          </a:ln>
        </p:spPr>
      </p:sp>
      <p:sp>
        <p:nvSpPr>
          <p:cNvPr id="27" name="Shape 25"/>
          <p:cNvSpPr/>
          <p:nvPr/>
        </p:nvSpPr>
        <p:spPr>
          <a:xfrm>
            <a:off x="8823960" y="1920240"/>
            <a:ext cx="2560320" cy="73152"/>
          </a:xfrm>
          <a:prstGeom prst="rect">
            <a:avLst/>
          </a:prstGeom>
          <a:solidFill>
            <a:srgbClr val="003B95"/>
          </a:solidFill>
          <a:ln/>
        </p:spPr>
      </p:sp>
      <p:sp>
        <p:nvSpPr>
          <p:cNvPr id="28" name="Shape 26"/>
          <p:cNvSpPr/>
          <p:nvPr/>
        </p:nvSpPr>
        <p:spPr>
          <a:xfrm>
            <a:off x="9052560" y="2148840"/>
            <a:ext cx="2103120" cy="274320"/>
          </a:xfrm>
          <a:prstGeom prst="rect">
            <a:avLst/>
          </a:prstGeom>
          <a:solidFill>
            <a:srgbClr val="EFF6FF"/>
          </a:solidFill>
          <a:ln/>
        </p:spPr>
      </p:sp>
      <p:sp>
        <p:nvSpPr>
          <p:cNvPr id="29" name="Text 27"/>
          <p:cNvSpPr/>
          <p:nvPr/>
        </p:nvSpPr>
        <p:spPr>
          <a:xfrm>
            <a:off x="905256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ĐA NỀN TẢNG</a:t>
            </a:r>
            <a:endParaRPr lang="en-US" sz="950" dirty="0"/>
          </a:p>
        </p:txBody>
      </p:sp>
      <p:sp>
        <p:nvSpPr>
          <p:cNvPr id="30" name="Text 28"/>
          <p:cNvSpPr/>
          <p:nvPr/>
        </p:nvSpPr>
        <p:spPr>
          <a:xfrm>
            <a:off x="905256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Hoạt Động Trên Mọi Thiết Bị</a:t>
            </a:r>
            <a:endParaRPr lang="en-US" sz="1300" dirty="0"/>
          </a:p>
        </p:txBody>
      </p:sp>
      <p:sp>
        <p:nvSpPr>
          <p:cNvPr id="31" name="Text 29"/>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Có mặt trên iOS (Apple TestFlight / App Store), Android (file cài APK hiệu năng cao) và Progressive Web App (PWA) trên mọi trình duyệt.</a:t>
            </a:r>
            <a:endParaRPr lang="en-US" sz="1100" dirty="0"/>
          </a:p>
        </p:txBody>
      </p:sp>
      <p:sp>
        <p:nvSpPr>
          <p:cNvPr id="32" name="Shape 30"/>
          <p:cNvSpPr/>
          <p:nvPr/>
        </p:nvSpPr>
        <p:spPr>
          <a:xfrm>
            <a:off x="731520" y="6400800"/>
            <a:ext cx="10725912" cy="18288"/>
          </a:xfrm>
          <a:prstGeom prst="rect">
            <a:avLst/>
          </a:prstGeom>
          <a:solidFill>
            <a:srgbClr val="E2E8F0"/>
          </a:solidFill>
          <a:ln/>
        </p:spPr>
      </p:sp>
      <p:sp>
        <p:nvSpPr>
          <p:cNvPr id="33" name="Text 31"/>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34" name="Text 32"/>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MỤC ĐÍCH &amp; GIẢI PHÁP</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Đưa Toàn Bộ Hiệp Hội Vào Túi Áo Của Từng Doanh Nhân</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Giải pháp di động toàn năng giải quyết trọn vẹn mọi nhu cầu sinh hoạt và giao thương</a:t>
            </a:r>
            <a:endParaRPr lang="en-US" sz="1200" dirty="0"/>
          </a:p>
        </p:txBody>
      </p:sp>
      <p:sp>
        <p:nvSpPr>
          <p:cNvPr id="8" name="Shape 6"/>
          <p:cNvSpPr/>
          <p:nvPr/>
        </p:nvSpPr>
        <p:spPr>
          <a:xfrm>
            <a:off x="731520" y="1920240"/>
            <a:ext cx="2560320" cy="4206240"/>
          </a:xfrm>
          <a:prstGeom prst="rect">
            <a:avLst/>
          </a:prstGeom>
          <a:solidFill>
            <a:srgbClr val="FFFFFF"/>
          </a:solidFill>
          <a:ln w="15240">
            <a:solidFill>
              <a:srgbClr val="E2E8F0"/>
            </a:solidFill>
            <a:prstDash val="solid"/>
          </a:ln>
        </p:spPr>
      </p:sp>
      <p:sp>
        <p:nvSpPr>
          <p:cNvPr id="9" name="Shape 7"/>
          <p:cNvSpPr/>
          <p:nvPr/>
        </p:nvSpPr>
        <p:spPr>
          <a:xfrm>
            <a:off x="731520" y="1920240"/>
            <a:ext cx="2560320" cy="73152"/>
          </a:xfrm>
          <a:prstGeom prst="rect">
            <a:avLst/>
          </a:prstGeom>
          <a:solidFill>
            <a:srgbClr val="003B95"/>
          </a:solidFill>
          <a:ln/>
        </p:spPr>
      </p:sp>
      <p:sp>
        <p:nvSpPr>
          <p:cNvPr id="10" name="Text 8"/>
          <p:cNvSpPr/>
          <p:nvPr/>
        </p:nvSpPr>
        <p:spPr>
          <a:xfrm>
            <a:off x="96012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01</a:t>
            </a:r>
            <a:endParaRPr lang="en-US" sz="2200" dirty="0"/>
          </a:p>
        </p:txBody>
      </p:sp>
      <p:sp>
        <p:nvSpPr>
          <p:cNvPr id="11" name="Text 9"/>
          <p:cNvSpPr/>
          <p:nvPr/>
        </p:nvSpPr>
        <p:spPr>
          <a:xfrm>
            <a:off x="96012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Mục Đích Phát Triển</a:t>
            </a:r>
            <a:endParaRPr lang="en-US" sz="1300" dirty="0"/>
          </a:p>
        </p:txBody>
      </p:sp>
      <p:sp>
        <p:nvSpPr>
          <p:cNvPr id="12" name="Text 10"/>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Xây dựng một kênh kết nối thường trực 24/7 giúp hội viên dễ dàng tra cứu đối tác, chia sẻ cơ hội kinh doanh, đăng ký sự kiện và duy trì niên liễm chỉ với 1 chạm.</a:t>
            </a:r>
            <a:endParaRPr lang="en-US" sz="1100" dirty="0"/>
          </a:p>
        </p:txBody>
      </p:sp>
      <p:sp>
        <p:nvSpPr>
          <p:cNvPr id="13" name="Shape 11"/>
          <p:cNvSpPr/>
          <p:nvPr/>
        </p:nvSpPr>
        <p:spPr>
          <a:xfrm>
            <a:off x="3429000" y="1920240"/>
            <a:ext cx="2560320" cy="4206240"/>
          </a:xfrm>
          <a:prstGeom prst="rect">
            <a:avLst/>
          </a:prstGeom>
          <a:solidFill>
            <a:srgbClr val="FFFFFF"/>
          </a:solidFill>
          <a:ln w="15240">
            <a:solidFill>
              <a:srgbClr val="E2E8F0"/>
            </a:solidFill>
            <a:prstDash val="solid"/>
          </a:ln>
        </p:spPr>
      </p:sp>
      <p:sp>
        <p:nvSpPr>
          <p:cNvPr id="14" name="Shape 12"/>
          <p:cNvSpPr/>
          <p:nvPr/>
        </p:nvSpPr>
        <p:spPr>
          <a:xfrm>
            <a:off x="3429000" y="1920240"/>
            <a:ext cx="2560320" cy="73152"/>
          </a:xfrm>
          <a:prstGeom prst="rect">
            <a:avLst/>
          </a:prstGeom>
          <a:solidFill>
            <a:srgbClr val="F59E0B"/>
          </a:solidFill>
          <a:ln/>
        </p:spPr>
      </p:sp>
      <p:sp>
        <p:nvSpPr>
          <p:cNvPr id="15" name="Text 13"/>
          <p:cNvSpPr/>
          <p:nvPr/>
        </p:nvSpPr>
        <p:spPr>
          <a:xfrm>
            <a:off x="365760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02</a:t>
            </a:r>
            <a:endParaRPr lang="en-US" sz="2200" dirty="0"/>
          </a:p>
        </p:txBody>
      </p:sp>
      <p:sp>
        <p:nvSpPr>
          <p:cNvPr id="16" name="Text 14"/>
          <p:cNvSpPr/>
          <p:nvPr/>
        </p:nvSpPr>
        <p:spPr>
          <a:xfrm>
            <a:off x="365760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Thẻ VIP &amp; Chạm NFC 1 Giây</a:t>
            </a:r>
            <a:endParaRPr lang="en-US" sz="1300" dirty="0"/>
          </a:p>
        </p:txBody>
      </p:sp>
      <p:sp>
        <p:nvSpPr>
          <p:cNvPr id="17" name="Text 15"/>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Thay thế hoàn toàn danh thiếp giấy. Chạm lưng điện thoại vào đối tác là truyền tải ngay thông tin vCard đầy đủ mà đối tác không cần cài đặt bất kỳ phần mềm nào.</a:t>
            </a:r>
            <a:endParaRPr lang="en-US" sz="1100" dirty="0"/>
          </a:p>
        </p:txBody>
      </p:sp>
      <p:sp>
        <p:nvSpPr>
          <p:cNvPr id="18" name="Shape 16"/>
          <p:cNvSpPr/>
          <p:nvPr/>
        </p:nvSpPr>
        <p:spPr>
          <a:xfrm>
            <a:off x="6126480" y="1920240"/>
            <a:ext cx="2560320" cy="4206240"/>
          </a:xfrm>
          <a:prstGeom prst="rect">
            <a:avLst/>
          </a:prstGeom>
          <a:solidFill>
            <a:srgbClr val="FFFFFF"/>
          </a:solidFill>
          <a:ln w="15240">
            <a:solidFill>
              <a:srgbClr val="E2E8F0"/>
            </a:solidFill>
            <a:prstDash val="solid"/>
          </a:ln>
        </p:spPr>
      </p:sp>
      <p:sp>
        <p:nvSpPr>
          <p:cNvPr id="19" name="Shape 17"/>
          <p:cNvSpPr/>
          <p:nvPr/>
        </p:nvSpPr>
        <p:spPr>
          <a:xfrm>
            <a:off x="6126480" y="1920240"/>
            <a:ext cx="2560320" cy="73152"/>
          </a:xfrm>
          <a:prstGeom prst="rect">
            <a:avLst/>
          </a:prstGeom>
          <a:solidFill>
            <a:srgbClr val="003B95"/>
          </a:solidFill>
          <a:ln/>
        </p:spPr>
      </p:sp>
      <p:sp>
        <p:nvSpPr>
          <p:cNvPr id="20" name="Text 18"/>
          <p:cNvSpPr/>
          <p:nvPr/>
        </p:nvSpPr>
        <p:spPr>
          <a:xfrm>
            <a:off x="635508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03</a:t>
            </a:r>
            <a:endParaRPr lang="en-US" sz="2200" dirty="0"/>
          </a:p>
        </p:txBody>
      </p:sp>
      <p:sp>
        <p:nvSpPr>
          <p:cNvPr id="21" name="Text 19"/>
          <p:cNvSpPr/>
          <p:nvPr/>
        </p:nvSpPr>
        <p:spPr>
          <a:xfrm>
            <a:off x="635508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Sàn Thương Mại &amp; Cơ Hội B2B</a:t>
            </a:r>
            <a:endParaRPr lang="en-US" sz="1300" dirty="0"/>
          </a:p>
        </p:txBody>
      </p:sp>
      <p:sp>
        <p:nvSpPr>
          <p:cNvPr id="22" name="Text 20"/>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Mỗi doanh nghiệp có gian hàng trưng bày sản phẩm ưu đãi nội bộ; bảng tin trao đổi nhu cầu mua bán sỉ, tìm đại lý có cơ chế đón nhận (Claim) tức thì.</a:t>
            </a:r>
            <a:endParaRPr lang="en-US" sz="1100" dirty="0"/>
          </a:p>
        </p:txBody>
      </p:sp>
      <p:sp>
        <p:nvSpPr>
          <p:cNvPr id="23" name="Shape 21"/>
          <p:cNvSpPr/>
          <p:nvPr/>
        </p:nvSpPr>
        <p:spPr>
          <a:xfrm>
            <a:off x="8823960" y="1920240"/>
            <a:ext cx="2560320" cy="4206240"/>
          </a:xfrm>
          <a:prstGeom prst="rect">
            <a:avLst/>
          </a:prstGeom>
          <a:solidFill>
            <a:srgbClr val="FFFFFF"/>
          </a:solidFill>
          <a:ln w="15240">
            <a:solidFill>
              <a:srgbClr val="E2E8F0"/>
            </a:solidFill>
            <a:prstDash val="solid"/>
          </a:ln>
        </p:spPr>
      </p:sp>
      <p:sp>
        <p:nvSpPr>
          <p:cNvPr id="24" name="Shape 22"/>
          <p:cNvSpPr/>
          <p:nvPr/>
        </p:nvSpPr>
        <p:spPr>
          <a:xfrm>
            <a:off x="8823960" y="1920240"/>
            <a:ext cx="2560320" cy="73152"/>
          </a:xfrm>
          <a:prstGeom prst="rect">
            <a:avLst/>
          </a:prstGeom>
          <a:solidFill>
            <a:srgbClr val="F59E0B"/>
          </a:solidFill>
          <a:ln/>
        </p:spPr>
      </p:sp>
      <p:sp>
        <p:nvSpPr>
          <p:cNvPr id="25" name="Text 23"/>
          <p:cNvSpPr/>
          <p:nvPr/>
        </p:nvSpPr>
        <p:spPr>
          <a:xfrm>
            <a:off x="905256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04</a:t>
            </a:r>
            <a:endParaRPr lang="en-US" sz="2200" dirty="0"/>
          </a:p>
        </p:txBody>
      </p:sp>
      <p:sp>
        <p:nvSpPr>
          <p:cNvPr id="26" name="Text 24"/>
          <p:cNvSpPr/>
          <p:nvPr/>
        </p:nvSpPr>
        <p:spPr>
          <a:xfrm>
            <a:off x="905256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Vé QR Check-in &amp; VietQR Tự Động</a:t>
            </a:r>
            <a:endParaRPr lang="en-US" sz="1300" dirty="0"/>
          </a:p>
        </p:txBody>
      </p:sp>
      <p:sp>
        <p:nvSpPr>
          <p:cNvPr id="27" name="Text 25"/>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Vé điện tử tự động gán vị trí Bàn VIP Gala Dinner, quét vào cửa trong 1 giây; nộp niên liễm qua VietQR tự động gạch nợ và nhận biên lai số về hòm thư.</a:t>
            </a:r>
            <a:endParaRPr lang="en-US" sz="1100" dirty="0"/>
          </a:p>
        </p:txBody>
      </p:sp>
      <p:sp>
        <p:nvSpPr>
          <p:cNvPr id="28" name="Shape 26"/>
          <p:cNvSpPr/>
          <p:nvPr/>
        </p:nvSpPr>
        <p:spPr>
          <a:xfrm>
            <a:off x="731520" y="6400800"/>
            <a:ext cx="10725912" cy="18288"/>
          </a:xfrm>
          <a:prstGeom prst="rect">
            <a:avLst/>
          </a:prstGeom>
          <a:solidFill>
            <a:srgbClr val="E2E8F0"/>
          </a:solidFill>
          <a:ln/>
        </p:spPr>
      </p:sp>
      <p:sp>
        <p:nvSpPr>
          <p:cNvPr id="29" name="Text 27"/>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30" name="Text 28"/>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01</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Quy Trình Đăng Ký Gia Nhập Trực Tuyến &amp; Cấp Quyền Tức Thì</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Tiếp nhận hồ sơ lãnh đạo doanh nghiệp qua giao diện trực quan, tiện lợi</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Tiếp Nhận Hồ Sơ Doanh Nhân Nhanh Chóng</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Nhập họ tên, số điện thoại, tên pháp nhân công ty, chức vụ C-Level và mã số thuế.</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Gửi Dữ Liệu Tức Thì Về Web CRM</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Hồ sơ tự động đổ về hàng đợi thẩm định của Ban Thư Ký CLB CEO 1983 theo thời gian thực.</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Nhận Thông Báo Tiến Trình Qua Email</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Hội viên nhận email xác nhận hồ sơ đã được tiếp nhận và đang trong quá trình xét duyệt.</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Tự Động Nhận Tài Khoản Khi Được Duyệt</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Ngay khi Ban Quản Trị bấm duyệt trên CRM, hệ thống tự động gửi mật khẩu khởi tạo về hòm thư.</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02</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Đăng Nhập &amp; Định Danh Doanh Nhân Bảo Mật</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Khởi tạo phiên làm việc an toàn với mã hội viên độc bản và mật khẩu bảo mật</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Đăng Nhập Qua Email Hoặc Số Điện Thoại</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Linh hoạt cho doanh nhân đăng nhập bằng số điện thoại di động hoặc hòm thư công vụ.</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Mã Hóa JWT Bearer An Toàn</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Bảo vệ toàn vẹn phiên làm việc, chống giả mạo danh tính và mã hóa đầu cuối thông tin cá nhân.</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Định Danh Duy Nhất Theo Mã Hội Viên</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Mỗi lãnh đạo sở hữu mã số VIP độc bản (M1983-xxx) khẳng định tư cách thành viên chính thức.</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Tích Hợp Xác Thực Sinh Trắc Học</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Hỗ trợ FaceID / Vân tay mở ứng dụng nhanh chóng trên các dòng điện thoại iOS &amp; Android.</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03</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Trang Chủ Dashboard Doanh Nhân &amp; Tiện Ích 1-Chạm</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Tổng hợp mọi thông tin sinh hoạt, sự kiện và cơ hội hợp tác ngay trong tầm tay</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Thẻ VIP Doanh Nhân 3D Tiêu Điểm</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Thẻ số hóa ánh kim vàng hoàng gia hiển thị họ tên, chức vụ và doanh nghiệp pháp nhân.</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Thanh Tác Vụ Tiện Ích 1-Chạm</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Truy cập nhanh: Chạm NFC, Bầu cử, Check-in vé, Đăng bán sản phẩm, Nộp hội phí thường niên.</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Banner Sự Kiện Sắp Diễn Ra</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Đếm ngược thời gian đến các kỳ Caravan, Gala Dinner và Cafe Doanh nhân định kỳ.</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Bản Tin Hoạt Động Cập Nhật Hàng Ngày</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Nắm bắt các thông báo mới nhất từ Ban Chủ Tịch và Ban Thư Ký CLB CEO 1983.</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04</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Thẻ Định Danh Số Hội Viên VIP GOLD &amp; Tích Hợp Chip NFC</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Biểu tượng danh giá khẳng định tư cách lãnh đạo thành viên chính thức CLB CEO 1983</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Thiết Kế Thẻ Hội Viên VIP Gold Độc Bản</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Tông màu vàng kim hoàng gia sang trọng, gắn ảnh chân dung lãnh đạo, họ tên và doanh nghiệp trực thuộc.</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Mã Số Hội Viên Độc Nhất (M1983-xxx)</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Mã định danh duy nhất xác nhận tư cách pháp nhân thành viên chính thức được Ban Thư Ký phê duyệt.</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Huy Hiệu Tích Xanh Chứng Nhận Lãnh Đạo</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Dấu tích xanh Verified minh chứng uy tín doanh nhân được Hội Doanh Nhân Trẻ Hà Nội công nhận.</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Tích Hợp Chip Cảm Ứng Không Tiếp Xúc NFC</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Chạm điện thoại vào bất kỳ máy quét hoặc điện thoại thông minh nào để mở trang định danh tức thì.</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05</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Danh Thiếp Số Doanh Nhân CEO 1983 (Thẻ Visit Card Lật Mặt Sau)</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Thay thế hoàn toàn card visit giấy: Mặt trước thông tin C-Level, mặt sau Brandbook xanh Navy</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Mặt Trước Chuẩn Brandbook Sang Trọng</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Hiển thị họ tên (Phạm Vũ Nam), chức danh CEO/Sáng lập, công ty, số điện thoại, email và trụ sở doanh nghiệp.</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Hiệu Ứng Lật Thẻ Visit Card Xem Mặt Sau</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Nút Lật thẻ chuyển động mượt mà mở mặt sau màu xanh Navy hoàng gia mang slogan CLB CEO 1983.</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Nút Chia Sẻ &amp; Mã QR Động Kết Nối Nhanh</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Mở mã QR cá nhân để đối tác quét bằng Zalo/Camera nhận thông tin vCard lưu trực tiếp vào máy.</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Tùy Biến Cài Đặt Quyền Riêng Tư 1-Chạm</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Chủ động bật/tắt hiển thị số điện thoại cá nhân, email hoặc địa chỉ theo nhu cầu bảo mật thông tin.</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06</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Quét Mã QR Từ Ứng Dụng Ngoài &amp; Trang Xác Thực Công Khai</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Đối tác quét bằng Zalo / Camera iPhone không cần cài app vẫn hiển thị hồ sơ thẩm định 100%</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Quét Nhanh Bằng Zalo Hoặc Camera Ngoài</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Không bắt buộc cài đặt ứng dụng: Mọi camera điện thoại hoặc Zalo đều đọc được mã định danh.</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Trang Web Xác Thực Công Khai Thẻ Visit Card Sang Trọng</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Mở giao diện web công khai chuẩn mực với thẻ Visit Card Luxury, ảnh đại diện, chức danh và dấu mộc CLB.</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Tích Xanh Verified &amp; Dấu Mộc CLB CEO 1983</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Chứng thực tư cách thành viên chính thức được kiểm định bởi Hội Doanh Nhân Trẻ Hà Nội (HanoiBA).</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Phím Gọi Điện, Nhắn Zalo &amp; Lưu Danh Bạ vCard</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Đối tác chỉ cần bấm một nút là lưu thẳng liên hệ vào danh bạ điện thoại hoặc gọi điện trao đổi ngay.</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07</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Hồ Sơ Năng Lực Doanh Nhân 360° &amp; Pháp Nhân Doanh Nghiệp</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Khẳng định uy tín thương hiệu cá nhân và năng lực công ty trong mạng lưới</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Thông Tin Pháp Nhân Doanh Nghiệp Đầy Đủ</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Hiển thị tên công ty, mã số thuế, địa chỉ trụ sở chính, website và lĩnh vực hoạt động.</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Tùy Biến Ảnh Đại Diện &amp; Ảnh Bìa Công Ty</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Dễ dàng tải lên hình ảnh nhận diện thương hiệu doanh nghiệp sắc nét và chuyên nghiệp.</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Đính Kèm Hồ Sơ Năng Lực &amp; Brochure PDF</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Hỗ trợ đính kèm tài liệu giới thiệu sản phẩm để các đối tác tiềm năng tải về nghiên cứu.</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Ghi Nhận Đóng Góp &amp; Danh Hiệu Khen Thưởng</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Lưu trữ các kỷ niệm chương, giải thưởng doanh nhân tiêu biểu đã được hiệp hội vinh danh.</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08</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Danh Bạ Hội Viên CLB CEO 1983 &amp; Tra Cứu Đối Tác Giao Thương</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Kết nối trực tiếp hơn 100+ Chủ tịch và Tổng Giám Đốc sinh năm 1983</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Mạng Lưới Lãnh Đạo Đồng Niên 1983</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Cộng đồng các nhà sáng lập cùng thế hệ, thấu hiểu tư duy và chia sẻ chung khát vọng phát triển.</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Bộ Lọc Đa Chiều Theo Ngành Nghề</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Tìm kiếm đối tác theo lĩnh vực: Xây dựng, Công nghệ, Y tế, Nông nghiệp, Tài chính, Bất động sản.</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Hồ Sơ Năng Lực Doanh Nghiệp 360°</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Xem quy mô công ty, mã số thuế, website và các sản phẩm dịch vụ chủ lực của thành viên.</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Gửi Lời Mời Kết Nối Giao Thương 2 Chiều</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Thiết lập mối quan hệ đối tác bền vững chỉ bằng nút Kết nối trên ứng dụng.</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09</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Xem Chi Tiết Hồ Sơ Năng Lực Đối Tác &amp; Kết Nối Hợp Tác</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Nắm bắt trọn vẹn thông tin đối tác trước khi tiến hành đàm phán kinh doanh</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Xem Đầy Đủ Thông Tin Liên Lạc</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Tra cứu nhanh số điện thoại di động, hòm thư điện tử, địa chỉ văn phòng của chủ doanh nghiệp.</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Mở Phòng Chat Giao Thương Trực Tiếp</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Bấm Nhắn tin: Mở ngay cuộc trò chuyện 1-on-1 với đối tác để trao đổi nhu cầu hợp tác.</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Tra Cứu Danh Mục Sản Phẩm Cung Cấp</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Xem toàn bộ các mặt hàng và dịch vụ mà công ty đối tác đang niêm yết trên Marketplace.</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Lưu Thông Tin Vào Danh Bạ Điện Thoại</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Tải file danh thiếp vCard lưu thẳng vào danh bạ iPhone/Android chỉ với một cú nhấp chuột.</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10</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Hộp Thư Doanh Nghiệp &amp; Nhắn Tin Chat 1-on-1 Realtime</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Trao đổi cơ hội hợp tác, gửi tài liệu báo giá và đàm phán hợp đồng trực tiếp</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Trò Chuyện Trực Tiếp Thời Gian Thực</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Nhắn tin văn bản tốc độ cao giữa hai lãnh đạo doanh nghiệp, không qua bất kỳ trung gian nào.</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Gửi Tài Liệu, Hợp Đồng &amp; Catalog PDF</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Đính kèm hình ảnh sản phẩm và tài liệu năng lực công ty trực tiếp trong luồng hội thoại.</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Chia Sẻ Vị Trí Điểm Hẹn Gặp Gỡ</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Gửi tọa độ định vị quán cafe hoặc văn phòng doanh nghiệp để hẹn lịch làm việc trực tiếp.</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Bảo Mật Nội Dung Trò Chuyện Tuyệt Đối</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Hội thoại được mã hóa trên đường truyền, bảo vệ bí mật kinh doanh của các bên tham gia.</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11</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Lịch Sự Kiện, Diễn Đàn Doanh Nhân &amp; Đăng Ký Vé Tham Dự</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Không bỏ lỡ các kỳ Đại hội, Caravan kết nối kinh doanh và Gala thường niên</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Lịch Trình Chi Tiết Các Hoạt Động CLB</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Nắm bắt thời gian, địa điểm tổ chức, nội dung chương trình và diễn giả của từng sự kiện.</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Đặc Quyền Vé Miễn Phí Dành Cho Hội Viên</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Hội viên chính thức được miễn phí vé tham dự hoặc nhận mức giá ưu đãi đặc biệt.</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Thanh Toán Vé Đại Biểu Qua VietQR</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Đối với vé có thu phí, hệ thống cung cấp mã QR chuyển khoản chính xác tới từng đồng.</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Đồng Bộ Lịch Hẹn Vào Google / Apple Calendar</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Tự động thêm sự kiện vào lịch cá nhân trên điện thoại kèm nhắc nhở trước 24 giờ.</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12</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Vé Điện Tử Thông Minh &amp; Quét Mã QR Check-in Siêu Tốc 1s</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Không lo quên vé giấy, kiểm soát lối vào hội trường chỉ với 1 thao tác quét</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Tích Hợp Mã QR Động Chống Gian Lận</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Mã QR được mã hóa theo phiên làm việc, ngăn chặn triệt để hành vi chụp ảnh màn hình chuyển tiếp.</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Hiển Thị Vị Trí Số Ghế Bàn Tiệc VIP</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Biết trước chính xác số bàn và vị trí ghế ngồi được Ban Tổ Chức sắp đặt trang trọng.</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Tốc Độ Quét Cổng Chỉ 1 Giây</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Đưa màn hình trước máy quét tại bàn lễ tân để hoàn tất thủ tục check-in trong tích tắc.</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Lưu Trữ Lịch Sử Tham Dự Sự Kiện</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Xem lại toàn bộ các kỳ đại hội và sự kiện mà doanh nhân đã đồng hành cùng hiệp hội.</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13</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Bầu Cử BCH &amp; Biểu Quyết Tín Nhiệm Trực Tuyến Trên App</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Thực thi quyền dân chủ đại hội minh bạch, bảo mật tuyệt đối với giao diện trực quan</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Bỏ Phiếu Tín Nhiệm Đại Biểu Trực Tiếp</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Bầu cử Ban Chấp Hành nhiệm kỳ mới ngay trên màn hình điện thoại với danh sách ứng viên minh bạch.</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Mã Hóa Phiếu Bầu Chống Gian Lận</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Mỗi hội viên chỉ được bỏ phiếu một lần duy nhất, kết quả được mã hóa bảo mật danh tính người bầu.</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Xem Chi Tiết Hồ Sơ &amp; Chương Trình Hành Động</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Chạm vào tên ứng viên để xem quá trình cống hiến, doanh nghiệp và cam kết hành động trước khi vote.</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Cập Nhật Tiến Độ Kiểm Phiếu Tức Thì</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Theo dõi tỷ lệ phần trăm cử tri đã tham gia bỏ phiếu theo thời gian thực trên màn hình ứng dụng.</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14</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Vòng Quay May Mắn Lucky Draw &amp; Nhận Quà Tức Thì</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Khuấy động không khí Gala Dinner: Quay số ngẫu nhiên theo mã vé may mắn của hội viên</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Quay Số May Mắn Theo Mã Vé Check-in</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Toàn bộ hội viên đã check-in vào sự kiện được tự động đưa vào danh sách quay số trúng thưởng.</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Giải Thưởng Đỉnh Cao VinFast VF3</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Hồi hộp theo dõi các vòng quay giải Đặc biệt, giải Nhất với quà tặng giá trị cao từ nhà tài trợ.</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Hiển Thị Thông Báo Trúng Thưởng Trên Màn Hình</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Hệ thống chúc mừng đích danh hội viên trúng giải (VD: Ngô Bảo Anh - Mã vé #2190).</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Nhận Thông Báo Push Điện Thoại Trong Tích Tắc</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Máy rung và hiển thị thông báo trúng giải ngay trong túi áo để doanh nhân lên sân khấu nhận quà.</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15</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Sàn Thương Mại Marketplace &amp; Gian Hàng Doanh Nghiệp</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Kênh giới thiệu sản phẩm và dịch vụ uy tín với chính sách ưu đãi nội bộ</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Gian Hàng Số Hóa Cho Từng Doanh Nghiệp</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Mỗi doanh nghiệp hội viên được sở hữu gian hàng trưng bày sản phẩm sản xuất và dịch vụ chủ lực.</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Chính Sách Chiết Khấu Ưu Đãi VIP</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Cam kết mức giá ưu đãi đặc quyền giữa các thành viên CEO 1983 so với giá thị trường bên ngoài.</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Đã Kiểm Duyệt An Toàn Từ Web CRM</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Toàn bộ mặt hàng đều qua thẩm định xuất xứ và tiêu chuẩn chất lượng từ Ban Quản Trị CLB.</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Yêu Cầu Báo Giá Sỉ &amp; Hợp Đồng 1-Chạm</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Doanh nhân gửi yêu cầu báo giá khối lượng lớn trực tiếp tới giám đốc kinh doanh đối tác.</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16</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Sàn Trao Cơ Hội Giao Thương B2B &amp; Tìm Kiếm Đối Tác</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Chia sẻ nhu cầu mua sỉ, bán buôn, cung ứng vật tư và kêu gọi vốn đầu tư</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Bảng Tin Trao Đổi Cơ Hội Độc Quyền</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Nơi doanh nhân công khai nhu cầu mua sắm thiết bị, tìm đại lý phân phối hoặc kết nối chuỗi cung ứng.</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Khu Vực Cơ Hội Tiêu Điểm Xoay Vòng 2s</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Hiệu ứng chuyển đổi cơ hội nổi bật mỗi 2 giây thu hút sự chú ý tối đa của toàn thể hội viên.</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Đón Nhận Cơ Hội (Claim Deal) Nhanh Chóng</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Nhấn Đón nhận cơ hội để nhận thông tin liên lạc trực tiếp của doanh nhân có nhu cầu.</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Thống Kê Tổng Giá Trị Giao Thương Đạt Được</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Ghi nhận thành quả kết nối, vinh danh các doanh nhân tích cực trao cơ hội cho đồng đội.</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17</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Cổng Đóng Hội Phí Thường Niên &amp; Quét Mã VietQR Tự Động</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Gia hạn thẻ hội viên trong 30 giây, đối soát tự động không cần gửi hóa đơn</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Minh Bạch Niên Độ &amp; Hạn Nộp Hội Phí</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Thông báo rõ ràng số tiền niên liễm, thời hạn gia hạn và quyền lợi duy trì sinh hoạt trong năm.</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Mã QR Động Chính Xác Tuyệt Đối</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Mã VietQR tự động điền số tiền và cú pháp chuyển khoản chính xác tới từng ký tự.</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Gạch Nợ Tự Động Sau 3-5 Giây</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Ngay khi chuyển khoản thành công, hệ thống tự động gạch nợ và gia hạn hạn dùng thẻ số trên App.</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Nhận Phiếu Thu Điện Tử Về Hòm Thư</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Biên lai xác nhận đóng hội phí có chữ ký số được gửi tự động về email doanh nghiệp lưu trữ.</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ƯU ĐIỂM VƯỢT TRỘI</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Giá Trị Thiết Thực &amp; Đẳng Cấp Cho Doanh Nhân Hội Viên</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Nâng tầm trải nghiệm cá nhân và tối ưu hóa cơ hội kinh doanh</a:t>
            </a:r>
            <a:endParaRPr lang="en-US" sz="1200" dirty="0"/>
          </a:p>
        </p:txBody>
      </p:sp>
      <p:sp>
        <p:nvSpPr>
          <p:cNvPr id="8" name="Shape 6"/>
          <p:cNvSpPr/>
          <p:nvPr/>
        </p:nvSpPr>
        <p:spPr>
          <a:xfrm>
            <a:off x="731520" y="1920240"/>
            <a:ext cx="2560320" cy="4206240"/>
          </a:xfrm>
          <a:prstGeom prst="rect">
            <a:avLst/>
          </a:prstGeom>
          <a:solidFill>
            <a:srgbClr val="FFFFFF"/>
          </a:solidFill>
          <a:ln w="15240">
            <a:solidFill>
              <a:srgbClr val="E2E8F0"/>
            </a:solidFill>
            <a:prstDash val="solid"/>
          </a:ln>
        </p:spPr>
      </p:sp>
      <p:sp>
        <p:nvSpPr>
          <p:cNvPr id="9" name="Shape 7"/>
          <p:cNvSpPr/>
          <p:nvPr/>
        </p:nvSpPr>
        <p:spPr>
          <a:xfrm>
            <a:off x="731520" y="1920240"/>
            <a:ext cx="2560320" cy="73152"/>
          </a:xfrm>
          <a:prstGeom prst="rect">
            <a:avLst/>
          </a:prstGeom>
          <a:solidFill>
            <a:srgbClr val="003B95"/>
          </a:solidFill>
          <a:ln/>
        </p:spPr>
      </p:sp>
      <p:sp>
        <p:nvSpPr>
          <p:cNvPr id="10" name="Text 8"/>
          <p:cNvSpPr/>
          <p:nvPr/>
        </p:nvSpPr>
        <p:spPr>
          <a:xfrm>
            <a:off x="96012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01</a:t>
            </a:r>
            <a:endParaRPr lang="en-US" sz="2200" dirty="0"/>
          </a:p>
        </p:txBody>
      </p:sp>
      <p:sp>
        <p:nvSpPr>
          <p:cNvPr id="11" name="Text 9"/>
          <p:cNvSpPr/>
          <p:nvPr/>
        </p:nvSpPr>
        <p:spPr>
          <a:xfrm>
            <a:off x="96012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Networking Đỉnh Cao 1-Chạm</a:t>
            </a:r>
            <a:endParaRPr lang="en-US" sz="1300" dirty="0"/>
          </a:p>
        </p:txBody>
      </p:sp>
      <p:sp>
        <p:nvSpPr>
          <p:cNvPr id="12" name="Text 10"/>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Không cần mang theo tập danh thiếp giấy. Chỉ cần chạm điện thoại NFC hoặc mở mã QR là trao trọn vẹn thông tin liên hệ và hồ sơ công ty cho đối tác.</a:t>
            </a:r>
            <a:endParaRPr lang="en-US" sz="1100" dirty="0"/>
          </a:p>
        </p:txBody>
      </p:sp>
      <p:sp>
        <p:nvSpPr>
          <p:cNvPr id="13" name="Shape 11"/>
          <p:cNvSpPr/>
          <p:nvPr/>
        </p:nvSpPr>
        <p:spPr>
          <a:xfrm>
            <a:off x="3429000" y="1920240"/>
            <a:ext cx="2560320" cy="4206240"/>
          </a:xfrm>
          <a:prstGeom prst="rect">
            <a:avLst/>
          </a:prstGeom>
          <a:solidFill>
            <a:srgbClr val="FFFFFF"/>
          </a:solidFill>
          <a:ln w="15240">
            <a:solidFill>
              <a:srgbClr val="E2E8F0"/>
            </a:solidFill>
            <a:prstDash val="solid"/>
          </a:ln>
        </p:spPr>
      </p:sp>
      <p:sp>
        <p:nvSpPr>
          <p:cNvPr id="14" name="Shape 12"/>
          <p:cNvSpPr/>
          <p:nvPr/>
        </p:nvSpPr>
        <p:spPr>
          <a:xfrm>
            <a:off x="3429000" y="1920240"/>
            <a:ext cx="2560320" cy="73152"/>
          </a:xfrm>
          <a:prstGeom prst="rect">
            <a:avLst/>
          </a:prstGeom>
          <a:solidFill>
            <a:srgbClr val="003B95"/>
          </a:solidFill>
          <a:ln/>
        </p:spPr>
      </p:sp>
      <p:sp>
        <p:nvSpPr>
          <p:cNvPr id="15" name="Text 13"/>
          <p:cNvSpPr/>
          <p:nvPr/>
        </p:nvSpPr>
        <p:spPr>
          <a:xfrm>
            <a:off x="365760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02</a:t>
            </a:r>
            <a:endParaRPr lang="en-US" sz="2200" dirty="0"/>
          </a:p>
        </p:txBody>
      </p:sp>
      <p:sp>
        <p:nvSpPr>
          <p:cNvPr id="16" name="Text 14"/>
          <p:cNvSpPr/>
          <p:nvPr/>
        </p:nvSpPr>
        <p:spPr>
          <a:xfrm>
            <a:off x="365760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Thúc Đẩy Doanh Thu B2B Thực Chất</a:t>
            </a:r>
            <a:endParaRPr lang="en-US" sz="1300" dirty="0"/>
          </a:p>
        </p:txBody>
      </p:sp>
      <p:sp>
        <p:nvSpPr>
          <p:cNvPr id="17" name="Text 15"/>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Sở hữu ngay gian hàng trưng bày sản phẩm ưu đãi nội khối và tiếp cận trực tiếp các nhu cầu mua sắm lớn từ hơn 100 doanh nghiệp thành viên.</a:t>
            </a:r>
            <a:endParaRPr lang="en-US" sz="1100" dirty="0"/>
          </a:p>
        </p:txBody>
      </p:sp>
      <p:sp>
        <p:nvSpPr>
          <p:cNvPr id="18" name="Shape 16"/>
          <p:cNvSpPr/>
          <p:nvPr/>
        </p:nvSpPr>
        <p:spPr>
          <a:xfrm>
            <a:off x="6126480" y="1920240"/>
            <a:ext cx="2560320" cy="4206240"/>
          </a:xfrm>
          <a:prstGeom prst="rect">
            <a:avLst/>
          </a:prstGeom>
          <a:solidFill>
            <a:srgbClr val="FFFFFF"/>
          </a:solidFill>
          <a:ln w="15240">
            <a:solidFill>
              <a:srgbClr val="E2E8F0"/>
            </a:solidFill>
            <a:prstDash val="solid"/>
          </a:ln>
        </p:spPr>
      </p:sp>
      <p:sp>
        <p:nvSpPr>
          <p:cNvPr id="19" name="Shape 17"/>
          <p:cNvSpPr/>
          <p:nvPr/>
        </p:nvSpPr>
        <p:spPr>
          <a:xfrm>
            <a:off x="6126480" y="1920240"/>
            <a:ext cx="2560320" cy="73152"/>
          </a:xfrm>
          <a:prstGeom prst="rect">
            <a:avLst/>
          </a:prstGeom>
          <a:solidFill>
            <a:srgbClr val="003B95"/>
          </a:solidFill>
          <a:ln/>
        </p:spPr>
      </p:sp>
      <p:sp>
        <p:nvSpPr>
          <p:cNvPr id="20" name="Text 18"/>
          <p:cNvSpPr/>
          <p:nvPr/>
        </p:nvSpPr>
        <p:spPr>
          <a:xfrm>
            <a:off x="635508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03</a:t>
            </a:r>
            <a:endParaRPr lang="en-US" sz="2200" dirty="0"/>
          </a:p>
        </p:txBody>
      </p:sp>
      <p:sp>
        <p:nvSpPr>
          <p:cNvPr id="21" name="Text 19"/>
          <p:cNvSpPr/>
          <p:nvPr/>
        </p:nvSpPr>
        <p:spPr>
          <a:xfrm>
            <a:off x="635508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Trải Nghiệm Sự Kiện Không Chờ Đợi</a:t>
            </a:r>
            <a:endParaRPr lang="en-US" sz="1300" dirty="0"/>
          </a:p>
        </p:txBody>
      </p:sp>
      <p:sp>
        <p:nvSpPr>
          <p:cNvPr id="22" name="Text 20"/>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Nhận vé mời điện tử, biết trước số bàn tiệc VIP và quét mã qua cổng soát vé chỉ trong 1 giây, tạo ấn tượng sang trọng và chỉn chu.</a:t>
            </a:r>
            <a:endParaRPr lang="en-US" sz="1100" dirty="0"/>
          </a:p>
        </p:txBody>
      </p:sp>
      <p:sp>
        <p:nvSpPr>
          <p:cNvPr id="23" name="Shape 21"/>
          <p:cNvSpPr/>
          <p:nvPr/>
        </p:nvSpPr>
        <p:spPr>
          <a:xfrm>
            <a:off x="8823960" y="1920240"/>
            <a:ext cx="2560320" cy="4206240"/>
          </a:xfrm>
          <a:prstGeom prst="rect">
            <a:avLst/>
          </a:prstGeom>
          <a:solidFill>
            <a:srgbClr val="FFFFFF"/>
          </a:solidFill>
          <a:ln w="15240">
            <a:solidFill>
              <a:srgbClr val="E2E8F0"/>
            </a:solidFill>
            <a:prstDash val="solid"/>
          </a:ln>
        </p:spPr>
      </p:sp>
      <p:sp>
        <p:nvSpPr>
          <p:cNvPr id="24" name="Shape 22"/>
          <p:cNvSpPr/>
          <p:nvPr/>
        </p:nvSpPr>
        <p:spPr>
          <a:xfrm>
            <a:off x="8823960" y="1920240"/>
            <a:ext cx="2560320" cy="73152"/>
          </a:xfrm>
          <a:prstGeom prst="rect">
            <a:avLst/>
          </a:prstGeom>
          <a:solidFill>
            <a:srgbClr val="003B95"/>
          </a:solidFill>
          <a:ln/>
        </p:spPr>
      </p:sp>
      <p:sp>
        <p:nvSpPr>
          <p:cNvPr id="25" name="Text 23"/>
          <p:cNvSpPr/>
          <p:nvPr/>
        </p:nvSpPr>
        <p:spPr>
          <a:xfrm>
            <a:off x="905256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04</a:t>
            </a:r>
            <a:endParaRPr lang="en-US" sz="2200" dirty="0"/>
          </a:p>
        </p:txBody>
      </p:sp>
      <p:sp>
        <p:nvSpPr>
          <p:cNvPr id="26" name="Text 24"/>
          <p:cNvSpPr/>
          <p:nvPr/>
        </p:nvSpPr>
        <p:spPr>
          <a:xfrm>
            <a:off x="905256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Tiện Ích Đa Nền Tảng Mượt Mà</a:t>
            </a:r>
            <a:endParaRPr lang="en-US" sz="1300" dirty="0"/>
          </a:p>
        </p:txBody>
      </p:sp>
      <p:sp>
        <p:nvSpPr>
          <p:cNvPr id="27" name="Text 25"/>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Vận hành hoàn hảo trên cả iPhone, điện thoại Android và trình duyệt Web PWA, cập nhật tính năng mới tự động mà không cần tải lại file cài đặt.</a:t>
            </a:r>
            <a:endParaRPr lang="en-US" sz="1100" dirty="0"/>
          </a:p>
        </p:txBody>
      </p:sp>
      <p:sp>
        <p:nvSpPr>
          <p:cNvPr id="28" name="Shape 26"/>
          <p:cNvSpPr/>
          <p:nvPr/>
        </p:nvSpPr>
        <p:spPr>
          <a:xfrm>
            <a:off x="731520" y="6400800"/>
            <a:ext cx="10725912" cy="18288"/>
          </a:xfrm>
          <a:prstGeom prst="rect">
            <a:avLst/>
          </a:prstGeom>
          <a:solidFill>
            <a:srgbClr val="E2E8F0"/>
          </a:solidFill>
          <a:ln/>
        </p:spPr>
      </p:sp>
      <p:sp>
        <p:nvSpPr>
          <p:cNvPr id="29" name="Text 27"/>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30" name="Text 28"/>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HƯỚNG PHÁT TRIỂN TƯƠNG LAI</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Lộ Trình Nâng Cấp Ứng Dụng Di Động Hội Viên 2026 - 2028</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Liên tục đổi mới công nghệ nhằm mang lại giá trị gia tăng tối đa cho hội viên</a:t>
            </a:r>
            <a:endParaRPr lang="en-US" sz="1200" dirty="0"/>
          </a:p>
        </p:txBody>
      </p:sp>
      <p:sp>
        <p:nvSpPr>
          <p:cNvPr id="8" name="Shape 6"/>
          <p:cNvSpPr/>
          <p:nvPr/>
        </p:nvSpPr>
        <p:spPr>
          <a:xfrm>
            <a:off x="731520" y="1920240"/>
            <a:ext cx="2560320" cy="4206240"/>
          </a:xfrm>
          <a:prstGeom prst="rect">
            <a:avLst/>
          </a:prstGeom>
          <a:solidFill>
            <a:srgbClr val="FFFFFF"/>
          </a:solidFill>
          <a:ln w="15240">
            <a:solidFill>
              <a:srgbClr val="E2E8F0"/>
            </a:solidFill>
            <a:prstDash val="solid"/>
          </a:ln>
        </p:spPr>
      </p:sp>
      <p:sp>
        <p:nvSpPr>
          <p:cNvPr id="9" name="Shape 7"/>
          <p:cNvSpPr/>
          <p:nvPr/>
        </p:nvSpPr>
        <p:spPr>
          <a:xfrm>
            <a:off x="731520" y="1920240"/>
            <a:ext cx="2560320" cy="73152"/>
          </a:xfrm>
          <a:prstGeom prst="rect">
            <a:avLst/>
          </a:prstGeom>
          <a:solidFill>
            <a:srgbClr val="003B95"/>
          </a:solidFill>
          <a:ln/>
        </p:spPr>
      </p:sp>
      <p:sp>
        <p:nvSpPr>
          <p:cNvPr id="10" name="Shape 8"/>
          <p:cNvSpPr/>
          <p:nvPr/>
        </p:nvSpPr>
        <p:spPr>
          <a:xfrm>
            <a:off x="960120" y="2148840"/>
            <a:ext cx="2103120" cy="292608"/>
          </a:xfrm>
          <a:prstGeom prst="rect">
            <a:avLst/>
          </a:prstGeom>
          <a:solidFill>
            <a:srgbClr val="EFF6FF"/>
          </a:solidFill>
          <a:ln/>
        </p:spPr>
      </p:sp>
      <p:sp>
        <p:nvSpPr>
          <p:cNvPr id="11" name="Text 9"/>
          <p:cNvSpPr/>
          <p:nvPr/>
        </p:nvSpPr>
        <p:spPr>
          <a:xfrm>
            <a:off x="96012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1 (ĐÃ HOÀN THÀNH)</a:t>
            </a:r>
            <a:endParaRPr lang="en-US" sz="850" dirty="0"/>
          </a:p>
        </p:txBody>
      </p:sp>
      <p:sp>
        <p:nvSpPr>
          <p:cNvPr id="12" name="Text 10"/>
          <p:cNvSpPr/>
          <p:nvPr/>
        </p:nvSpPr>
        <p:spPr>
          <a:xfrm>
            <a:off x="96012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Phát Hành Bản Đầy Đủ Đa Nền Tảng</a:t>
            </a:r>
            <a:endParaRPr lang="en-US" sz="1300" dirty="0"/>
          </a:p>
        </p:txBody>
      </p:sp>
      <p:sp>
        <p:nvSpPr>
          <p:cNvPr id="13" name="Text 11"/>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Hoàn thiện bản cài Android APK, iOS TestFlight và Web PWA với đầy đủ tính năng: Thẻ VIP, chạm NFC, vé QR check-in và sàn giao dịch B2B.</a:t>
            </a:r>
            <a:endParaRPr lang="en-US" sz="1100" dirty="0"/>
          </a:p>
        </p:txBody>
      </p:sp>
      <p:sp>
        <p:nvSpPr>
          <p:cNvPr id="14" name="Shape 12"/>
          <p:cNvSpPr/>
          <p:nvPr/>
        </p:nvSpPr>
        <p:spPr>
          <a:xfrm>
            <a:off x="3429000" y="1920240"/>
            <a:ext cx="2560320" cy="4206240"/>
          </a:xfrm>
          <a:prstGeom prst="rect">
            <a:avLst/>
          </a:prstGeom>
          <a:solidFill>
            <a:srgbClr val="FFFFFF"/>
          </a:solidFill>
          <a:ln w="15240">
            <a:solidFill>
              <a:srgbClr val="E2E8F0"/>
            </a:solidFill>
            <a:prstDash val="solid"/>
          </a:ln>
        </p:spPr>
      </p:sp>
      <p:sp>
        <p:nvSpPr>
          <p:cNvPr id="15" name="Shape 13"/>
          <p:cNvSpPr/>
          <p:nvPr/>
        </p:nvSpPr>
        <p:spPr>
          <a:xfrm>
            <a:off x="3429000" y="1920240"/>
            <a:ext cx="2560320" cy="73152"/>
          </a:xfrm>
          <a:prstGeom prst="rect">
            <a:avLst/>
          </a:prstGeom>
          <a:solidFill>
            <a:srgbClr val="003B95"/>
          </a:solidFill>
          <a:ln/>
        </p:spPr>
      </p:sp>
      <p:sp>
        <p:nvSpPr>
          <p:cNvPr id="16" name="Shape 14"/>
          <p:cNvSpPr/>
          <p:nvPr/>
        </p:nvSpPr>
        <p:spPr>
          <a:xfrm>
            <a:off x="3657600" y="2148840"/>
            <a:ext cx="2103120" cy="292608"/>
          </a:xfrm>
          <a:prstGeom prst="rect">
            <a:avLst/>
          </a:prstGeom>
          <a:solidFill>
            <a:srgbClr val="EFF6FF"/>
          </a:solidFill>
          <a:ln/>
        </p:spPr>
      </p:sp>
      <p:sp>
        <p:nvSpPr>
          <p:cNvPr id="17" name="Text 15"/>
          <p:cNvSpPr/>
          <p:nvPr/>
        </p:nvSpPr>
        <p:spPr>
          <a:xfrm>
            <a:off x="365760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2 (QUÝ 3 - QUÝ 4/2026)</a:t>
            </a:r>
            <a:endParaRPr lang="en-US" sz="850" dirty="0"/>
          </a:p>
        </p:txBody>
      </p:sp>
      <p:sp>
        <p:nvSpPr>
          <p:cNvPr id="18" name="Text 16"/>
          <p:cNvSpPr/>
          <p:nvPr/>
        </p:nvSpPr>
        <p:spPr>
          <a:xfrm>
            <a:off x="365760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Tích Hợp AI Gợi Ý Kết Nối Kinh Doanh</a:t>
            </a:r>
            <a:endParaRPr lang="en-US" sz="1300" dirty="0"/>
          </a:p>
        </p:txBody>
      </p:sp>
      <p:sp>
        <p:nvSpPr>
          <p:cNvPr id="19" name="Text 17"/>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AI phân tích nhu cầu tìm kiếm để tự động thông báo đối tác phù hợp nhất; Tích hợp ví Voucher điện tử ưu đãi dịch vụ giữa các doanh nghiệp hội viên.</a:t>
            </a:r>
            <a:endParaRPr lang="en-US" sz="1100" dirty="0"/>
          </a:p>
        </p:txBody>
      </p:sp>
      <p:sp>
        <p:nvSpPr>
          <p:cNvPr id="20" name="Shape 18"/>
          <p:cNvSpPr/>
          <p:nvPr/>
        </p:nvSpPr>
        <p:spPr>
          <a:xfrm>
            <a:off x="6126480" y="1920240"/>
            <a:ext cx="2560320" cy="4206240"/>
          </a:xfrm>
          <a:prstGeom prst="rect">
            <a:avLst/>
          </a:prstGeom>
          <a:solidFill>
            <a:srgbClr val="FFFFFF"/>
          </a:solidFill>
          <a:ln w="15240">
            <a:solidFill>
              <a:srgbClr val="E2E8F0"/>
            </a:solidFill>
            <a:prstDash val="solid"/>
          </a:ln>
        </p:spPr>
      </p:sp>
      <p:sp>
        <p:nvSpPr>
          <p:cNvPr id="21" name="Shape 19"/>
          <p:cNvSpPr/>
          <p:nvPr/>
        </p:nvSpPr>
        <p:spPr>
          <a:xfrm>
            <a:off x="6126480" y="1920240"/>
            <a:ext cx="2560320" cy="73152"/>
          </a:xfrm>
          <a:prstGeom prst="rect">
            <a:avLst/>
          </a:prstGeom>
          <a:solidFill>
            <a:srgbClr val="003B95"/>
          </a:solidFill>
          <a:ln/>
        </p:spPr>
      </p:sp>
      <p:sp>
        <p:nvSpPr>
          <p:cNvPr id="22" name="Shape 20"/>
          <p:cNvSpPr/>
          <p:nvPr/>
        </p:nvSpPr>
        <p:spPr>
          <a:xfrm>
            <a:off x="6355080" y="2148840"/>
            <a:ext cx="2103120" cy="292608"/>
          </a:xfrm>
          <a:prstGeom prst="rect">
            <a:avLst/>
          </a:prstGeom>
          <a:solidFill>
            <a:srgbClr val="EFF6FF"/>
          </a:solidFill>
          <a:ln/>
        </p:spPr>
      </p:sp>
      <p:sp>
        <p:nvSpPr>
          <p:cNvPr id="23" name="Text 21"/>
          <p:cNvSpPr/>
          <p:nvPr/>
        </p:nvSpPr>
        <p:spPr>
          <a:xfrm>
            <a:off x="635508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3 (NĂM 2027)</a:t>
            </a:r>
            <a:endParaRPr lang="en-US" sz="850" dirty="0"/>
          </a:p>
        </p:txBody>
      </p:sp>
      <p:sp>
        <p:nvSpPr>
          <p:cNvPr id="24" name="Text 22"/>
          <p:cNvSpPr/>
          <p:nvPr/>
        </p:nvSpPr>
        <p:spPr>
          <a:xfrm>
            <a:off x="635508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Hệ Thống Đào Tạo Trực Tuyến &amp; Podcast</a:t>
            </a:r>
            <a:endParaRPr lang="en-US" sz="1300" dirty="0"/>
          </a:p>
        </p:txBody>
      </p:sp>
      <p:sp>
        <p:nvSpPr>
          <p:cNvPr id="25" name="Text 23"/>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Kho bài giảng quản trị doanh nghiệp độc quyền, phát thanh chuỗi Podcast chia sẻ kinh nghiệm kinh doanh của các Chủ tịch tiêu biểu trong CLB.</a:t>
            </a:r>
            <a:endParaRPr lang="en-US" sz="1100" dirty="0"/>
          </a:p>
        </p:txBody>
      </p:sp>
      <p:sp>
        <p:nvSpPr>
          <p:cNvPr id="26" name="Shape 24"/>
          <p:cNvSpPr/>
          <p:nvPr/>
        </p:nvSpPr>
        <p:spPr>
          <a:xfrm>
            <a:off x="8823960" y="1920240"/>
            <a:ext cx="2560320" cy="4206240"/>
          </a:xfrm>
          <a:prstGeom prst="rect">
            <a:avLst/>
          </a:prstGeom>
          <a:solidFill>
            <a:srgbClr val="FFFFFF"/>
          </a:solidFill>
          <a:ln w="15240">
            <a:solidFill>
              <a:srgbClr val="E2E8F0"/>
            </a:solidFill>
            <a:prstDash val="solid"/>
          </a:ln>
        </p:spPr>
      </p:sp>
      <p:sp>
        <p:nvSpPr>
          <p:cNvPr id="27" name="Shape 25"/>
          <p:cNvSpPr/>
          <p:nvPr/>
        </p:nvSpPr>
        <p:spPr>
          <a:xfrm>
            <a:off x="8823960" y="1920240"/>
            <a:ext cx="2560320" cy="73152"/>
          </a:xfrm>
          <a:prstGeom prst="rect">
            <a:avLst/>
          </a:prstGeom>
          <a:solidFill>
            <a:srgbClr val="003B95"/>
          </a:solidFill>
          <a:ln/>
        </p:spPr>
      </p:sp>
      <p:sp>
        <p:nvSpPr>
          <p:cNvPr id="28" name="Shape 26"/>
          <p:cNvSpPr/>
          <p:nvPr/>
        </p:nvSpPr>
        <p:spPr>
          <a:xfrm>
            <a:off x="9052560" y="2148840"/>
            <a:ext cx="2103120" cy="292608"/>
          </a:xfrm>
          <a:prstGeom prst="rect">
            <a:avLst/>
          </a:prstGeom>
          <a:solidFill>
            <a:srgbClr val="EFF6FF"/>
          </a:solidFill>
          <a:ln/>
        </p:spPr>
      </p:sp>
      <p:sp>
        <p:nvSpPr>
          <p:cNvPr id="29" name="Text 27"/>
          <p:cNvSpPr/>
          <p:nvPr/>
        </p:nvSpPr>
        <p:spPr>
          <a:xfrm>
            <a:off x="905256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4 (NĂM 2028)</a:t>
            </a:r>
            <a:endParaRPr lang="en-US" sz="850" dirty="0"/>
          </a:p>
        </p:txBody>
      </p:sp>
      <p:sp>
        <p:nvSpPr>
          <p:cNvPr id="30" name="Text 28"/>
          <p:cNvSpPr/>
          <p:nvPr/>
        </p:nvSpPr>
        <p:spPr>
          <a:xfrm>
            <a:off x="905256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Mạng Lưới Giao Thương Đa Ngôn Ngữ</a:t>
            </a:r>
            <a:endParaRPr lang="en-US" sz="1300" dirty="0"/>
          </a:p>
        </p:txBody>
      </p:sp>
      <p:sp>
        <p:nvSpPr>
          <p:cNvPr id="31" name="Text 29"/>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Bổ sung giao diện tiếng Anh và kết nối sàn thương mại điện tử liên kết với các hiệp hội doanh nhân trẻ quốc tế trong khu vực ASEAN.</a:t>
            </a:r>
            <a:endParaRPr lang="en-US" sz="1100" dirty="0"/>
          </a:p>
        </p:txBody>
      </p:sp>
      <p:sp>
        <p:nvSpPr>
          <p:cNvPr id="32" name="Shape 30"/>
          <p:cNvSpPr/>
          <p:nvPr/>
        </p:nvSpPr>
        <p:spPr>
          <a:xfrm>
            <a:off x="731520" y="6400800"/>
            <a:ext cx="10725912" cy="18288"/>
          </a:xfrm>
          <a:prstGeom prst="rect">
            <a:avLst/>
          </a:prstGeom>
          <a:solidFill>
            <a:srgbClr val="E2E8F0"/>
          </a:solidFill>
          <a:ln/>
        </p:spPr>
      </p:sp>
      <p:sp>
        <p:nvSpPr>
          <p:cNvPr id="33" name="Text 31"/>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34" name="Text 32"/>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0" y="73152"/>
            <a:ext cx="12188952" cy="27432"/>
          </a:xfrm>
          <a:prstGeom prst="rect">
            <a:avLst/>
          </a:prstGeom>
          <a:solidFill>
            <a:srgbClr val="F59E0B"/>
          </a:solidFill>
          <a:ln/>
        </p:spPr>
      </p:sp>
      <p:sp>
        <p:nvSpPr>
          <p:cNvPr id="4" name="Shape 2"/>
          <p:cNvSpPr/>
          <p:nvPr/>
        </p:nvSpPr>
        <p:spPr>
          <a:xfrm>
            <a:off x="731520" y="914400"/>
            <a:ext cx="4754880" cy="365760"/>
          </a:xfrm>
          <a:prstGeom prst="rect">
            <a:avLst/>
          </a:prstGeom>
          <a:solidFill>
            <a:srgbClr val="003B95"/>
          </a:solidFill>
          <a:ln w="19050">
            <a:solidFill>
              <a:srgbClr val="F59E0B"/>
            </a:solidFill>
            <a:prstDash val="solid"/>
          </a:ln>
        </p:spPr>
      </p:sp>
      <p:sp>
        <p:nvSpPr>
          <p:cNvPr id="5" name="Text 3"/>
          <p:cNvSpPr/>
          <p:nvPr/>
        </p:nvSpPr>
        <p:spPr>
          <a:xfrm>
            <a:off x="731520" y="914400"/>
            <a:ext cx="475488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ĐỒNG HÀNH CÙNG THÀNH CÔNG CỦA DOANH NHÂN</a:t>
            </a:r>
            <a:endParaRPr lang="en-US" sz="1100" dirty="0"/>
          </a:p>
        </p:txBody>
      </p:sp>
      <p:sp>
        <p:nvSpPr>
          <p:cNvPr id="6" name="Text 4"/>
          <p:cNvSpPr/>
          <p:nvPr/>
        </p:nvSpPr>
        <p:spPr>
          <a:xfrm>
            <a:off x="731520" y="1463040"/>
            <a:ext cx="10725912" cy="822960"/>
          </a:xfrm>
          <a:prstGeom prst="rect">
            <a:avLst/>
          </a:prstGeom>
          <a:noFill/>
          <a:ln/>
        </p:spPr>
        <p:txBody>
          <a:bodyPr wrap="square" rtlCol="0" anchor="ctr"/>
          <a:lstStyle/>
          <a:p>
            <a:pPr indent="0" marL="0">
              <a:buNone/>
            </a:pPr>
            <a:r>
              <a:rPr lang="en-US" sz="3200" b="1" dirty="0">
                <a:solidFill>
                  <a:srgbClr val="003B95"/>
                </a:solidFill>
                <a:latin typeface="Calibri" pitchFamily="34" charset="0"/>
                <a:ea typeface="Calibri" pitchFamily="34" charset="-122"/>
                <a:cs typeface="Calibri" pitchFamily="34" charset="-120"/>
              </a:rPr>
              <a:t>TỔNG KẾT &amp; KHẲNG ĐỊNH ĐẲNG CẤP HỘI VIÊN</a:t>
            </a:r>
            <a:endParaRPr lang="en-US" sz="3200" dirty="0"/>
          </a:p>
        </p:txBody>
      </p:sp>
      <p:sp>
        <p:nvSpPr>
          <p:cNvPr id="7" name="Text 5"/>
          <p:cNvSpPr/>
          <p:nvPr/>
        </p:nvSpPr>
        <p:spPr>
          <a:xfrm>
            <a:off x="731520" y="2331720"/>
            <a:ext cx="10725912" cy="457200"/>
          </a:xfrm>
          <a:prstGeom prst="rect">
            <a:avLst/>
          </a:prstGeom>
          <a:noFill/>
          <a:ln/>
        </p:spPr>
        <p:txBody>
          <a:bodyPr wrap="square" rtlCol="0" anchor="ctr"/>
          <a:lstStyle/>
          <a:p>
            <a:pPr indent="0" marL="0">
              <a:buNone/>
            </a:pPr>
            <a:r>
              <a:rPr lang="en-US" sz="1600" b="1" i="1" dirty="0">
                <a:solidFill>
                  <a:srgbClr val="003B95"/>
                </a:solidFill>
                <a:latin typeface="Calibri" pitchFamily="34" charset="0"/>
                <a:ea typeface="Calibri" pitchFamily="34" charset="-122"/>
                <a:cs typeface="Calibri" pitchFamily="34" charset="-120"/>
              </a:rPr>
              <a:t>Gắn kết chân tình · Hợp tác tin cậy · Phát triển thịnh vượng cùng cộng đồng CEO 1983</a:t>
            </a:r>
            <a:endParaRPr lang="en-US" sz="1600" dirty="0"/>
          </a:p>
        </p:txBody>
      </p:sp>
      <p:sp>
        <p:nvSpPr>
          <p:cNvPr id="8" name="Shape 6"/>
          <p:cNvSpPr/>
          <p:nvPr/>
        </p:nvSpPr>
        <p:spPr>
          <a:xfrm>
            <a:off x="731520" y="3108960"/>
            <a:ext cx="3383280" cy="2743200"/>
          </a:xfrm>
          <a:prstGeom prst="rect">
            <a:avLst/>
          </a:prstGeom>
          <a:solidFill>
            <a:srgbClr val="FFFFFF"/>
          </a:solidFill>
          <a:ln w="15240">
            <a:solidFill>
              <a:srgbClr val="E2E8F0"/>
            </a:solidFill>
            <a:prstDash val="solid"/>
          </a:ln>
        </p:spPr>
      </p:sp>
      <p:sp>
        <p:nvSpPr>
          <p:cNvPr id="9" name="Shape 7"/>
          <p:cNvSpPr/>
          <p:nvPr/>
        </p:nvSpPr>
        <p:spPr>
          <a:xfrm>
            <a:off x="1005840" y="3246120"/>
            <a:ext cx="365760" cy="36576"/>
          </a:xfrm>
          <a:prstGeom prst="rect">
            <a:avLst/>
          </a:prstGeom>
          <a:solidFill>
            <a:srgbClr val="F59E0B"/>
          </a:solidFill>
          <a:ln/>
        </p:spPr>
      </p:sp>
      <p:sp>
        <p:nvSpPr>
          <p:cNvPr id="10" name="Text 8"/>
          <p:cNvSpPr/>
          <p:nvPr/>
        </p:nvSpPr>
        <p:spPr>
          <a:xfrm>
            <a:off x="1005840" y="3383280"/>
            <a:ext cx="2834640" cy="54864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  Định Vị Thương Hiệu Đẳng Cấp</a:t>
            </a:r>
            <a:endParaRPr lang="en-US" sz="1400" dirty="0"/>
          </a:p>
        </p:txBody>
      </p:sp>
      <p:sp>
        <p:nvSpPr>
          <p:cNvPr id="11" name="Text 9"/>
          <p:cNvSpPr/>
          <p:nvPr/>
        </p:nvSpPr>
        <p:spPr>
          <a:xfrm>
            <a:off x="1005840" y="4023360"/>
            <a:ext cx="2834640" cy="155448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Mỗi hội viên sở hữu một tấm danh thiếp số độc bản và quyền tiếp cận hệ sinh thái kinh doanh chất lượng cao.</a:t>
            </a:r>
            <a:endParaRPr lang="en-US" sz="1150" dirty="0"/>
          </a:p>
        </p:txBody>
      </p:sp>
      <p:sp>
        <p:nvSpPr>
          <p:cNvPr id="12" name="Shape 10"/>
          <p:cNvSpPr/>
          <p:nvPr/>
        </p:nvSpPr>
        <p:spPr>
          <a:xfrm>
            <a:off x="4389120" y="3108960"/>
            <a:ext cx="3383280" cy="2743200"/>
          </a:xfrm>
          <a:prstGeom prst="rect">
            <a:avLst/>
          </a:prstGeom>
          <a:solidFill>
            <a:srgbClr val="FFFFFF"/>
          </a:solidFill>
          <a:ln w="15240">
            <a:solidFill>
              <a:srgbClr val="E2E8F0"/>
            </a:solidFill>
            <a:prstDash val="solid"/>
          </a:ln>
        </p:spPr>
      </p:sp>
      <p:sp>
        <p:nvSpPr>
          <p:cNvPr id="13" name="Shape 11"/>
          <p:cNvSpPr/>
          <p:nvPr/>
        </p:nvSpPr>
        <p:spPr>
          <a:xfrm>
            <a:off x="4663440" y="3246120"/>
            <a:ext cx="365760" cy="36576"/>
          </a:xfrm>
          <a:prstGeom prst="rect">
            <a:avLst/>
          </a:prstGeom>
          <a:solidFill>
            <a:srgbClr val="F59E0B"/>
          </a:solidFill>
          <a:ln/>
        </p:spPr>
      </p:sp>
      <p:sp>
        <p:nvSpPr>
          <p:cNvPr id="14" name="Text 12"/>
          <p:cNvSpPr/>
          <p:nvPr/>
        </p:nvSpPr>
        <p:spPr>
          <a:xfrm>
            <a:off x="4663440" y="3383280"/>
            <a:ext cx="2834640" cy="54864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  Cơ Hội Kinh Doanh Không Giới Hạn</a:t>
            </a:r>
            <a:endParaRPr lang="en-US" sz="1400" dirty="0"/>
          </a:p>
        </p:txBody>
      </p:sp>
      <p:sp>
        <p:nvSpPr>
          <p:cNvPr id="15" name="Text 13"/>
          <p:cNvSpPr/>
          <p:nvPr/>
        </p:nvSpPr>
        <p:spPr>
          <a:xfrm>
            <a:off x="4663440" y="4023360"/>
            <a:ext cx="2834640" cy="155448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Mạng lưới nội bộ vững chắc giúp doanh nghiệp mở rộng thị trường, tối ưu chi phí và tăng trưởng doanh thu.</a:t>
            </a:r>
            <a:endParaRPr lang="en-US" sz="1150" dirty="0"/>
          </a:p>
        </p:txBody>
      </p:sp>
      <p:sp>
        <p:nvSpPr>
          <p:cNvPr id="16" name="Shape 14"/>
          <p:cNvSpPr/>
          <p:nvPr/>
        </p:nvSpPr>
        <p:spPr>
          <a:xfrm>
            <a:off x="8046720" y="3108960"/>
            <a:ext cx="3383280" cy="2743200"/>
          </a:xfrm>
          <a:prstGeom prst="rect">
            <a:avLst/>
          </a:prstGeom>
          <a:solidFill>
            <a:srgbClr val="FFFFFF"/>
          </a:solidFill>
          <a:ln w="15240">
            <a:solidFill>
              <a:srgbClr val="E2E8F0"/>
            </a:solidFill>
            <a:prstDash val="solid"/>
          </a:ln>
        </p:spPr>
      </p:sp>
      <p:sp>
        <p:nvSpPr>
          <p:cNvPr id="17" name="Shape 15"/>
          <p:cNvSpPr/>
          <p:nvPr/>
        </p:nvSpPr>
        <p:spPr>
          <a:xfrm>
            <a:off x="8321040" y="3246120"/>
            <a:ext cx="365760" cy="36576"/>
          </a:xfrm>
          <a:prstGeom prst="rect">
            <a:avLst/>
          </a:prstGeom>
          <a:solidFill>
            <a:srgbClr val="F59E0B"/>
          </a:solidFill>
          <a:ln/>
        </p:spPr>
      </p:sp>
      <p:sp>
        <p:nvSpPr>
          <p:cNvPr id="18" name="Text 16"/>
          <p:cNvSpPr/>
          <p:nvPr/>
        </p:nvSpPr>
        <p:spPr>
          <a:xfrm>
            <a:off x="8321040" y="3383280"/>
            <a:ext cx="2834640" cy="54864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  Tiên Phong Chuyển Đổi Số</a:t>
            </a:r>
            <a:endParaRPr lang="en-US" sz="1400" dirty="0"/>
          </a:p>
        </p:txBody>
      </p:sp>
      <p:sp>
        <p:nvSpPr>
          <p:cNvPr id="19" name="Text 17"/>
          <p:cNvSpPr/>
          <p:nvPr/>
        </p:nvSpPr>
        <p:spPr>
          <a:xfrm>
            <a:off x="8321040" y="4023360"/>
            <a:ext cx="2834640" cy="155448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Tự hào là những nhà lãnh đạo thế hệ 1983 tiên phong ứng dụng công nghệ hiện đại vào quản trị và kết nối.</a:t>
            </a:r>
            <a:endParaRPr lang="en-US" sz="1150" dirty="0"/>
          </a:p>
        </p:txBody>
      </p:sp>
      <p:sp>
        <p:nvSpPr>
          <p:cNvPr id="20" name="Text 18"/>
          <p:cNvSpPr/>
          <p:nvPr/>
        </p:nvSpPr>
        <p:spPr>
          <a:xfrm>
            <a:off x="731520" y="6172200"/>
            <a:ext cx="10725912" cy="2743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Ứng Dụng Di Động Hội Viên · CLB Doanh Nhân CEO 1983 · Hội Doanh Nhân Trẻ Hà Nội (HanoiBA)</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360152" cy="137160"/>
          </a:xfrm>
          <a:prstGeom prst="rect">
            <a:avLst/>
          </a:prstGeom>
          <a:solidFill>
            <a:srgbClr val="003B95"/>
          </a:solidFill>
          <a:ln/>
        </p:spPr>
      </p:sp>
      <p:sp>
        <p:nvSpPr>
          <p:cNvPr id="3" name="Shape 1"/>
          <p:cNvSpPr/>
          <p:nvPr/>
        </p:nvSpPr>
        <p:spPr>
          <a:xfrm>
            <a:off x="10360152" y="0"/>
            <a:ext cx="1828800" cy="137160"/>
          </a:xfrm>
          <a:prstGeom prst="rect">
            <a:avLst/>
          </a:prstGeom>
          <a:solidFill>
            <a:srgbClr val="F59E0B"/>
          </a:solidFill>
          <a:ln/>
        </p:spPr>
      </p:sp>
      <p:sp>
        <p:nvSpPr>
          <p:cNvPr id="4" name="Shape 2"/>
          <p:cNvSpPr/>
          <p:nvPr/>
        </p:nvSpPr>
        <p:spPr>
          <a:xfrm>
            <a:off x="2286000" y="822960"/>
            <a:ext cx="7616952" cy="411480"/>
          </a:xfrm>
          <a:prstGeom prst="rect">
            <a:avLst/>
          </a:prstGeom>
          <a:solidFill>
            <a:srgbClr val="003B95"/>
          </a:solidFill>
          <a:ln w="19050">
            <a:solidFill>
              <a:srgbClr val="F59E0B"/>
            </a:solidFill>
            <a:prstDash val="solid"/>
          </a:ln>
        </p:spPr>
      </p:sp>
      <p:sp>
        <p:nvSpPr>
          <p:cNvPr id="5" name="Text 3"/>
          <p:cNvSpPr/>
          <p:nvPr/>
        </p:nvSpPr>
        <p:spPr>
          <a:xfrm>
            <a:off x="2286000" y="822960"/>
            <a:ext cx="7616952"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HỆ SINH THÁI SỐ HÓA DOANH NHÂN CEO 1983</a:t>
            </a:r>
            <a:endParaRPr lang="en-US" sz="1200" dirty="0"/>
          </a:p>
        </p:txBody>
      </p:sp>
      <p:sp>
        <p:nvSpPr>
          <p:cNvPr id="6" name="Text 4"/>
          <p:cNvSpPr/>
          <p:nvPr/>
        </p:nvSpPr>
        <p:spPr>
          <a:xfrm>
            <a:off x="914400" y="1417320"/>
            <a:ext cx="10360152" cy="822960"/>
          </a:xfrm>
          <a:prstGeom prst="rect">
            <a:avLst/>
          </a:prstGeom>
          <a:noFill/>
          <a:ln/>
        </p:spPr>
        <p:txBody>
          <a:bodyPr wrap="square" rtlCol="0" anchor="ctr"/>
          <a:lstStyle/>
          <a:p>
            <a:pPr algn="ctr" indent="0" marL="0">
              <a:buNone/>
            </a:pPr>
            <a:r>
              <a:rPr lang="en-US" sz="4000" b="1" dirty="0">
                <a:solidFill>
                  <a:srgbClr val="003B95"/>
                </a:solidFill>
                <a:latin typeface="Calibri" pitchFamily="34" charset="0"/>
                <a:ea typeface="Calibri" pitchFamily="34" charset="-122"/>
                <a:cs typeface="Calibri" pitchFamily="34" charset="-120"/>
              </a:rPr>
              <a:t>XIN TRÂN TRỌNG CẢM ƠN!</a:t>
            </a:r>
            <a:endParaRPr lang="en-US" sz="4000" dirty="0"/>
          </a:p>
        </p:txBody>
      </p:sp>
      <p:sp>
        <p:nvSpPr>
          <p:cNvPr id="7" name="Text 5"/>
          <p:cNvSpPr/>
          <p:nvPr/>
        </p:nvSpPr>
        <p:spPr>
          <a:xfrm>
            <a:off x="914400" y="2286000"/>
            <a:ext cx="10360152" cy="411480"/>
          </a:xfrm>
          <a:prstGeom prst="rect">
            <a:avLst/>
          </a:prstGeom>
          <a:noFill/>
          <a:ln/>
        </p:spPr>
        <p:txBody>
          <a:bodyPr wrap="square" rtlCol="0" anchor="ctr"/>
          <a:lstStyle/>
          <a:p>
            <a:pPr algn="ctr" indent="0" marL="0">
              <a:buNone/>
            </a:pPr>
            <a:r>
              <a:rPr lang="en-US" sz="1550" b="1" dirty="0">
                <a:solidFill>
                  <a:srgbClr val="003B95"/>
                </a:solidFill>
                <a:latin typeface="Calibri" pitchFamily="34" charset="0"/>
                <a:ea typeface="Calibri" pitchFamily="34" charset="-122"/>
                <a:cs typeface="Calibri" pitchFamily="34" charset="-120"/>
              </a:rPr>
              <a:t>ĐỒNG HÀNH CÙNG SỰ PHÁT TRIỂN VỮNG MẠNH VÀ THÀNH CÔNG CỦA QUÝ HỘI VIÊN!</a:t>
            </a:r>
            <a:endParaRPr lang="en-US" sz="1550" dirty="0"/>
          </a:p>
        </p:txBody>
      </p:sp>
      <p:sp>
        <p:nvSpPr>
          <p:cNvPr id="8" name="Text 6"/>
          <p:cNvSpPr/>
          <p:nvPr/>
        </p:nvSpPr>
        <p:spPr>
          <a:xfrm>
            <a:off x="914400" y="2743200"/>
            <a:ext cx="10360152" cy="365760"/>
          </a:xfrm>
          <a:prstGeom prst="rect">
            <a:avLst/>
          </a:prstGeom>
          <a:noFill/>
          <a:ln/>
        </p:spPr>
        <p:txBody>
          <a:bodyPr wrap="square" rtlCol="0" anchor="ctr"/>
          <a:lstStyle/>
          <a:p>
            <a:pPr algn="ctr" indent="0" marL="0">
              <a:buNone/>
            </a:pPr>
            <a:r>
              <a:rPr lang="en-US" sz="1350" b="1" i="1" dirty="0">
                <a:solidFill>
                  <a:srgbClr val="F59E0B"/>
                </a:solidFill>
                <a:latin typeface="Calibri" pitchFamily="34" charset="0"/>
                <a:ea typeface="Calibri" pitchFamily="34" charset="-122"/>
                <a:cs typeface="Calibri" pitchFamily="34" charset="-120"/>
              </a:rPr>
              <a:t>"TIÊN PHONG CHUYỂN ĐỔI SỐ  ·  GẮN KẾT VƯƠN XA"</a:t>
            </a:r>
            <a:endParaRPr lang="en-US" sz="1350" dirty="0"/>
          </a:p>
        </p:txBody>
      </p:sp>
      <p:sp>
        <p:nvSpPr>
          <p:cNvPr id="9" name="Shape 7"/>
          <p:cNvSpPr/>
          <p:nvPr/>
        </p:nvSpPr>
        <p:spPr>
          <a:xfrm>
            <a:off x="914400" y="3337560"/>
            <a:ext cx="3291840" cy="2560320"/>
          </a:xfrm>
          <a:prstGeom prst="rect">
            <a:avLst/>
          </a:prstGeom>
          <a:solidFill>
            <a:srgbClr val="FFFFFF"/>
          </a:solidFill>
          <a:ln w="19050">
            <a:solidFill>
              <a:srgbClr val="E2E8F0"/>
            </a:solidFill>
            <a:prstDash val="solid"/>
          </a:ln>
        </p:spPr>
      </p:sp>
      <p:sp>
        <p:nvSpPr>
          <p:cNvPr id="10" name="Shape 8"/>
          <p:cNvSpPr/>
          <p:nvPr/>
        </p:nvSpPr>
        <p:spPr>
          <a:xfrm>
            <a:off x="2377440" y="3337560"/>
            <a:ext cx="365760" cy="36576"/>
          </a:xfrm>
          <a:prstGeom prst="rect">
            <a:avLst/>
          </a:prstGeom>
          <a:solidFill>
            <a:srgbClr val="F59E0B"/>
          </a:solidFill>
          <a:ln/>
        </p:spPr>
      </p:sp>
      <p:sp>
        <p:nvSpPr>
          <p:cNvPr id="11" name="Text 9"/>
          <p:cNvSpPr/>
          <p:nvPr/>
        </p:nvSpPr>
        <p:spPr>
          <a:xfrm>
            <a:off x="914400" y="3520440"/>
            <a:ext cx="3291840" cy="45720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1051560" y="4069080"/>
            <a:ext cx="3017520" cy="365760"/>
          </a:xfrm>
          <a:prstGeom prst="rect">
            <a:avLst/>
          </a:prstGeom>
          <a:noFill/>
          <a:ln/>
        </p:spPr>
        <p:txBody>
          <a:bodyPr wrap="square" rtlCol="0" anchor="ctr"/>
          <a:lstStyle/>
          <a:p>
            <a:pPr algn="ctr" indent="0" marL="0">
              <a:buNone/>
            </a:pPr>
            <a:r>
              <a:rPr lang="en-US" sz="1250" b="1" dirty="0">
                <a:solidFill>
                  <a:srgbClr val="003B95"/>
                </a:solidFill>
                <a:latin typeface="Calibri" pitchFamily="34" charset="0"/>
                <a:ea typeface="Calibri" pitchFamily="34" charset="-122"/>
                <a:cs typeface="Calibri" pitchFamily="34" charset="-120"/>
              </a:rPr>
              <a:t>CÀI ĐẶT ỨNG DỤNG NGAY</a:t>
            </a:r>
            <a:endParaRPr lang="en-US" sz="1250" dirty="0"/>
          </a:p>
        </p:txBody>
      </p:sp>
      <p:sp>
        <p:nvSpPr>
          <p:cNvPr id="13" name="Text 11"/>
          <p:cNvSpPr/>
          <p:nvPr/>
        </p:nvSpPr>
        <p:spPr>
          <a:xfrm>
            <a:off x="1051560" y="4434840"/>
            <a:ext cx="3017520" cy="320040"/>
          </a:xfrm>
          <a:prstGeom prst="rect">
            <a:avLst/>
          </a:prstGeom>
          <a:noFill/>
          <a:ln/>
        </p:spPr>
        <p:txBody>
          <a:bodyPr wrap="square"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Hỗ trợ iOS PWA &amp; Android</a:t>
            </a:r>
            <a:endParaRPr lang="en-US" sz="1050" dirty="0"/>
          </a:p>
        </p:txBody>
      </p:sp>
      <p:sp>
        <p:nvSpPr>
          <p:cNvPr id="14" name="Text 12"/>
          <p:cNvSpPr/>
          <p:nvPr/>
        </p:nvSpPr>
        <p:spPr>
          <a:xfrm>
            <a:off x="1097280" y="4800600"/>
            <a:ext cx="2926080" cy="960120"/>
          </a:xfrm>
          <a:prstGeom prst="rect">
            <a:avLst/>
          </a:prstGeom>
          <a:noFill/>
          <a:ln/>
        </p:spPr>
        <p:txBody>
          <a:bodyPr wrap="square" rtlCol="0" anchor="ctr"/>
          <a:lstStyle/>
          <a:p>
            <a:pPr algn="ctr" indent="0" marL="0">
              <a:buNone/>
            </a:pPr>
            <a:r>
              <a:rPr lang="en-US" sz="1050" dirty="0">
                <a:solidFill>
                  <a:srgbClr val="334155"/>
                </a:solidFill>
                <a:latin typeface="Calibri" pitchFamily="34" charset="0"/>
                <a:ea typeface="Calibri" pitchFamily="34" charset="-122"/>
                <a:cs typeface="Calibri" pitchFamily="34" charset="-120"/>
              </a:rPr>
              <a:t>Cài đặt trực tiếp lên màn hình chính điện thoại, không cần tải lại, tự động đồng bộ mọi quyền lợi và vé sự kiện.</a:t>
            </a:r>
            <a:endParaRPr lang="en-US" sz="1050" dirty="0"/>
          </a:p>
        </p:txBody>
      </p:sp>
      <p:sp>
        <p:nvSpPr>
          <p:cNvPr id="15" name="Shape 13"/>
          <p:cNvSpPr/>
          <p:nvPr/>
        </p:nvSpPr>
        <p:spPr>
          <a:xfrm>
            <a:off x="4480560" y="3337560"/>
            <a:ext cx="3291840" cy="2560320"/>
          </a:xfrm>
          <a:prstGeom prst="rect">
            <a:avLst/>
          </a:prstGeom>
          <a:solidFill>
            <a:srgbClr val="FFFFFF"/>
          </a:solidFill>
          <a:ln w="19050">
            <a:solidFill>
              <a:srgbClr val="E2E8F0"/>
            </a:solidFill>
            <a:prstDash val="solid"/>
          </a:ln>
        </p:spPr>
      </p:sp>
      <p:sp>
        <p:nvSpPr>
          <p:cNvPr id="16" name="Shape 14"/>
          <p:cNvSpPr/>
          <p:nvPr/>
        </p:nvSpPr>
        <p:spPr>
          <a:xfrm>
            <a:off x="5943600" y="3337560"/>
            <a:ext cx="365760" cy="36576"/>
          </a:xfrm>
          <a:prstGeom prst="rect">
            <a:avLst/>
          </a:prstGeom>
          <a:solidFill>
            <a:srgbClr val="F59E0B"/>
          </a:solidFill>
          <a:ln/>
        </p:spPr>
      </p:sp>
      <p:sp>
        <p:nvSpPr>
          <p:cNvPr id="17" name="Text 15"/>
          <p:cNvSpPr/>
          <p:nvPr/>
        </p:nvSpPr>
        <p:spPr>
          <a:xfrm>
            <a:off x="4480560" y="3520440"/>
            <a:ext cx="3291840" cy="45720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8" name="Text 16"/>
          <p:cNvSpPr/>
          <p:nvPr/>
        </p:nvSpPr>
        <p:spPr>
          <a:xfrm>
            <a:off x="4617720" y="4069080"/>
            <a:ext cx="3017520" cy="365760"/>
          </a:xfrm>
          <a:prstGeom prst="rect">
            <a:avLst/>
          </a:prstGeom>
          <a:noFill/>
          <a:ln/>
        </p:spPr>
        <p:txBody>
          <a:bodyPr wrap="square" rtlCol="0" anchor="ctr"/>
          <a:lstStyle/>
          <a:p>
            <a:pPr algn="ctr" indent="0" marL="0">
              <a:buNone/>
            </a:pPr>
            <a:r>
              <a:rPr lang="en-US" sz="1250" b="1" dirty="0">
                <a:solidFill>
                  <a:srgbClr val="003B95"/>
                </a:solidFill>
                <a:latin typeface="Calibri" pitchFamily="34" charset="0"/>
                <a:ea typeface="Calibri" pitchFamily="34" charset="-122"/>
                <a:cs typeface="Calibri" pitchFamily="34" charset="-120"/>
              </a:rPr>
              <a:t>HỎI ĐÁP &amp; CHIA SẺ (Q&amp;A)</a:t>
            </a:r>
            <a:endParaRPr lang="en-US" sz="1250" dirty="0"/>
          </a:p>
        </p:txBody>
      </p:sp>
      <p:sp>
        <p:nvSpPr>
          <p:cNvPr id="19" name="Text 17"/>
          <p:cNvSpPr/>
          <p:nvPr/>
        </p:nvSpPr>
        <p:spPr>
          <a:xfrm>
            <a:off x="4617720" y="4434840"/>
            <a:ext cx="3017520" cy="320040"/>
          </a:xfrm>
          <a:prstGeom prst="rect">
            <a:avLst/>
          </a:prstGeom>
          <a:noFill/>
          <a:ln/>
        </p:spPr>
        <p:txBody>
          <a:bodyPr wrap="square"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Lắng nghe phản hồi từ hội viên</a:t>
            </a:r>
            <a:endParaRPr lang="en-US" sz="1050" dirty="0"/>
          </a:p>
        </p:txBody>
      </p:sp>
      <p:sp>
        <p:nvSpPr>
          <p:cNvPr id="20" name="Text 18"/>
          <p:cNvSpPr/>
          <p:nvPr/>
        </p:nvSpPr>
        <p:spPr>
          <a:xfrm>
            <a:off x="4663440" y="4800600"/>
            <a:ext cx="2926080" cy="960120"/>
          </a:xfrm>
          <a:prstGeom prst="rect">
            <a:avLst/>
          </a:prstGeom>
          <a:noFill/>
          <a:ln/>
        </p:spPr>
        <p:txBody>
          <a:bodyPr wrap="square" rtlCol="0" anchor="ctr"/>
          <a:lstStyle/>
          <a:p>
            <a:pPr algn="ctr" indent="0" marL="0">
              <a:buNone/>
            </a:pPr>
            <a:r>
              <a:rPr lang="en-US" sz="1050" dirty="0">
                <a:solidFill>
                  <a:srgbClr val="334155"/>
                </a:solidFill>
                <a:latin typeface="Calibri" pitchFamily="34" charset="0"/>
                <a:ea typeface="Calibri" pitchFamily="34" charset="-122"/>
                <a:cs typeface="Calibri" pitchFamily="34" charset="-120"/>
              </a:rPr>
              <a:t>Mọi ý kiến đóng góp của Quý Doanh nhân là động lực để Ban Thư Ký liên tục nâng cấp và tối ưu hóa trải nghiệm.</a:t>
            </a:r>
            <a:endParaRPr lang="en-US" sz="1050" dirty="0"/>
          </a:p>
        </p:txBody>
      </p:sp>
      <p:sp>
        <p:nvSpPr>
          <p:cNvPr id="21" name="Shape 19"/>
          <p:cNvSpPr/>
          <p:nvPr/>
        </p:nvSpPr>
        <p:spPr>
          <a:xfrm>
            <a:off x="8046720" y="3337560"/>
            <a:ext cx="3291840" cy="2560320"/>
          </a:xfrm>
          <a:prstGeom prst="rect">
            <a:avLst/>
          </a:prstGeom>
          <a:solidFill>
            <a:srgbClr val="FFFFFF"/>
          </a:solidFill>
          <a:ln w="19050">
            <a:solidFill>
              <a:srgbClr val="E2E8F0"/>
            </a:solidFill>
            <a:prstDash val="solid"/>
          </a:ln>
        </p:spPr>
      </p:sp>
      <p:sp>
        <p:nvSpPr>
          <p:cNvPr id="22" name="Shape 20"/>
          <p:cNvSpPr/>
          <p:nvPr/>
        </p:nvSpPr>
        <p:spPr>
          <a:xfrm>
            <a:off x="9509760" y="3337560"/>
            <a:ext cx="365760" cy="36576"/>
          </a:xfrm>
          <a:prstGeom prst="rect">
            <a:avLst/>
          </a:prstGeom>
          <a:solidFill>
            <a:srgbClr val="F59E0B"/>
          </a:solidFill>
          <a:ln/>
        </p:spPr>
      </p:sp>
      <p:sp>
        <p:nvSpPr>
          <p:cNvPr id="23" name="Text 21"/>
          <p:cNvSpPr/>
          <p:nvPr/>
        </p:nvSpPr>
        <p:spPr>
          <a:xfrm>
            <a:off x="8046720" y="3520440"/>
            <a:ext cx="3291840" cy="45720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4" name="Text 22"/>
          <p:cNvSpPr/>
          <p:nvPr/>
        </p:nvSpPr>
        <p:spPr>
          <a:xfrm>
            <a:off x="8183880" y="4069080"/>
            <a:ext cx="3017520" cy="365760"/>
          </a:xfrm>
          <a:prstGeom prst="rect">
            <a:avLst/>
          </a:prstGeom>
          <a:noFill/>
          <a:ln/>
        </p:spPr>
        <p:txBody>
          <a:bodyPr wrap="square" rtlCol="0" anchor="ctr"/>
          <a:lstStyle/>
          <a:p>
            <a:pPr algn="ctr" indent="0" marL="0">
              <a:buNone/>
            </a:pPr>
            <a:r>
              <a:rPr lang="en-US" sz="1250" b="1" dirty="0">
                <a:solidFill>
                  <a:srgbClr val="003B95"/>
                </a:solidFill>
                <a:latin typeface="Calibri" pitchFamily="34" charset="0"/>
                <a:ea typeface="Calibri" pitchFamily="34" charset="-122"/>
                <a:cs typeface="Calibri" pitchFamily="34" charset="-120"/>
              </a:rPr>
              <a:t>KẾT NỐI BAN THƯ KÝ</a:t>
            </a:r>
            <a:endParaRPr lang="en-US" sz="1250" dirty="0"/>
          </a:p>
        </p:txBody>
      </p:sp>
      <p:sp>
        <p:nvSpPr>
          <p:cNvPr id="25" name="Text 23"/>
          <p:cNvSpPr/>
          <p:nvPr/>
        </p:nvSpPr>
        <p:spPr>
          <a:xfrm>
            <a:off x="8183880" y="4434840"/>
            <a:ext cx="3017520" cy="320040"/>
          </a:xfrm>
          <a:prstGeom prst="rect">
            <a:avLst/>
          </a:prstGeom>
          <a:noFill/>
          <a:ln/>
        </p:spPr>
        <p:txBody>
          <a:bodyPr wrap="square"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Hỗ trợ kỹ thuật thẻ 24/7</a:t>
            </a:r>
            <a:endParaRPr lang="en-US" sz="1050" dirty="0"/>
          </a:p>
        </p:txBody>
      </p:sp>
      <p:sp>
        <p:nvSpPr>
          <p:cNvPr id="26" name="Text 24"/>
          <p:cNvSpPr/>
          <p:nvPr/>
        </p:nvSpPr>
        <p:spPr>
          <a:xfrm>
            <a:off x="8229600" y="4800600"/>
            <a:ext cx="2926080" cy="960120"/>
          </a:xfrm>
          <a:prstGeom prst="rect">
            <a:avLst/>
          </a:prstGeom>
          <a:noFill/>
          <a:ln/>
        </p:spPr>
        <p:txBody>
          <a:bodyPr wrap="square" rtlCol="0" anchor="ctr"/>
          <a:lstStyle/>
          <a:p>
            <a:pPr algn="ctr" indent="0" marL="0">
              <a:buNone/>
            </a:pPr>
            <a:r>
              <a:rPr lang="en-US" sz="1050" dirty="0">
                <a:solidFill>
                  <a:srgbClr val="334155"/>
                </a:solidFill>
                <a:latin typeface="Calibri" pitchFamily="34" charset="0"/>
                <a:ea typeface="Calibri" pitchFamily="34" charset="-122"/>
                <a:cs typeface="Calibri" pitchFamily="34" charset="-120"/>
              </a:rPr>
              <a:t>Hỗ trợ cấp lại mã hội viên M1983-xxx, cài đặt thẻ visit card, chia sẻ danh bạ và tham gia 7 Ban ngành chuyên trách.</a:t>
            </a:r>
            <a:endParaRPr lang="en-US" sz="1050" dirty="0"/>
          </a:p>
        </p:txBody>
      </p:sp>
      <p:sp>
        <p:nvSpPr>
          <p:cNvPr id="27" name="Text 25"/>
          <p:cNvSpPr/>
          <p:nvPr/>
        </p:nvSpPr>
        <p:spPr>
          <a:xfrm>
            <a:off x="914400" y="6263640"/>
            <a:ext cx="10360152" cy="274320"/>
          </a:xfrm>
          <a:prstGeom prst="rect">
            <a:avLst/>
          </a:prstGeom>
          <a:noFill/>
          <a:ln/>
        </p:spPr>
        <p:txBody>
          <a:bodyPr wrap="square"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Ứng Dụng Di Động Hội Viên · CLB Doanh Nhân CEO 1983 · Hội Doanh Nhân Trẻ Hà Nội (HanoiBA)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CLB Doanh Nhân CEO 1983 · HanoiBA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Thuyết Trình Ứng Dụng Di Động Hiệp Hội - CLB Doanh Nhân CEO 1983</dc:title>
  <dc:subject>PptxGenJS Presentation</dc:subject>
  <dc:creator>Ban Thư Ký CLB Doanh Nhân CEO 1983</dc:creator>
  <cp:lastModifiedBy>Ban Thư Ký CLB Doanh Nhân CEO 1983</cp:lastModifiedBy>
  <cp:revision>1</cp:revision>
  <dcterms:created xsi:type="dcterms:W3CDTF">2026-09-21T03:09:59Z</dcterms:created>
  <dcterms:modified xsi:type="dcterms:W3CDTF">2026-09-21T03:09:59Z</dcterms:modified>
</cp:coreProperties>
</file>
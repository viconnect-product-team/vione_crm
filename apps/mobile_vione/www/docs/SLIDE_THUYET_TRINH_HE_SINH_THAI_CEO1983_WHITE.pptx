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01 · GIỚI THIỆU HỆ THỐNG</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HỆ SINH THÁI CHUYỂN ĐỔI SỐ CLB DOANH NHÂN CEO 1983</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Giải pháp Quản trị Hiệp hội Chuyên sâu (Web CRM) song hành Nền tảng Giao thương Di động (Mobile App)</a:t>
            </a:r>
            <a:endParaRPr lang="en-US" sz="1100" dirty="0"/>
          </a:p>
        </p:txBody>
      </p:sp>
      <p:sp>
        <p:nvSpPr>
          <p:cNvPr id="6" name="Shape 4"/>
          <p:cNvSpPr/>
          <p:nvPr/>
        </p:nvSpPr>
        <p:spPr>
          <a:xfrm>
            <a:off x="548640" y="1737360"/>
            <a:ext cx="6217920" cy="1325880"/>
          </a:xfrm>
          <a:prstGeom prst="roundRect">
            <a:avLst/>
          </a:prstGeom>
          <a:solidFill>
            <a:srgbClr val="F8FAFC"/>
          </a:solidFill>
          <a:ln w="12700">
            <a:solidFill>
              <a:srgbClr val="E2E8F0"/>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0A1A3A"/>
                </a:solidFill>
              </a:rPr>
              <a:t>💻  Web CRM Quản Trị Trung Tâm</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Kiểm soát dữ liệu hội viên, phân quyền đa tầng, thẩm định cơ hội và quản trị ngân quỹ theo thời gian thực.</a:t>
            </a:r>
            <a:endParaRPr lang="en-US" sz="1050" dirty="0"/>
          </a:p>
        </p:txBody>
      </p:sp>
      <p:sp>
        <p:nvSpPr>
          <p:cNvPr id="9" name="Shape 7"/>
          <p:cNvSpPr/>
          <p:nvPr/>
        </p:nvSpPr>
        <p:spPr>
          <a:xfrm>
            <a:off x="548640" y="3200400"/>
            <a:ext cx="6217920" cy="1325880"/>
          </a:xfrm>
          <a:prstGeom prst="roundRect">
            <a:avLst/>
          </a:prstGeom>
          <a:solidFill>
            <a:srgbClr val="F8FAFC"/>
          </a:solidFill>
          <a:ln w="12700">
            <a:solidFill>
              <a:srgbClr val="E2E8F0"/>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0A1A3A"/>
                </a:solidFill>
              </a:rPr>
              <a:t>📱  Mobile App Doanh Nhân Bỏ Túi</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Văn phòng số cá nhân: Thẻ VIP tích hợp QR cá nhân, danh bạ doanh nghiệp, gian hàng ưu đãi &amp; sàn giao thương 24/7.</a:t>
            </a:r>
            <a:endParaRPr lang="en-US" sz="1050" dirty="0"/>
          </a:p>
        </p:txBody>
      </p:sp>
      <p:sp>
        <p:nvSpPr>
          <p:cNvPr id="12" name="Shape 10"/>
          <p:cNvSpPr/>
          <p:nvPr/>
        </p:nvSpPr>
        <p:spPr>
          <a:xfrm>
            <a:off x="548640" y="4663440"/>
            <a:ext cx="6217920" cy="1325880"/>
          </a:xfrm>
          <a:prstGeom prst="roundRect">
            <a:avLst/>
          </a:prstGeom>
          <a:solidFill>
            <a:srgbClr val="F8FAFC"/>
          </a:solidFill>
          <a:ln w="12700">
            <a:solidFill>
              <a:srgbClr val="E2E8F0"/>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0A1A3A"/>
                </a:solidFill>
              </a:rPr>
              <a:t>⚡  Đồng Bộ Dữ Liệu Hai Chiều Tức Thời</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Hội viên đăng ký trên App -&gt; Đổ thẳng về CRM xử lý -&gt; CRM tự động kích hoạt thẻ và quyền lợi tức thì.</a:t>
            </a:r>
            <a:endParaRPr lang="en-US" sz="1050" dirty="0"/>
          </a:p>
        </p:txBody>
      </p:sp>
      <p:pic>
        <p:nvPicPr>
          <p:cNvPr id="15" name="Image 0" descr="D:\download\VICONNECT\VIONE_PROJECT\viconnect_project\document\images\evidence\step_03_app_home_dashboard.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01 / 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02 · MỤC ĐÍCH TRIỂN KHAI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MỤC ĐÍCH &amp; SỨ MỆNH CHUYỂN ĐỔI SỐ HỘI QUÁN</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Giải quyết triệt để các bất cập trong quản lý truyền thống và nâng cao năng lực kết nối B2B</a:t>
            </a:r>
            <a:endParaRPr lang="en-US" sz="1100" dirty="0"/>
          </a:p>
        </p:txBody>
      </p:sp>
      <p:sp>
        <p:nvSpPr>
          <p:cNvPr id="6" name="Shape 4"/>
          <p:cNvSpPr/>
          <p:nvPr/>
        </p:nvSpPr>
        <p:spPr>
          <a:xfrm>
            <a:off x="548640" y="1828800"/>
            <a:ext cx="5394960" cy="1920240"/>
          </a:xfrm>
          <a:prstGeom prst="roundRect">
            <a:avLst/>
          </a:prstGeom>
          <a:solidFill>
            <a:srgbClr val="F8FAFC"/>
          </a:solidFill>
          <a:ln w="12700">
            <a:solidFill>
              <a:srgbClr val="E2E8F0"/>
            </a:solidFill>
            <a:prstDash val="solid"/>
          </a:ln>
        </p:spPr>
      </p:sp>
      <p:sp>
        <p:nvSpPr>
          <p:cNvPr id="7" name="Text 5"/>
          <p:cNvSpPr/>
          <p:nvPr/>
        </p:nvSpPr>
        <p:spPr>
          <a:xfrm>
            <a:off x="822960" y="2011680"/>
            <a:ext cx="914400" cy="457200"/>
          </a:xfrm>
          <a:prstGeom prst="rect">
            <a:avLst/>
          </a:prstGeom>
          <a:noFill/>
          <a:ln/>
        </p:spPr>
        <p:txBody>
          <a:bodyPr wrap="square" rtlCol="0" anchor="ctr"/>
          <a:lstStyle/>
          <a:p>
            <a:pPr indent="0" marL="0">
              <a:buNone/>
            </a:pPr>
            <a:r>
              <a:rPr lang="en-US" sz="2400" b="1" dirty="0">
                <a:solidFill>
                  <a:srgbClr val="D97706"/>
                </a:solidFill>
              </a:rPr>
              <a:t>01</a:t>
            </a:r>
            <a:endParaRPr lang="en-US" sz="2400" dirty="0"/>
          </a:p>
        </p:txBody>
      </p:sp>
      <p:sp>
        <p:nvSpPr>
          <p:cNvPr id="8" name="Text 6"/>
          <p:cNvSpPr/>
          <p:nvPr/>
        </p:nvSpPr>
        <p:spPr>
          <a:xfrm>
            <a:off x="822960" y="2514600"/>
            <a:ext cx="4846320" cy="320040"/>
          </a:xfrm>
          <a:prstGeom prst="rect">
            <a:avLst/>
          </a:prstGeom>
          <a:noFill/>
          <a:ln/>
        </p:spPr>
        <p:txBody>
          <a:bodyPr wrap="square" rtlCol="0" anchor="ctr"/>
          <a:lstStyle/>
          <a:p>
            <a:pPr indent="0" marL="0">
              <a:buNone/>
            </a:pPr>
            <a:r>
              <a:rPr lang="en-US" sz="1350" b="1" dirty="0">
                <a:solidFill>
                  <a:srgbClr val="0A1A3A"/>
                </a:solidFill>
              </a:rPr>
              <a:t>Số Hóa &amp; Bảo Mật Dữ Liệu Tập Trung</a:t>
            </a:r>
            <a:endParaRPr lang="en-US" sz="1350" dirty="0"/>
          </a:p>
        </p:txBody>
      </p:sp>
      <p:sp>
        <p:nvSpPr>
          <p:cNvPr id="9" name="Text 7"/>
          <p:cNvSpPr/>
          <p:nvPr/>
        </p:nvSpPr>
        <p:spPr>
          <a:xfrm>
            <a:off x="822960" y="288036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Chấm dứt việc lưu trữ danh sách hội viên phân tán trên nhiều file Excel cá nhân; tập trung toàn bộ hồ sơ doanh nghiệp vào cơ sở dữ liệu số an toàn.</a:t>
            </a:r>
            <a:endParaRPr lang="en-US" sz="1050" dirty="0"/>
          </a:p>
        </p:txBody>
      </p:sp>
      <p:sp>
        <p:nvSpPr>
          <p:cNvPr id="10" name="Shape 8"/>
          <p:cNvSpPr/>
          <p:nvPr/>
        </p:nvSpPr>
        <p:spPr>
          <a:xfrm>
            <a:off x="6217920" y="1828800"/>
            <a:ext cx="5394960" cy="1920240"/>
          </a:xfrm>
          <a:prstGeom prst="roundRect">
            <a:avLst/>
          </a:prstGeom>
          <a:solidFill>
            <a:srgbClr val="F8FAFC"/>
          </a:solidFill>
          <a:ln w="12700">
            <a:solidFill>
              <a:srgbClr val="E2E8F0"/>
            </a:solidFill>
            <a:prstDash val="solid"/>
          </a:ln>
        </p:spPr>
      </p:sp>
      <p:sp>
        <p:nvSpPr>
          <p:cNvPr id="11" name="Text 9"/>
          <p:cNvSpPr/>
          <p:nvPr/>
        </p:nvSpPr>
        <p:spPr>
          <a:xfrm>
            <a:off x="6492240" y="2011680"/>
            <a:ext cx="914400" cy="457200"/>
          </a:xfrm>
          <a:prstGeom prst="rect">
            <a:avLst/>
          </a:prstGeom>
          <a:noFill/>
          <a:ln/>
        </p:spPr>
        <p:txBody>
          <a:bodyPr wrap="square" rtlCol="0" anchor="ctr"/>
          <a:lstStyle/>
          <a:p>
            <a:pPr indent="0" marL="0">
              <a:buNone/>
            </a:pPr>
            <a:r>
              <a:rPr lang="en-US" sz="2400" b="1" dirty="0">
                <a:solidFill>
                  <a:srgbClr val="D97706"/>
                </a:solidFill>
              </a:rPr>
              <a:t>02</a:t>
            </a:r>
            <a:endParaRPr lang="en-US" sz="2400" dirty="0"/>
          </a:p>
        </p:txBody>
      </p:sp>
      <p:sp>
        <p:nvSpPr>
          <p:cNvPr id="12" name="Text 10"/>
          <p:cNvSpPr/>
          <p:nvPr/>
        </p:nvSpPr>
        <p:spPr>
          <a:xfrm>
            <a:off x="6492240" y="2514600"/>
            <a:ext cx="4846320" cy="320040"/>
          </a:xfrm>
          <a:prstGeom prst="rect">
            <a:avLst/>
          </a:prstGeom>
          <a:noFill/>
          <a:ln/>
        </p:spPr>
        <p:txBody>
          <a:bodyPr wrap="square" rtlCol="0" anchor="ctr"/>
          <a:lstStyle/>
          <a:p>
            <a:pPr indent="0" marL="0">
              <a:buNone/>
            </a:pPr>
            <a:r>
              <a:rPr lang="en-US" sz="1350" b="1" dirty="0">
                <a:solidFill>
                  <a:srgbClr val="0A1A3A"/>
                </a:solidFill>
              </a:rPr>
              <a:t>Tự Động Hóa Quản Lý Hội Phí</a:t>
            </a:r>
            <a:endParaRPr lang="en-US" sz="1350" dirty="0"/>
          </a:p>
        </p:txBody>
      </p:sp>
      <p:sp>
        <p:nvSpPr>
          <p:cNvPr id="13" name="Text 11"/>
          <p:cNvSpPr/>
          <p:nvPr/>
        </p:nvSpPr>
        <p:spPr>
          <a:xfrm>
            <a:off x="6492240" y="288036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Loại bỏ quy trình rà soát sao kê ngân hàng thủ công; tích hợp mã VietQR động để ghi nhận đóng hội phí thường niên và tự động gia hạn quyền lợi.</a:t>
            </a:r>
            <a:endParaRPr lang="en-US" sz="1050" dirty="0"/>
          </a:p>
        </p:txBody>
      </p:sp>
      <p:sp>
        <p:nvSpPr>
          <p:cNvPr id="14" name="Shape 12"/>
          <p:cNvSpPr/>
          <p:nvPr/>
        </p:nvSpPr>
        <p:spPr>
          <a:xfrm>
            <a:off x="548640" y="4023360"/>
            <a:ext cx="5394960" cy="1920240"/>
          </a:xfrm>
          <a:prstGeom prst="roundRect">
            <a:avLst/>
          </a:prstGeom>
          <a:solidFill>
            <a:srgbClr val="F8FAFC"/>
          </a:solidFill>
          <a:ln w="12700">
            <a:solidFill>
              <a:srgbClr val="E2E8F0"/>
            </a:solidFill>
            <a:prstDash val="solid"/>
          </a:ln>
        </p:spPr>
      </p:sp>
      <p:sp>
        <p:nvSpPr>
          <p:cNvPr id="15" name="Text 13"/>
          <p:cNvSpPr/>
          <p:nvPr/>
        </p:nvSpPr>
        <p:spPr>
          <a:xfrm>
            <a:off x="822960" y="4206240"/>
            <a:ext cx="914400" cy="457200"/>
          </a:xfrm>
          <a:prstGeom prst="rect">
            <a:avLst/>
          </a:prstGeom>
          <a:noFill/>
          <a:ln/>
        </p:spPr>
        <p:txBody>
          <a:bodyPr wrap="square" rtlCol="0" anchor="ctr"/>
          <a:lstStyle/>
          <a:p>
            <a:pPr indent="0" marL="0">
              <a:buNone/>
            </a:pPr>
            <a:r>
              <a:rPr lang="en-US" sz="2400" b="1" dirty="0">
                <a:solidFill>
                  <a:srgbClr val="D97706"/>
                </a:solidFill>
              </a:rPr>
              <a:t>03</a:t>
            </a:r>
            <a:endParaRPr lang="en-US" sz="2400" dirty="0"/>
          </a:p>
        </p:txBody>
      </p:sp>
      <p:sp>
        <p:nvSpPr>
          <p:cNvPr id="16" name="Text 14"/>
          <p:cNvSpPr/>
          <p:nvPr/>
        </p:nvSpPr>
        <p:spPr>
          <a:xfrm>
            <a:off x="822960" y="4709160"/>
            <a:ext cx="4846320" cy="320040"/>
          </a:xfrm>
          <a:prstGeom prst="rect">
            <a:avLst/>
          </a:prstGeom>
          <a:noFill/>
          <a:ln/>
        </p:spPr>
        <p:txBody>
          <a:bodyPr wrap="square" rtlCol="0" anchor="ctr"/>
          <a:lstStyle/>
          <a:p>
            <a:pPr indent="0" marL="0">
              <a:buNone/>
            </a:pPr>
            <a:r>
              <a:rPr lang="en-US" sz="1350" b="1" dirty="0">
                <a:solidFill>
                  <a:srgbClr val="0A1A3A"/>
                </a:solidFill>
              </a:rPr>
              <a:t>Nâng Tầm Chuyên Nghiệp Sự Kiện</a:t>
            </a:r>
            <a:endParaRPr lang="en-US" sz="1350" dirty="0"/>
          </a:p>
        </p:txBody>
      </p:sp>
      <p:sp>
        <p:nvSpPr>
          <p:cNvPr id="17" name="Text 15"/>
          <p:cNvSpPr/>
          <p:nvPr/>
        </p:nvSpPr>
        <p:spPr>
          <a:xfrm>
            <a:off x="822960" y="507492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Đón tiếp đại biểu tại cửa không tắc nghẽn nhờ vé điện tử QR Pass quét tức thì dưới 1 giây; tích hợp số hóa biểu quyết và quay số Lucky Draw công khai.</a:t>
            </a:r>
            <a:endParaRPr lang="en-US" sz="1050" dirty="0"/>
          </a:p>
        </p:txBody>
      </p:sp>
      <p:sp>
        <p:nvSpPr>
          <p:cNvPr id="18" name="Shape 16"/>
          <p:cNvSpPr/>
          <p:nvPr/>
        </p:nvSpPr>
        <p:spPr>
          <a:xfrm>
            <a:off x="6217920" y="4023360"/>
            <a:ext cx="5394960" cy="1920240"/>
          </a:xfrm>
          <a:prstGeom prst="roundRect">
            <a:avLst/>
          </a:prstGeom>
          <a:solidFill>
            <a:srgbClr val="F8FAFC"/>
          </a:solidFill>
          <a:ln w="12700">
            <a:solidFill>
              <a:srgbClr val="E2E8F0"/>
            </a:solidFill>
            <a:prstDash val="solid"/>
          </a:ln>
        </p:spPr>
      </p:sp>
      <p:sp>
        <p:nvSpPr>
          <p:cNvPr id="19" name="Text 17"/>
          <p:cNvSpPr/>
          <p:nvPr/>
        </p:nvSpPr>
        <p:spPr>
          <a:xfrm>
            <a:off x="6492240" y="4206240"/>
            <a:ext cx="914400" cy="457200"/>
          </a:xfrm>
          <a:prstGeom prst="rect">
            <a:avLst/>
          </a:prstGeom>
          <a:noFill/>
          <a:ln/>
        </p:spPr>
        <p:txBody>
          <a:bodyPr wrap="square" rtlCol="0" anchor="ctr"/>
          <a:lstStyle/>
          <a:p>
            <a:pPr indent="0" marL="0">
              <a:buNone/>
            </a:pPr>
            <a:r>
              <a:rPr lang="en-US" sz="2400" b="1" dirty="0">
                <a:solidFill>
                  <a:srgbClr val="D97706"/>
                </a:solidFill>
              </a:rPr>
              <a:t>04</a:t>
            </a:r>
            <a:endParaRPr lang="en-US" sz="2400" dirty="0"/>
          </a:p>
        </p:txBody>
      </p:sp>
      <p:sp>
        <p:nvSpPr>
          <p:cNvPr id="20" name="Text 18"/>
          <p:cNvSpPr/>
          <p:nvPr/>
        </p:nvSpPr>
        <p:spPr>
          <a:xfrm>
            <a:off x="6492240" y="4709160"/>
            <a:ext cx="4846320" cy="320040"/>
          </a:xfrm>
          <a:prstGeom prst="rect">
            <a:avLst/>
          </a:prstGeom>
          <a:noFill/>
          <a:ln/>
        </p:spPr>
        <p:txBody>
          <a:bodyPr wrap="square" rtlCol="0" anchor="ctr"/>
          <a:lstStyle/>
          <a:p>
            <a:pPr indent="0" marL="0">
              <a:buNone/>
            </a:pPr>
            <a:r>
              <a:rPr lang="en-US" sz="1350" b="1" dirty="0">
                <a:solidFill>
                  <a:srgbClr val="0A1A3A"/>
                </a:solidFill>
              </a:rPr>
              <a:t>Kích Hoạt Giao Thương Thực Chất</a:t>
            </a:r>
            <a:endParaRPr lang="en-US" sz="1350" dirty="0"/>
          </a:p>
        </p:txBody>
      </p:sp>
      <p:sp>
        <p:nvSpPr>
          <p:cNvPr id="21" name="Text 19"/>
          <p:cNvSpPr/>
          <p:nvPr/>
        </p:nvSpPr>
        <p:spPr>
          <a:xfrm>
            <a:off x="6492240" y="507492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Tạo lập không gian trao đổi cơ hội kinh doanh tin cậy nội khối, thúc đẩy doanh thu và quảng bá sản phẩm dịch vụ giữa các doanh nhân trong CLB.</a:t>
            </a:r>
            <a:endParaRPr lang="en-US" sz="105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23" name="Text 21"/>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03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WEB CRM: TRUNG TÂM ĐIỀU HÀNH &amp; KIỂM SOÁT DỮ LIỆU</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Công cụ hỗ trợ đắc lực dành cho Ban Thư ký và Ban Chấp hành trong công tác tổ chức hội quán</a:t>
            </a:r>
            <a:endParaRPr lang="en-US" sz="1100" dirty="0"/>
          </a:p>
        </p:txBody>
      </p:sp>
      <p:sp>
        <p:nvSpPr>
          <p:cNvPr id="6" name="Shape 4"/>
          <p:cNvSpPr/>
          <p:nvPr/>
        </p:nvSpPr>
        <p:spPr>
          <a:xfrm>
            <a:off x="548640" y="1737360"/>
            <a:ext cx="6217920" cy="1325880"/>
          </a:xfrm>
          <a:prstGeom prst="roundRect">
            <a:avLst/>
          </a:prstGeom>
          <a:solidFill>
            <a:srgbClr val="F8FAFC"/>
          </a:solidFill>
          <a:ln w="12700">
            <a:solidFill>
              <a:srgbClr val="E2E8F0"/>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0A1A3A"/>
                </a:solidFill>
              </a:rPr>
              <a:t>👥  Quản Lý Hội Viên &amp; Phê Duyệt Kết Nạp</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Tiếp nhận hồ sơ gia nhập trực tuyến, tra cứu lịch sử hoạt động, phân nhóm ngành nghề và cấp mã hội viên tự động.</a:t>
            </a:r>
            <a:endParaRPr lang="en-US" sz="1050" dirty="0"/>
          </a:p>
        </p:txBody>
      </p:sp>
      <p:sp>
        <p:nvSpPr>
          <p:cNvPr id="9" name="Shape 7"/>
          <p:cNvSpPr/>
          <p:nvPr/>
        </p:nvSpPr>
        <p:spPr>
          <a:xfrm>
            <a:off x="548640" y="3200400"/>
            <a:ext cx="6217920" cy="1325880"/>
          </a:xfrm>
          <a:prstGeom prst="roundRect">
            <a:avLst/>
          </a:prstGeom>
          <a:solidFill>
            <a:srgbClr val="F8FAFC"/>
          </a:solidFill>
          <a:ln w="12700">
            <a:solidFill>
              <a:srgbClr val="E2E8F0"/>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0A1A3A"/>
                </a:solidFill>
              </a:rPr>
              <a:t>📊  Giám Sát Chỉ Số KPI Theo Thời Gian Thực</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Biểu đồ trực quan theo dõi số lượng hội viên mới, tỷ lệ gia hạn hội phí, lưu lượng kết nối giao thương và ngân quỹ CLB.</a:t>
            </a:r>
            <a:endParaRPr lang="en-US" sz="1050" dirty="0"/>
          </a:p>
        </p:txBody>
      </p:sp>
      <p:sp>
        <p:nvSpPr>
          <p:cNvPr id="12" name="Shape 10"/>
          <p:cNvSpPr/>
          <p:nvPr/>
        </p:nvSpPr>
        <p:spPr>
          <a:xfrm>
            <a:off x="548640" y="4663440"/>
            <a:ext cx="6217920" cy="1325880"/>
          </a:xfrm>
          <a:prstGeom prst="roundRect">
            <a:avLst/>
          </a:prstGeom>
          <a:solidFill>
            <a:srgbClr val="F8FAFC"/>
          </a:solidFill>
          <a:ln w="12700">
            <a:solidFill>
              <a:srgbClr val="E2E8F0"/>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0A1A3A"/>
                </a:solidFill>
              </a:rPr>
              <a:t>🔐  Phân Quyền Vai Trò &amp; Bảo Mật Tuyệt Đối</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Kiểm soát truy cập chặt chẽ giữa Chủ tịch, Ban Thư ký, Kế toán và Ban Kiểm soát; lưu vết mọi thao tác chỉnh sửa dữ liệu.</a:t>
            </a:r>
            <a:endParaRPr lang="en-US" sz="1050" dirty="0"/>
          </a:p>
        </p:txBody>
      </p:sp>
      <p:pic>
        <p:nvPicPr>
          <p:cNvPr id="15" name="Image 0" descr="D:\download\VICONNECT\VIONE_PROJECT\viconnect_project\document\images\evidence\step_16_crm_members_approval.png">    </p:cNvPr>
          <p:cNvPicPr>
            <a:picLocks noChangeAspect="1"/>
          </p:cNvPicPr>
          <p:nvPr/>
        </p:nvPicPr>
        <p:blipFill>
          <a:blip r:embed="rId1"/>
          <a:stretch>
            <a:fillRect/>
          </a:stretch>
        </p:blipFill>
        <p:spPr>
          <a:xfrm>
            <a:off x="7040880" y="1737360"/>
            <a:ext cx="457200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04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MOBILE APP: TRẢI NGHIỆM ĐẶC QUYỀN HỘI VIÊN BỎ TÚI</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Văn phòng số cá nhân giúp doanh nhân kết nối và sinh hoạt hội đồng mọi lúc mọi nơi</a:t>
            </a:r>
            <a:endParaRPr lang="en-US" sz="1100" dirty="0"/>
          </a:p>
        </p:txBody>
      </p:sp>
      <p:sp>
        <p:nvSpPr>
          <p:cNvPr id="6" name="Shape 4"/>
          <p:cNvSpPr/>
          <p:nvPr/>
        </p:nvSpPr>
        <p:spPr>
          <a:xfrm>
            <a:off x="548640" y="1737360"/>
            <a:ext cx="6217920" cy="1325880"/>
          </a:xfrm>
          <a:prstGeom prst="roundRect">
            <a:avLst/>
          </a:prstGeom>
          <a:solidFill>
            <a:srgbClr val="F8FAFC"/>
          </a:solidFill>
          <a:ln w="12700">
            <a:solidFill>
              <a:srgbClr val="E2E8F0"/>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0A1A3A"/>
                </a:solidFill>
              </a:rPr>
              <a:t>👑  Thẻ Hội Viên VIP &amp; Danh Thiếp Số</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Hiển thị thẻ VIP sang trọng mang dấu ấn CEO 1983, tích hợp mã QR cá nhân giúp trao đổi thông tin chỉ trong 1 chạm.</a:t>
            </a:r>
            <a:endParaRPr lang="en-US" sz="1050" dirty="0"/>
          </a:p>
        </p:txBody>
      </p:sp>
      <p:sp>
        <p:nvSpPr>
          <p:cNvPr id="9" name="Shape 7"/>
          <p:cNvSpPr/>
          <p:nvPr/>
        </p:nvSpPr>
        <p:spPr>
          <a:xfrm>
            <a:off x="548640" y="3200400"/>
            <a:ext cx="6217920" cy="1325880"/>
          </a:xfrm>
          <a:prstGeom prst="roundRect">
            <a:avLst/>
          </a:prstGeom>
          <a:solidFill>
            <a:srgbClr val="F8FAFC"/>
          </a:solidFill>
          <a:ln w="12700">
            <a:solidFill>
              <a:srgbClr val="E2E8F0"/>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0A1A3A"/>
                </a:solidFill>
              </a:rPr>
              <a:t>📖  Danh Bạ Doanh Nhân &amp; Tìm Kiếm Đối Tác</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Tra cứu nhanh chóng hồ sơ năng lực, ngành nghề và thông tin liên hệ của các hội viên trong CLB.</a:t>
            </a:r>
            <a:endParaRPr lang="en-US" sz="1050" dirty="0"/>
          </a:p>
        </p:txBody>
      </p:sp>
      <p:sp>
        <p:nvSpPr>
          <p:cNvPr id="12" name="Shape 10"/>
          <p:cNvSpPr/>
          <p:nvPr/>
        </p:nvSpPr>
        <p:spPr>
          <a:xfrm>
            <a:off x="548640" y="4663440"/>
            <a:ext cx="6217920" cy="1325880"/>
          </a:xfrm>
          <a:prstGeom prst="roundRect">
            <a:avLst/>
          </a:prstGeom>
          <a:solidFill>
            <a:srgbClr val="F8FAFC"/>
          </a:solidFill>
          <a:ln w="12700">
            <a:solidFill>
              <a:srgbClr val="E2E8F0"/>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0A1A3A"/>
                </a:solidFill>
              </a:rPr>
              <a:t>💬  Nhắn Tin B2B &amp; Kết Nối Trực Tiếp 1-on-1</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Kênh trò chuyện bảo mật nội bộ, gửi danh thiếp và đặt lịch hẹn giao lưu kinh doanh ngay trên ứng dụng.</a:t>
            </a:r>
            <a:endParaRPr lang="en-US" sz="1050" dirty="0"/>
          </a:p>
        </p:txBody>
      </p:sp>
      <p:pic>
        <p:nvPicPr>
          <p:cNvPr id="15" name="Image 0" descr="D:\download\VICONNECT\VIONE_PROJECT\viconnect_project\document\images\evidence\step_03_app_home_dashboard.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05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QUẢN TRỊ SỰ KIỆN &amp; VÉ ĐIỆN TỬ CHECK-IN QR PASS</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Quy trình tổ chức đại hội, diễn đàn và gala doanh nhân chuyên nghiệp chuẩn 5 sao</a:t>
            </a:r>
            <a:endParaRPr lang="en-US" sz="1100" dirty="0"/>
          </a:p>
        </p:txBody>
      </p:sp>
      <p:sp>
        <p:nvSpPr>
          <p:cNvPr id="6" name="Shape 4"/>
          <p:cNvSpPr/>
          <p:nvPr/>
        </p:nvSpPr>
        <p:spPr>
          <a:xfrm>
            <a:off x="548640" y="1737360"/>
            <a:ext cx="6217920" cy="1325880"/>
          </a:xfrm>
          <a:prstGeom prst="roundRect">
            <a:avLst/>
          </a:prstGeom>
          <a:solidFill>
            <a:srgbClr val="F8FAFC"/>
          </a:solidFill>
          <a:ln w="12700">
            <a:solidFill>
              <a:srgbClr val="E2E8F0"/>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0A1A3A"/>
                </a:solidFill>
              </a:rPr>
              <a:t>🎟️  Đăng Ký &amp; Phát Hành Vé Điện Tử Tức Thời</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Hội viên xem nội dung, lịch trình sự kiện và nhấn đăng ký nhận vé điện tử định danh chứa mã QR cá nhân ngay trên App.</a:t>
            </a:r>
            <a:endParaRPr lang="en-US" sz="1050" dirty="0"/>
          </a:p>
        </p:txBody>
      </p:sp>
      <p:sp>
        <p:nvSpPr>
          <p:cNvPr id="9" name="Shape 7"/>
          <p:cNvSpPr/>
          <p:nvPr/>
        </p:nvSpPr>
        <p:spPr>
          <a:xfrm>
            <a:off x="548640" y="3200400"/>
            <a:ext cx="6217920" cy="1325880"/>
          </a:xfrm>
          <a:prstGeom prst="roundRect">
            <a:avLst/>
          </a:prstGeom>
          <a:solidFill>
            <a:srgbClr val="F8FAFC"/>
          </a:solidFill>
          <a:ln w="12700">
            <a:solidFill>
              <a:srgbClr val="E2E8F0"/>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0A1A3A"/>
                </a:solidFill>
              </a:rPr>
              <a:t>⚡  Quét Điểm Danh Check-in Dưới 1 Giây</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Lễ tân quét vé bằng camera điện thoại, hệ thống xác thực tức thì và chống trùng lặp vé 100%, chấm dứt ùn tắc tại cửa.</a:t>
            </a:r>
            <a:endParaRPr lang="en-US" sz="1050" dirty="0"/>
          </a:p>
        </p:txBody>
      </p:sp>
      <p:sp>
        <p:nvSpPr>
          <p:cNvPr id="12" name="Shape 10"/>
          <p:cNvSpPr/>
          <p:nvPr/>
        </p:nvSpPr>
        <p:spPr>
          <a:xfrm>
            <a:off x="548640" y="4663440"/>
            <a:ext cx="6217920" cy="1325880"/>
          </a:xfrm>
          <a:prstGeom prst="roundRect">
            <a:avLst/>
          </a:prstGeom>
          <a:solidFill>
            <a:srgbClr val="F8FAFC"/>
          </a:solidFill>
          <a:ln w="12700">
            <a:solidFill>
              <a:srgbClr val="E2E8F0"/>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0A1A3A"/>
                </a:solidFill>
              </a:rPr>
              <a:t>🎁  Biểu Quyết Trực Tuyến &amp; Quay Số May Mắn</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Tích hợp công cụ biểu quyết bầu cử Ban Chấp Hành minh bạch và vòng quay may mắn Lucky Draw ngẫu nhiên tại Gala.</a:t>
            </a:r>
            <a:endParaRPr lang="en-US" sz="1050" dirty="0"/>
          </a:p>
        </p:txBody>
      </p:sp>
      <p:pic>
        <p:nvPicPr>
          <p:cNvPr id="15" name="Image 0" descr="D:\download\VICONNECT\VIONE_PROJECT\viconnect_project\document\images\evidence\step_08_app_event_qr_pass.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06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SÀN GIAO THƯƠNG B2B &amp; GIAN HÀNG SẢN PHẨM ƯU ĐÃI</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Không gian thúc đẩy doanh số, ưu tiên sử dụng sản phẩm dịch vụ của nhau trong CLB</a:t>
            </a:r>
            <a:endParaRPr lang="en-US" sz="1100" dirty="0"/>
          </a:p>
        </p:txBody>
      </p:sp>
      <p:sp>
        <p:nvSpPr>
          <p:cNvPr id="6" name="Shape 4"/>
          <p:cNvSpPr/>
          <p:nvPr/>
        </p:nvSpPr>
        <p:spPr>
          <a:xfrm>
            <a:off x="548640" y="1737360"/>
            <a:ext cx="6217920" cy="1325880"/>
          </a:xfrm>
          <a:prstGeom prst="roundRect">
            <a:avLst/>
          </a:prstGeom>
          <a:solidFill>
            <a:srgbClr val="F8FAFC"/>
          </a:solidFill>
          <a:ln w="12700">
            <a:solidFill>
              <a:srgbClr val="E2E8F0"/>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0A1A3A"/>
                </a:solidFill>
              </a:rPr>
              <a:t>🛍️  Gian Hàng Sản Phẩm Đặc Quyền Hội Viên</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Mỗi doanh nghiệp tự do giới thiệu sản phẩm, dịch vụ thế mạnh kèm chính sách chiết khấu ưu đãi dành riêng cho hội viên CEO 1983.</a:t>
            </a:r>
            <a:endParaRPr lang="en-US" sz="1050" dirty="0"/>
          </a:p>
        </p:txBody>
      </p:sp>
      <p:sp>
        <p:nvSpPr>
          <p:cNvPr id="9" name="Shape 7"/>
          <p:cNvSpPr/>
          <p:nvPr/>
        </p:nvSpPr>
        <p:spPr>
          <a:xfrm>
            <a:off x="548640" y="3200400"/>
            <a:ext cx="6217920" cy="1325880"/>
          </a:xfrm>
          <a:prstGeom prst="roundRect">
            <a:avLst/>
          </a:prstGeom>
          <a:solidFill>
            <a:srgbClr val="F8FAFC"/>
          </a:solidFill>
          <a:ln w="12700">
            <a:solidFill>
              <a:srgbClr val="E2E8F0"/>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0A1A3A"/>
                </a:solidFill>
              </a:rPr>
              <a:t>🤝  Bảng Tin Trao Cơ Hội &amp; Khảo Sát Nhu Cầu</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Đăng tải nhu cầu tìm nhà cung cấp, tìm đại lý hoặc kêu gọi hợp tác đầu tư; đối tác tiềm năng nhấn tiếp nhận chỉ sau 1 chạm.</a:t>
            </a:r>
            <a:endParaRPr lang="en-US" sz="1050" dirty="0"/>
          </a:p>
        </p:txBody>
      </p:sp>
      <p:sp>
        <p:nvSpPr>
          <p:cNvPr id="12" name="Shape 10"/>
          <p:cNvSpPr/>
          <p:nvPr/>
        </p:nvSpPr>
        <p:spPr>
          <a:xfrm>
            <a:off x="548640" y="4663440"/>
            <a:ext cx="6217920" cy="1325880"/>
          </a:xfrm>
          <a:prstGeom prst="roundRect">
            <a:avLst/>
          </a:prstGeom>
          <a:solidFill>
            <a:srgbClr val="F8FAFC"/>
          </a:solidFill>
          <a:ln w="12700">
            <a:solidFill>
              <a:srgbClr val="E2E8F0"/>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0A1A3A"/>
                </a:solidFill>
              </a:rPr>
              <a:t>📈  Ghi Nhận &amp; Báo Cáo Giá Trị Kết Nối</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Thống kê tổng giá trị các thương vụ giao dịch thành công trong hội quán, tạo động lực gắn kết và phát triển kinh tế tập thể.</a:t>
            </a:r>
            <a:endParaRPr lang="en-US" sz="1050" dirty="0"/>
          </a:p>
        </p:txBody>
      </p:sp>
      <p:pic>
        <p:nvPicPr>
          <p:cNvPr id="15" name="Image 0" descr="D:\download\VICONNECT\VIONE_PROJECT\viconnect_project\document\images\evidence\step_11_app_opportunities_feed.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07 · CHỨC NĂNG CỐT LÕI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QUẢN LÝ HỘI PHÍ THƯỜNG NIÊN &amp; SỔ QUỸ MINH BẠCH</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Tự động hóa toàn diện quy trình thu nộp phí và công khai thu chi quỹ hội</a:t>
            </a:r>
            <a:endParaRPr lang="en-US" sz="1100" dirty="0"/>
          </a:p>
        </p:txBody>
      </p:sp>
      <p:sp>
        <p:nvSpPr>
          <p:cNvPr id="6" name="Shape 4"/>
          <p:cNvSpPr/>
          <p:nvPr/>
        </p:nvSpPr>
        <p:spPr>
          <a:xfrm>
            <a:off x="548640" y="1737360"/>
            <a:ext cx="6217920" cy="1325880"/>
          </a:xfrm>
          <a:prstGeom prst="roundRect">
            <a:avLst/>
          </a:prstGeom>
          <a:solidFill>
            <a:srgbClr val="F8FAFC"/>
          </a:solidFill>
          <a:ln w="12700">
            <a:solidFill>
              <a:srgbClr val="E2E8F0"/>
            </a:solidFill>
            <a:prstDash val="solid"/>
          </a:ln>
        </p:spPr>
      </p:sp>
      <p:sp>
        <p:nvSpPr>
          <p:cNvPr id="7" name="Text 5"/>
          <p:cNvSpPr/>
          <p:nvPr/>
        </p:nvSpPr>
        <p:spPr>
          <a:xfrm>
            <a:off x="731520" y="1874520"/>
            <a:ext cx="5852160" cy="320040"/>
          </a:xfrm>
          <a:prstGeom prst="rect">
            <a:avLst/>
          </a:prstGeom>
          <a:noFill/>
          <a:ln/>
        </p:spPr>
        <p:txBody>
          <a:bodyPr wrap="square" rtlCol="0" anchor="ctr"/>
          <a:lstStyle/>
          <a:p>
            <a:pPr indent="0" marL="0">
              <a:buNone/>
            </a:pPr>
            <a:r>
              <a:rPr lang="en-US" sz="1300" b="1" dirty="0">
                <a:solidFill>
                  <a:srgbClr val="0A1A3A"/>
                </a:solidFill>
              </a:rPr>
              <a:t>💳  Thanh Toán Quét Mã VietQR Thông Minh</a:t>
            </a:r>
            <a:endParaRPr lang="en-US" sz="1300" dirty="0"/>
          </a:p>
        </p:txBody>
      </p:sp>
      <p:sp>
        <p:nvSpPr>
          <p:cNvPr id="8" name="Text 6"/>
          <p:cNvSpPr/>
          <p:nvPr/>
        </p:nvSpPr>
        <p:spPr>
          <a:xfrm>
            <a:off x="731520" y="224028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Hệ thống tạo mã VietQR động điền sẵn số tiền hội phí thường niên và cú pháp; hội viên quét mã trên app ngân hàng trong 10 giây.</a:t>
            </a:r>
            <a:endParaRPr lang="en-US" sz="1050" dirty="0"/>
          </a:p>
        </p:txBody>
      </p:sp>
      <p:sp>
        <p:nvSpPr>
          <p:cNvPr id="9" name="Shape 7"/>
          <p:cNvSpPr/>
          <p:nvPr/>
        </p:nvSpPr>
        <p:spPr>
          <a:xfrm>
            <a:off x="548640" y="3200400"/>
            <a:ext cx="6217920" cy="1325880"/>
          </a:xfrm>
          <a:prstGeom prst="roundRect">
            <a:avLst/>
          </a:prstGeom>
          <a:solidFill>
            <a:srgbClr val="F8FAFC"/>
          </a:solidFill>
          <a:ln w="12700">
            <a:solidFill>
              <a:srgbClr val="E2E8F0"/>
            </a:solidFill>
            <a:prstDash val="solid"/>
          </a:ln>
        </p:spPr>
      </p:sp>
      <p:sp>
        <p:nvSpPr>
          <p:cNvPr id="10" name="Text 8"/>
          <p:cNvSpPr/>
          <p:nvPr/>
        </p:nvSpPr>
        <p:spPr>
          <a:xfrm>
            <a:off x="731520" y="3337560"/>
            <a:ext cx="5852160" cy="320040"/>
          </a:xfrm>
          <a:prstGeom prst="rect">
            <a:avLst/>
          </a:prstGeom>
          <a:noFill/>
          <a:ln/>
        </p:spPr>
        <p:txBody>
          <a:bodyPr wrap="square" rtlCol="0" anchor="ctr"/>
          <a:lstStyle/>
          <a:p>
            <a:pPr indent="0" marL="0">
              <a:buNone/>
            </a:pPr>
            <a:r>
              <a:rPr lang="en-US" sz="1300" b="1" dirty="0">
                <a:solidFill>
                  <a:srgbClr val="0A1A3A"/>
                </a:solidFill>
              </a:rPr>
              <a:t>✨  Tự Động Gia Hạn Thẻ Số Tức Thời</a:t>
            </a:r>
            <a:endParaRPr lang="en-US" sz="1300" dirty="0"/>
          </a:p>
        </p:txBody>
      </p:sp>
      <p:sp>
        <p:nvSpPr>
          <p:cNvPr id="11" name="Text 9"/>
          <p:cNvSpPr/>
          <p:nvPr/>
        </p:nvSpPr>
        <p:spPr>
          <a:xfrm>
            <a:off x="731520" y="370332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Ngay khi tài khoản nhận tiền, thẻ hội viên tự động cập nhật niên khóa mới và gửi thông báo xác nhận đến hội viên.</a:t>
            </a:r>
            <a:endParaRPr lang="en-US" sz="1050" dirty="0"/>
          </a:p>
        </p:txBody>
      </p:sp>
      <p:sp>
        <p:nvSpPr>
          <p:cNvPr id="12" name="Shape 10"/>
          <p:cNvSpPr/>
          <p:nvPr/>
        </p:nvSpPr>
        <p:spPr>
          <a:xfrm>
            <a:off x="548640" y="4663440"/>
            <a:ext cx="6217920" cy="1325880"/>
          </a:xfrm>
          <a:prstGeom prst="roundRect">
            <a:avLst/>
          </a:prstGeom>
          <a:solidFill>
            <a:srgbClr val="F8FAFC"/>
          </a:solidFill>
          <a:ln w="12700">
            <a:solidFill>
              <a:srgbClr val="E2E8F0"/>
            </a:solidFill>
            <a:prstDash val="solid"/>
          </a:ln>
        </p:spPr>
      </p:sp>
      <p:sp>
        <p:nvSpPr>
          <p:cNvPr id="13" name="Text 11"/>
          <p:cNvSpPr/>
          <p:nvPr/>
        </p:nvSpPr>
        <p:spPr>
          <a:xfrm>
            <a:off x="731520" y="4800600"/>
            <a:ext cx="5852160" cy="320040"/>
          </a:xfrm>
          <a:prstGeom prst="rect">
            <a:avLst/>
          </a:prstGeom>
          <a:noFill/>
          <a:ln/>
        </p:spPr>
        <p:txBody>
          <a:bodyPr wrap="square" rtlCol="0" anchor="ctr"/>
          <a:lstStyle/>
          <a:p>
            <a:pPr indent="0" marL="0">
              <a:buNone/>
            </a:pPr>
            <a:r>
              <a:rPr lang="en-US" sz="1300" b="1" dirty="0">
                <a:solidFill>
                  <a:srgbClr val="0A1A3A"/>
                </a:solidFill>
              </a:rPr>
              <a:t>📑  Sổ Quỹ Thu Chi Rõ Ràng &amp; Báo Cáo Tài Chính</a:t>
            </a:r>
            <a:endParaRPr lang="en-US" sz="1300" dirty="0"/>
          </a:p>
        </p:txBody>
      </p:sp>
      <p:sp>
        <p:nvSpPr>
          <p:cNvPr id="14" name="Text 12"/>
          <p:cNvSpPr/>
          <p:nvPr/>
        </p:nvSpPr>
        <p:spPr>
          <a:xfrm>
            <a:off x="731520" y="5166360"/>
            <a:ext cx="5852160" cy="685800"/>
          </a:xfrm>
          <a:prstGeom prst="rect">
            <a:avLst/>
          </a:prstGeom>
          <a:noFill/>
          <a:ln/>
        </p:spPr>
        <p:txBody>
          <a:bodyPr wrap="square" rtlCol="0" anchor="ctr"/>
          <a:lstStyle/>
          <a:p>
            <a:pPr indent="0" marL="0">
              <a:lnSpc>
                <a:spcPct val="120000"/>
              </a:lnSpc>
              <a:buNone/>
            </a:pPr>
            <a:r>
              <a:rPr lang="en-US" sz="1050" dirty="0">
                <a:solidFill>
                  <a:srgbClr val="334155"/>
                </a:solidFill>
              </a:rPr>
              <a:t>Theo dõi minh bạch các nguồn thu tài trợ, thu hội phí và các khoản chi hoạt động; phục vụ công tác đối soát của Ban Kiểm soát.</a:t>
            </a:r>
            <a:endParaRPr lang="en-US" sz="1050" dirty="0"/>
          </a:p>
        </p:txBody>
      </p:sp>
      <p:pic>
        <p:nvPicPr>
          <p:cNvPr id="15" name="Image 0" descr="D:\download\VICONNECT\VIONE_PROJECT\viconnect_project\document\images\evidence\step_13_app_fee_renewal.png">    </p:cNvPr>
          <p:cNvPicPr>
            <a:picLocks noChangeAspect="1"/>
          </p:cNvPicPr>
          <p:nvPr/>
        </p:nvPicPr>
        <p:blipFill>
          <a:blip r:embed="rId1"/>
          <a:stretch>
            <a:fillRect/>
          </a:stretch>
        </p:blipFill>
        <p:spPr>
          <a:xfrm>
            <a:off x="7315200" y="1737360"/>
            <a:ext cx="4206240" cy="4389120"/>
          </a:xfrm>
          <a:prstGeom prst="ellipse">
            <a:avLst/>
          </a:prstGeom>
        </p:spPr>
      </p:pic>
      <p:sp>
        <p:nvSpPr>
          <p:cNvPr id="16" name="Text 13"/>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4"/>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08 · LỢI THẾ VƯỢT TRỘI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ĐẶC ĐIỂM NỔI BẬT DÀNH RIÊNG CHO CLB DOANH NHÂN CEO 1983</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Giải pháp được thiết kế "may đo" dựa trên hành vi sinh hoạt và văn hóa riêng biệt của CLB</a:t>
            </a:r>
            <a:endParaRPr lang="en-US" sz="1100" dirty="0"/>
          </a:p>
        </p:txBody>
      </p:sp>
      <p:sp>
        <p:nvSpPr>
          <p:cNvPr id="6" name="Shape 4"/>
          <p:cNvSpPr/>
          <p:nvPr/>
        </p:nvSpPr>
        <p:spPr>
          <a:xfrm>
            <a:off x="548640" y="1828800"/>
            <a:ext cx="5394960" cy="1920240"/>
          </a:xfrm>
          <a:prstGeom prst="roundRect">
            <a:avLst/>
          </a:prstGeom>
          <a:solidFill>
            <a:srgbClr val="F8FAFC"/>
          </a:solidFill>
          <a:ln w="12700">
            <a:solidFill>
              <a:srgbClr val="E2E8F0"/>
            </a:solidFill>
            <a:prstDash val="solid"/>
          </a:ln>
        </p:spPr>
      </p:sp>
      <p:sp>
        <p:nvSpPr>
          <p:cNvPr id="7" name="Text 5"/>
          <p:cNvSpPr/>
          <p:nvPr/>
        </p:nvSpPr>
        <p:spPr>
          <a:xfrm>
            <a:off x="822960" y="2011680"/>
            <a:ext cx="914400" cy="457200"/>
          </a:xfrm>
          <a:prstGeom prst="rect">
            <a:avLst/>
          </a:prstGeom>
          <a:noFill/>
          <a:ln/>
        </p:spPr>
        <p:txBody>
          <a:bodyPr wrap="square" rtlCol="0" anchor="ctr"/>
          <a:lstStyle/>
          <a:p>
            <a:pPr indent="0" marL="0">
              <a:buNone/>
            </a:pPr>
            <a:r>
              <a:rPr lang="en-US" sz="2400" b="1" dirty="0">
                <a:solidFill>
                  <a:srgbClr val="D97706"/>
                </a:solidFill>
              </a:rPr>
              <a:t>⭐</a:t>
            </a:r>
            <a:endParaRPr lang="en-US" sz="2400" dirty="0"/>
          </a:p>
        </p:txBody>
      </p:sp>
      <p:sp>
        <p:nvSpPr>
          <p:cNvPr id="8" name="Text 6"/>
          <p:cNvSpPr/>
          <p:nvPr/>
        </p:nvSpPr>
        <p:spPr>
          <a:xfrm>
            <a:off x="822960" y="2514600"/>
            <a:ext cx="4846320" cy="320040"/>
          </a:xfrm>
          <a:prstGeom prst="rect">
            <a:avLst/>
          </a:prstGeom>
          <a:noFill/>
          <a:ln/>
        </p:spPr>
        <p:txBody>
          <a:bodyPr wrap="square" rtlCol="0" anchor="ctr"/>
          <a:lstStyle/>
          <a:p>
            <a:pPr indent="0" marL="0">
              <a:buNone/>
            </a:pPr>
            <a:r>
              <a:rPr lang="en-US" sz="1350" b="1" dirty="0">
                <a:solidFill>
                  <a:srgbClr val="0A1A3A"/>
                </a:solidFill>
              </a:rPr>
              <a:t>Nhận Diện Sang Trọng Classic Navy &amp; Gold</a:t>
            </a:r>
            <a:endParaRPr lang="en-US" sz="1350" dirty="0"/>
          </a:p>
        </p:txBody>
      </p:sp>
      <p:sp>
        <p:nvSpPr>
          <p:cNvPr id="9" name="Text 7"/>
          <p:cNvSpPr/>
          <p:nvPr/>
        </p:nvSpPr>
        <p:spPr>
          <a:xfrm>
            <a:off x="822960" y="288036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Giao diện thể hiện đẳng cấp doanh nhân với gam màu xanh Cobalt Navy kết hợp vàng hổ phách và logo dập nổi CEO 1983.</a:t>
            </a:r>
            <a:endParaRPr lang="en-US" sz="1050" dirty="0"/>
          </a:p>
        </p:txBody>
      </p:sp>
      <p:sp>
        <p:nvSpPr>
          <p:cNvPr id="10" name="Shape 8"/>
          <p:cNvSpPr/>
          <p:nvPr/>
        </p:nvSpPr>
        <p:spPr>
          <a:xfrm>
            <a:off x="6217920" y="1828800"/>
            <a:ext cx="5394960" cy="1920240"/>
          </a:xfrm>
          <a:prstGeom prst="roundRect">
            <a:avLst/>
          </a:prstGeom>
          <a:solidFill>
            <a:srgbClr val="F8FAFC"/>
          </a:solidFill>
          <a:ln w="12700">
            <a:solidFill>
              <a:srgbClr val="E2E8F0"/>
            </a:solidFill>
            <a:prstDash val="solid"/>
          </a:ln>
        </p:spPr>
      </p:sp>
      <p:sp>
        <p:nvSpPr>
          <p:cNvPr id="11" name="Text 9"/>
          <p:cNvSpPr/>
          <p:nvPr/>
        </p:nvSpPr>
        <p:spPr>
          <a:xfrm>
            <a:off x="6492240" y="2011680"/>
            <a:ext cx="914400" cy="457200"/>
          </a:xfrm>
          <a:prstGeom prst="rect">
            <a:avLst/>
          </a:prstGeom>
          <a:noFill/>
          <a:ln/>
        </p:spPr>
        <p:txBody>
          <a:bodyPr wrap="square" rtlCol="0" anchor="ctr"/>
          <a:lstStyle/>
          <a:p>
            <a:pPr indent="0" marL="0">
              <a:buNone/>
            </a:pPr>
            <a:r>
              <a:rPr lang="en-US" sz="2400" b="1" dirty="0">
                <a:solidFill>
                  <a:srgbClr val="D97706"/>
                </a:solidFill>
              </a:rPr>
              <a:t>🚀</a:t>
            </a:r>
            <a:endParaRPr lang="en-US" sz="2400" dirty="0"/>
          </a:p>
        </p:txBody>
      </p:sp>
      <p:sp>
        <p:nvSpPr>
          <p:cNvPr id="12" name="Text 10"/>
          <p:cNvSpPr/>
          <p:nvPr/>
        </p:nvSpPr>
        <p:spPr>
          <a:xfrm>
            <a:off x="6492240" y="2514600"/>
            <a:ext cx="4846320" cy="320040"/>
          </a:xfrm>
          <a:prstGeom prst="rect">
            <a:avLst/>
          </a:prstGeom>
          <a:noFill/>
          <a:ln/>
        </p:spPr>
        <p:txBody>
          <a:bodyPr wrap="square" rtlCol="0" anchor="ctr"/>
          <a:lstStyle/>
          <a:p>
            <a:pPr indent="0" marL="0">
              <a:buNone/>
            </a:pPr>
            <a:r>
              <a:rPr lang="en-US" sz="1350" b="1" dirty="0">
                <a:solidFill>
                  <a:srgbClr val="0A1A3A"/>
                </a:solidFill>
              </a:rPr>
              <a:t>Trải Nghiệm Mượt Mà, Không Rào Cản Kỹ Thuật</a:t>
            </a:r>
            <a:endParaRPr lang="en-US" sz="1350" dirty="0"/>
          </a:p>
        </p:txBody>
      </p:sp>
      <p:sp>
        <p:nvSpPr>
          <p:cNvPr id="13" name="Text 11"/>
          <p:cNvSpPr/>
          <p:nvPr/>
        </p:nvSpPr>
        <p:spPr>
          <a:xfrm>
            <a:off x="6492240" y="288036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Thao tác đơn giản, bố cục trực quan, font chữ to rõ; phù hợp cho các Chủ tịch, Tổng giám đốc bận rộn thao tác nhanh.</a:t>
            </a:r>
            <a:endParaRPr lang="en-US" sz="1050" dirty="0"/>
          </a:p>
        </p:txBody>
      </p:sp>
      <p:sp>
        <p:nvSpPr>
          <p:cNvPr id="14" name="Shape 12"/>
          <p:cNvSpPr/>
          <p:nvPr/>
        </p:nvSpPr>
        <p:spPr>
          <a:xfrm>
            <a:off x="548640" y="4023360"/>
            <a:ext cx="5394960" cy="1920240"/>
          </a:xfrm>
          <a:prstGeom prst="roundRect">
            <a:avLst/>
          </a:prstGeom>
          <a:solidFill>
            <a:srgbClr val="F8FAFC"/>
          </a:solidFill>
          <a:ln w="12700">
            <a:solidFill>
              <a:srgbClr val="E2E8F0"/>
            </a:solidFill>
            <a:prstDash val="solid"/>
          </a:ln>
        </p:spPr>
      </p:sp>
      <p:sp>
        <p:nvSpPr>
          <p:cNvPr id="15" name="Text 13"/>
          <p:cNvSpPr/>
          <p:nvPr/>
        </p:nvSpPr>
        <p:spPr>
          <a:xfrm>
            <a:off x="822960" y="4206240"/>
            <a:ext cx="914400" cy="457200"/>
          </a:xfrm>
          <a:prstGeom prst="rect">
            <a:avLst/>
          </a:prstGeom>
          <a:noFill/>
          <a:ln/>
        </p:spPr>
        <p:txBody>
          <a:bodyPr wrap="square" rtlCol="0" anchor="ctr"/>
          <a:lstStyle/>
          <a:p>
            <a:pPr indent="0" marL="0">
              <a:buNone/>
            </a:pPr>
            <a:r>
              <a:rPr lang="en-US" sz="2400" b="1" dirty="0">
                <a:solidFill>
                  <a:srgbClr val="D97706"/>
                </a:solidFill>
              </a:rPr>
              <a:t>🔒</a:t>
            </a:r>
            <a:endParaRPr lang="en-US" sz="2400" dirty="0"/>
          </a:p>
        </p:txBody>
      </p:sp>
      <p:sp>
        <p:nvSpPr>
          <p:cNvPr id="16" name="Text 14"/>
          <p:cNvSpPr/>
          <p:nvPr/>
        </p:nvSpPr>
        <p:spPr>
          <a:xfrm>
            <a:off x="822960" y="4709160"/>
            <a:ext cx="4846320" cy="320040"/>
          </a:xfrm>
          <a:prstGeom prst="rect">
            <a:avLst/>
          </a:prstGeom>
          <a:noFill/>
          <a:ln/>
        </p:spPr>
        <p:txBody>
          <a:bodyPr wrap="square" rtlCol="0" anchor="ctr"/>
          <a:lstStyle/>
          <a:p>
            <a:pPr indent="0" marL="0">
              <a:buNone/>
            </a:pPr>
            <a:r>
              <a:rPr lang="en-US" sz="1350" b="1" dirty="0">
                <a:solidFill>
                  <a:srgbClr val="0A1A3A"/>
                </a:solidFill>
              </a:rPr>
              <a:t>Hạ Tầng Độc Lập &amp; Bảo Mật Cao Cấp</a:t>
            </a:r>
            <a:endParaRPr lang="en-US" sz="1350" dirty="0"/>
          </a:p>
        </p:txBody>
      </p:sp>
      <p:sp>
        <p:nvSpPr>
          <p:cNvPr id="17" name="Text 15"/>
          <p:cNvSpPr/>
          <p:nvPr/>
        </p:nvSpPr>
        <p:spPr>
          <a:xfrm>
            <a:off x="822960" y="507492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Hệ thống sở hữu máy chủ và cơ sở dữ liệu riêng, cam kết không chia sẻ dữ liệu hội viên ra bên ngoài, vận hành trên Docker &amp; SSL.</a:t>
            </a:r>
            <a:endParaRPr lang="en-US" sz="1050" dirty="0"/>
          </a:p>
        </p:txBody>
      </p:sp>
      <p:sp>
        <p:nvSpPr>
          <p:cNvPr id="18" name="Shape 16"/>
          <p:cNvSpPr/>
          <p:nvPr/>
        </p:nvSpPr>
        <p:spPr>
          <a:xfrm>
            <a:off x="6217920" y="4023360"/>
            <a:ext cx="5394960" cy="1920240"/>
          </a:xfrm>
          <a:prstGeom prst="roundRect">
            <a:avLst/>
          </a:prstGeom>
          <a:solidFill>
            <a:srgbClr val="F8FAFC"/>
          </a:solidFill>
          <a:ln w="12700">
            <a:solidFill>
              <a:srgbClr val="E2E8F0"/>
            </a:solidFill>
            <a:prstDash val="solid"/>
          </a:ln>
        </p:spPr>
      </p:sp>
      <p:sp>
        <p:nvSpPr>
          <p:cNvPr id="19" name="Text 17"/>
          <p:cNvSpPr/>
          <p:nvPr/>
        </p:nvSpPr>
        <p:spPr>
          <a:xfrm>
            <a:off x="6492240" y="4206240"/>
            <a:ext cx="914400" cy="457200"/>
          </a:xfrm>
          <a:prstGeom prst="rect">
            <a:avLst/>
          </a:prstGeom>
          <a:noFill/>
          <a:ln/>
        </p:spPr>
        <p:txBody>
          <a:bodyPr wrap="square" rtlCol="0" anchor="ctr"/>
          <a:lstStyle/>
          <a:p>
            <a:pPr indent="0" marL="0">
              <a:buNone/>
            </a:pPr>
            <a:r>
              <a:rPr lang="en-US" sz="2400" b="1" dirty="0">
                <a:solidFill>
                  <a:srgbClr val="D97706"/>
                </a:solidFill>
              </a:rPr>
              <a:t>🔄</a:t>
            </a:r>
            <a:endParaRPr lang="en-US" sz="2400" dirty="0"/>
          </a:p>
        </p:txBody>
      </p:sp>
      <p:sp>
        <p:nvSpPr>
          <p:cNvPr id="20" name="Text 18"/>
          <p:cNvSpPr/>
          <p:nvPr/>
        </p:nvSpPr>
        <p:spPr>
          <a:xfrm>
            <a:off x="6492240" y="4709160"/>
            <a:ext cx="4846320" cy="320040"/>
          </a:xfrm>
          <a:prstGeom prst="rect">
            <a:avLst/>
          </a:prstGeom>
          <a:noFill/>
          <a:ln/>
        </p:spPr>
        <p:txBody>
          <a:bodyPr wrap="square" rtlCol="0" anchor="ctr"/>
          <a:lstStyle/>
          <a:p>
            <a:pPr indent="0" marL="0">
              <a:buNone/>
            </a:pPr>
            <a:r>
              <a:rPr lang="en-US" sz="1350" b="1" dirty="0">
                <a:solidFill>
                  <a:srgbClr val="0A1A3A"/>
                </a:solidFill>
              </a:rPr>
              <a:t>Sẵn Sàng Mở Rộng &amp; Tích Hợp Đa Nền Tảng</a:t>
            </a:r>
            <a:endParaRPr lang="en-US" sz="1350" dirty="0"/>
          </a:p>
        </p:txBody>
      </p:sp>
      <p:sp>
        <p:nvSpPr>
          <p:cNvPr id="21" name="Text 19"/>
          <p:cNvSpPr/>
          <p:nvPr/>
        </p:nvSpPr>
        <p:spPr>
          <a:xfrm>
            <a:off x="6492240" y="507492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Cấu trúc module linh hoạt, dễ dàng mở rộng tính năng theo sự phát triển của CLB và kết nối API với các hiệp hội doanh nghiệp đối tác.</a:t>
            </a:r>
            <a:endParaRPr lang="en-US" sz="105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23" name="Text 21"/>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09 · TẦM NHÌN &amp; TƯƠNG LAI</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HƯỚNG PHÁT TRIỂN &amp; LỘ TRÌNH NÂNG CẤP HỆ SINH THÁI</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Không ngừng nâng cấp công nghệ để giữ vững vị thế hội quán doanh nhân dẫn đầu thời đại số</a:t>
            </a:r>
            <a:endParaRPr lang="en-US" sz="1100" dirty="0"/>
          </a:p>
        </p:txBody>
      </p:sp>
      <p:sp>
        <p:nvSpPr>
          <p:cNvPr id="6" name="Shape 4"/>
          <p:cNvSpPr/>
          <p:nvPr/>
        </p:nvSpPr>
        <p:spPr>
          <a:xfrm>
            <a:off x="548640" y="1828800"/>
            <a:ext cx="5394960" cy="1920240"/>
          </a:xfrm>
          <a:prstGeom prst="roundRect">
            <a:avLst/>
          </a:prstGeom>
          <a:solidFill>
            <a:srgbClr val="F8FAFC"/>
          </a:solidFill>
          <a:ln w="12700">
            <a:solidFill>
              <a:srgbClr val="E2E8F0"/>
            </a:solidFill>
            <a:prstDash val="solid"/>
          </a:ln>
        </p:spPr>
      </p:sp>
      <p:sp>
        <p:nvSpPr>
          <p:cNvPr id="7" name="Text 5"/>
          <p:cNvSpPr/>
          <p:nvPr/>
        </p:nvSpPr>
        <p:spPr>
          <a:xfrm>
            <a:off x="822960" y="2011680"/>
            <a:ext cx="914400" cy="457200"/>
          </a:xfrm>
          <a:prstGeom prst="rect">
            <a:avLst/>
          </a:prstGeom>
          <a:noFill/>
          <a:ln/>
        </p:spPr>
        <p:txBody>
          <a:bodyPr wrap="square" rtlCol="0" anchor="ctr"/>
          <a:lstStyle/>
          <a:p>
            <a:pPr indent="0" marL="0">
              <a:buNone/>
            </a:pPr>
            <a:r>
              <a:rPr lang="en-US" sz="2400" b="1" dirty="0">
                <a:solidFill>
                  <a:srgbClr val="D97706"/>
                </a:solidFill>
              </a:rPr>
              <a:t>01</a:t>
            </a:r>
            <a:endParaRPr lang="en-US" sz="2400" dirty="0"/>
          </a:p>
        </p:txBody>
      </p:sp>
      <p:sp>
        <p:nvSpPr>
          <p:cNvPr id="8" name="Text 6"/>
          <p:cNvSpPr/>
          <p:nvPr/>
        </p:nvSpPr>
        <p:spPr>
          <a:xfrm>
            <a:off x="822960" y="2514600"/>
            <a:ext cx="4846320" cy="320040"/>
          </a:xfrm>
          <a:prstGeom prst="rect">
            <a:avLst/>
          </a:prstGeom>
          <a:noFill/>
          <a:ln/>
        </p:spPr>
        <p:txBody>
          <a:bodyPr wrap="square" rtlCol="0" anchor="ctr"/>
          <a:lstStyle/>
          <a:p>
            <a:pPr indent="0" marL="0">
              <a:buNone/>
            </a:pPr>
            <a:r>
              <a:rPr lang="en-US" sz="1350" b="1" dirty="0">
                <a:solidFill>
                  <a:srgbClr val="0A1A3A"/>
                </a:solidFill>
              </a:rPr>
              <a:t>Giai Đoạn 1: Chuẩn Hóa &amp; Hoàn Thiện Vận Hành</a:t>
            </a:r>
            <a:endParaRPr lang="en-US" sz="1350" dirty="0"/>
          </a:p>
        </p:txBody>
      </p:sp>
      <p:sp>
        <p:nvSpPr>
          <p:cNvPr id="9" name="Text 7"/>
          <p:cNvSpPr/>
          <p:nvPr/>
        </p:nvSpPr>
        <p:spPr>
          <a:xfrm>
            <a:off x="822960" y="288036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Đưa vào vận hành chính thức Web CRM và Mobile App; đồng bộ 100% hồ sơ hội viên và thu hội phí thường niên qua VietQR tự động.</a:t>
            </a:r>
            <a:endParaRPr lang="en-US" sz="1050" dirty="0"/>
          </a:p>
        </p:txBody>
      </p:sp>
      <p:sp>
        <p:nvSpPr>
          <p:cNvPr id="10" name="Shape 8"/>
          <p:cNvSpPr/>
          <p:nvPr/>
        </p:nvSpPr>
        <p:spPr>
          <a:xfrm>
            <a:off x="6217920" y="1828800"/>
            <a:ext cx="5394960" cy="1920240"/>
          </a:xfrm>
          <a:prstGeom prst="roundRect">
            <a:avLst/>
          </a:prstGeom>
          <a:solidFill>
            <a:srgbClr val="F8FAFC"/>
          </a:solidFill>
          <a:ln w="12700">
            <a:solidFill>
              <a:srgbClr val="E2E8F0"/>
            </a:solidFill>
            <a:prstDash val="solid"/>
          </a:ln>
        </p:spPr>
      </p:sp>
      <p:sp>
        <p:nvSpPr>
          <p:cNvPr id="11" name="Text 9"/>
          <p:cNvSpPr/>
          <p:nvPr/>
        </p:nvSpPr>
        <p:spPr>
          <a:xfrm>
            <a:off x="6492240" y="2011680"/>
            <a:ext cx="914400" cy="457200"/>
          </a:xfrm>
          <a:prstGeom prst="rect">
            <a:avLst/>
          </a:prstGeom>
          <a:noFill/>
          <a:ln/>
        </p:spPr>
        <p:txBody>
          <a:bodyPr wrap="square" rtlCol="0" anchor="ctr"/>
          <a:lstStyle/>
          <a:p>
            <a:pPr indent="0" marL="0">
              <a:buNone/>
            </a:pPr>
            <a:r>
              <a:rPr lang="en-US" sz="2400" b="1" dirty="0">
                <a:solidFill>
                  <a:srgbClr val="D97706"/>
                </a:solidFill>
              </a:rPr>
              <a:t>02</a:t>
            </a:r>
            <a:endParaRPr lang="en-US" sz="2400" dirty="0"/>
          </a:p>
        </p:txBody>
      </p:sp>
      <p:sp>
        <p:nvSpPr>
          <p:cNvPr id="12" name="Text 10"/>
          <p:cNvSpPr/>
          <p:nvPr/>
        </p:nvSpPr>
        <p:spPr>
          <a:xfrm>
            <a:off x="6492240" y="2514600"/>
            <a:ext cx="4846320" cy="320040"/>
          </a:xfrm>
          <a:prstGeom prst="rect">
            <a:avLst/>
          </a:prstGeom>
          <a:noFill/>
          <a:ln/>
        </p:spPr>
        <p:txBody>
          <a:bodyPr wrap="square" rtlCol="0" anchor="ctr"/>
          <a:lstStyle/>
          <a:p>
            <a:pPr indent="0" marL="0">
              <a:buNone/>
            </a:pPr>
            <a:r>
              <a:rPr lang="en-US" sz="1350" b="1" dirty="0">
                <a:solidFill>
                  <a:srgbClr val="0A1A3A"/>
                </a:solidFill>
              </a:rPr>
              <a:t>Giai Đoạn 2: Trợ Lý Ảo AI Matching Doanh Nghiệp</a:t>
            </a:r>
            <a:endParaRPr lang="en-US" sz="1350" dirty="0"/>
          </a:p>
        </p:txBody>
      </p:sp>
      <p:sp>
        <p:nvSpPr>
          <p:cNvPr id="13" name="Text 11"/>
          <p:cNvSpPr/>
          <p:nvPr/>
        </p:nvSpPr>
        <p:spPr>
          <a:xfrm>
            <a:off x="6492240" y="288036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Ứng dụng trí tuệ nhân tạo (AI) tự động phân tích hồ sơ năng lực để gợi ý kết nối đối tác kinh doanh phù hợp nhất cho từng hội viên.</a:t>
            </a:r>
            <a:endParaRPr lang="en-US" sz="1050" dirty="0"/>
          </a:p>
        </p:txBody>
      </p:sp>
      <p:sp>
        <p:nvSpPr>
          <p:cNvPr id="14" name="Shape 12"/>
          <p:cNvSpPr/>
          <p:nvPr/>
        </p:nvSpPr>
        <p:spPr>
          <a:xfrm>
            <a:off x="548640" y="4023360"/>
            <a:ext cx="5394960" cy="1920240"/>
          </a:xfrm>
          <a:prstGeom prst="roundRect">
            <a:avLst/>
          </a:prstGeom>
          <a:solidFill>
            <a:srgbClr val="F8FAFC"/>
          </a:solidFill>
          <a:ln w="12700">
            <a:solidFill>
              <a:srgbClr val="E2E8F0"/>
            </a:solidFill>
            <a:prstDash val="solid"/>
          </a:ln>
        </p:spPr>
      </p:sp>
      <p:sp>
        <p:nvSpPr>
          <p:cNvPr id="15" name="Text 13"/>
          <p:cNvSpPr/>
          <p:nvPr/>
        </p:nvSpPr>
        <p:spPr>
          <a:xfrm>
            <a:off x="822960" y="4206240"/>
            <a:ext cx="914400" cy="457200"/>
          </a:xfrm>
          <a:prstGeom prst="rect">
            <a:avLst/>
          </a:prstGeom>
          <a:noFill/>
          <a:ln/>
        </p:spPr>
        <p:txBody>
          <a:bodyPr wrap="square" rtlCol="0" anchor="ctr"/>
          <a:lstStyle/>
          <a:p>
            <a:pPr indent="0" marL="0">
              <a:buNone/>
            </a:pPr>
            <a:r>
              <a:rPr lang="en-US" sz="2400" b="1" dirty="0">
                <a:solidFill>
                  <a:srgbClr val="D97706"/>
                </a:solidFill>
              </a:rPr>
              <a:t>03</a:t>
            </a:r>
            <a:endParaRPr lang="en-US" sz="2400" dirty="0"/>
          </a:p>
        </p:txBody>
      </p:sp>
      <p:sp>
        <p:nvSpPr>
          <p:cNvPr id="16" name="Text 14"/>
          <p:cNvSpPr/>
          <p:nvPr/>
        </p:nvSpPr>
        <p:spPr>
          <a:xfrm>
            <a:off x="822960" y="4709160"/>
            <a:ext cx="4846320" cy="320040"/>
          </a:xfrm>
          <a:prstGeom prst="rect">
            <a:avLst/>
          </a:prstGeom>
          <a:noFill/>
          <a:ln/>
        </p:spPr>
        <p:txBody>
          <a:bodyPr wrap="square" rtlCol="0" anchor="ctr"/>
          <a:lstStyle/>
          <a:p>
            <a:pPr indent="0" marL="0">
              <a:buNone/>
            </a:pPr>
            <a:r>
              <a:rPr lang="en-US" sz="1350" b="1" dirty="0">
                <a:solidFill>
                  <a:srgbClr val="0A1A3A"/>
                </a:solidFill>
              </a:rPr>
              <a:t>Giai Đoạn 3: Liên Minh Sàn Thương Mại Đa Hiệp Hội</a:t>
            </a:r>
            <a:endParaRPr lang="en-US" sz="1350" dirty="0"/>
          </a:p>
        </p:txBody>
      </p:sp>
      <p:sp>
        <p:nvSpPr>
          <p:cNvPr id="17" name="Text 15"/>
          <p:cNvSpPr/>
          <p:nvPr/>
        </p:nvSpPr>
        <p:spPr>
          <a:xfrm>
            <a:off x="822960" y="507492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Mở rộng kết nối liên thông giao thương với các hiệp hội bạn bè trong và ngoài nước (HanoiBA, YBA, VINASME), mở rộng đầu ra cho hội viên.</a:t>
            </a:r>
            <a:endParaRPr lang="en-US" sz="1050" dirty="0"/>
          </a:p>
        </p:txBody>
      </p:sp>
      <p:sp>
        <p:nvSpPr>
          <p:cNvPr id="18" name="Shape 16"/>
          <p:cNvSpPr/>
          <p:nvPr/>
        </p:nvSpPr>
        <p:spPr>
          <a:xfrm>
            <a:off x="6217920" y="4023360"/>
            <a:ext cx="5394960" cy="1920240"/>
          </a:xfrm>
          <a:prstGeom prst="roundRect">
            <a:avLst/>
          </a:prstGeom>
          <a:solidFill>
            <a:srgbClr val="F8FAFC"/>
          </a:solidFill>
          <a:ln w="12700">
            <a:solidFill>
              <a:srgbClr val="E2E8F0"/>
            </a:solidFill>
            <a:prstDash val="solid"/>
          </a:ln>
        </p:spPr>
      </p:sp>
      <p:sp>
        <p:nvSpPr>
          <p:cNvPr id="19" name="Text 17"/>
          <p:cNvSpPr/>
          <p:nvPr/>
        </p:nvSpPr>
        <p:spPr>
          <a:xfrm>
            <a:off x="6492240" y="4206240"/>
            <a:ext cx="914400" cy="457200"/>
          </a:xfrm>
          <a:prstGeom prst="rect">
            <a:avLst/>
          </a:prstGeom>
          <a:noFill/>
          <a:ln/>
        </p:spPr>
        <p:txBody>
          <a:bodyPr wrap="square" rtlCol="0" anchor="ctr"/>
          <a:lstStyle/>
          <a:p>
            <a:pPr indent="0" marL="0">
              <a:buNone/>
            </a:pPr>
            <a:r>
              <a:rPr lang="en-US" sz="2400" b="1" dirty="0">
                <a:solidFill>
                  <a:srgbClr val="D97706"/>
                </a:solidFill>
              </a:rPr>
              <a:t>04</a:t>
            </a:r>
            <a:endParaRPr lang="en-US" sz="2400" dirty="0"/>
          </a:p>
        </p:txBody>
      </p:sp>
      <p:sp>
        <p:nvSpPr>
          <p:cNvPr id="20" name="Text 18"/>
          <p:cNvSpPr/>
          <p:nvPr/>
        </p:nvSpPr>
        <p:spPr>
          <a:xfrm>
            <a:off x="6492240" y="4709160"/>
            <a:ext cx="4846320" cy="320040"/>
          </a:xfrm>
          <a:prstGeom prst="rect">
            <a:avLst/>
          </a:prstGeom>
          <a:noFill/>
          <a:ln/>
        </p:spPr>
        <p:txBody>
          <a:bodyPr wrap="square" rtlCol="0" anchor="ctr"/>
          <a:lstStyle/>
          <a:p>
            <a:pPr indent="0" marL="0">
              <a:buNone/>
            </a:pPr>
            <a:r>
              <a:rPr lang="en-US" sz="1350" b="1" dirty="0">
                <a:solidFill>
                  <a:srgbClr val="0A1A3A"/>
                </a:solidFill>
              </a:rPr>
              <a:t>Giai Đoạn 4: Xếp Hạng Tín Nhiệm &amp; Bảo Chứng Số</a:t>
            </a:r>
            <a:endParaRPr lang="en-US" sz="1350" dirty="0"/>
          </a:p>
        </p:txBody>
      </p:sp>
      <p:sp>
        <p:nvSpPr>
          <p:cNvPr id="21" name="Text 19"/>
          <p:cNvSpPr/>
          <p:nvPr/>
        </p:nvSpPr>
        <p:spPr>
          <a:xfrm>
            <a:off x="6492240" y="5074920"/>
            <a:ext cx="4846320" cy="731520"/>
          </a:xfrm>
          <a:prstGeom prst="rect">
            <a:avLst/>
          </a:prstGeom>
          <a:noFill/>
          <a:ln/>
        </p:spPr>
        <p:txBody>
          <a:bodyPr wrap="square" rtlCol="0" anchor="ctr"/>
          <a:lstStyle/>
          <a:p>
            <a:pPr indent="0" marL="0">
              <a:lnSpc>
                <a:spcPct val="120000"/>
              </a:lnSpc>
              <a:buNone/>
            </a:pPr>
            <a:r>
              <a:rPr lang="en-US" sz="1050" dirty="0">
                <a:solidFill>
                  <a:srgbClr val="334155"/>
                </a:solidFill>
              </a:rPr>
              <a:t>Xây dựng chỉ số tín nhiệm doanh nhân nội khối dựa trên lịch sử hoạt động và đánh giá uy tín, nâng tầm vị thế thương hiệu cá nhân.</a:t>
            </a:r>
            <a:endParaRPr lang="en-US" sz="105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23" name="Text 21"/>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548640" y="320040"/>
            <a:ext cx="3200400" cy="320040"/>
          </a:xfrm>
          <a:prstGeom prst="rect">
            <a:avLst>
              <a:gd name="adj" fmla="val 42857"/>
            </a:avLst>
          </a:prstGeom>
          <a:solidFill>
            <a:srgbClr val="FEF3C7"/>
          </a:solidFill>
          <a:ln/>
        </p:spPr>
        <p:txBody>
          <a:bodyPr wrap="square" rtlCol="0" anchor="ctr"/>
          <a:lstStyle/>
          <a:p>
            <a:pPr algn="ctr" indent="0" marL="0">
              <a:buNone/>
            </a:pPr>
            <a:r>
              <a:rPr lang="en-US" sz="1000" b="1" dirty="0">
                <a:solidFill>
                  <a:srgbClr val="B45309"/>
                </a:solidFill>
              </a:rPr>
              <a:t>10 · ĐỒNG HÀNH &amp; PHÁT TRIỂN</a:t>
            </a:r>
            <a:endParaRPr lang="en-US" sz="1000" dirty="0"/>
          </a:p>
        </p:txBody>
      </p:sp>
      <p:sp>
        <p:nvSpPr>
          <p:cNvPr id="4" name="Text 2"/>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0A1A3A"/>
                </a:solidFill>
              </a:rPr>
              <a:t>CÙNG NHAU KIẾN TẠO HỘI QUÁN DOANH NHÂN VỮNG MẠNH</a:t>
            </a:r>
            <a:endParaRPr lang="en-US" sz="2200" dirty="0"/>
          </a:p>
        </p:txBody>
      </p:sp>
      <p:sp>
        <p:nvSpPr>
          <p:cNvPr id="5" name="Text 3"/>
          <p:cNvSpPr/>
          <p:nvPr/>
        </p:nvSpPr>
        <p:spPr>
          <a:xfrm>
            <a:off x="548640" y="1234440"/>
            <a:ext cx="10972800" cy="365760"/>
          </a:xfrm>
          <a:prstGeom prst="rect">
            <a:avLst/>
          </a:prstGeom>
          <a:noFill/>
          <a:ln/>
        </p:spPr>
        <p:txBody>
          <a:bodyPr wrap="square" rtlCol="0" anchor="ctr"/>
          <a:lstStyle/>
          <a:p>
            <a:pPr indent="0" marL="0">
              <a:buNone/>
            </a:pPr>
            <a:r>
              <a:rPr lang="en-US" sz="1100" i="1" dirty="0">
                <a:solidFill>
                  <a:srgbClr val="64748B"/>
                </a:solidFill>
              </a:rPr>
              <a:t>Chuyển đổi số là cam kết cùng nhau bứt phá, mở rộng cơ hội và gắn kết bền lâu của các Doanh nhân tuổi 1983</a:t>
            </a:r>
            <a:endParaRPr lang="en-US" sz="1100" dirty="0"/>
          </a:p>
        </p:txBody>
      </p:sp>
      <p:sp>
        <p:nvSpPr>
          <p:cNvPr id="6" name="Shape 4"/>
          <p:cNvSpPr/>
          <p:nvPr/>
        </p:nvSpPr>
        <p:spPr>
          <a:xfrm>
            <a:off x="1097280" y="2194560"/>
            <a:ext cx="4572000" cy="2926080"/>
          </a:xfrm>
          <a:prstGeom prst="roundRect">
            <a:avLst/>
          </a:prstGeom>
          <a:solidFill>
            <a:srgbClr val="F8FAFC"/>
          </a:solidFill>
          <a:ln w="19050">
            <a:solidFill>
              <a:srgbClr val="E2E8F0"/>
            </a:solidFill>
            <a:prstDash val="solid"/>
          </a:ln>
        </p:spPr>
      </p:sp>
      <p:sp>
        <p:nvSpPr>
          <p:cNvPr id="7" name="Text 5"/>
          <p:cNvSpPr/>
          <p:nvPr/>
        </p:nvSpPr>
        <p:spPr>
          <a:xfrm>
            <a:off x="1097280" y="2468880"/>
            <a:ext cx="457200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8" name="Text 6"/>
          <p:cNvSpPr/>
          <p:nvPr/>
        </p:nvSpPr>
        <p:spPr>
          <a:xfrm>
            <a:off x="1097280" y="3291840"/>
            <a:ext cx="4572000" cy="365760"/>
          </a:xfrm>
          <a:prstGeom prst="rect">
            <a:avLst/>
          </a:prstGeom>
          <a:noFill/>
          <a:ln/>
        </p:spPr>
        <p:txBody>
          <a:bodyPr wrap="square" rtlCol="0" anchor="ctr"/>
          <a:lstStyle/>
          <a:p>
            <a:pPr algn="ctr" indent="0" marL="0">
              <a:buNone/>
            </a:pPr>
            <a:r>
              <a:rPr lang="en-US" sz="1600" b="1" dirty="0">
                <a:solidFill>
                  <a:srgbClr val="0A1A3A"/>
                </a:solidFill>
              </a:rPr>
              <a:t>Web CRM Quản Trị</a:t>
            </a:r>
            <a:endParaRPr lang="en-US" sz="1600" dirty="0"/>
          </a:p>
        </p:txBody>
      </p:sp>
      <p:sp>
        <p:nvSpPr>
          <p:cNvPr id="9" name="Text 7"/>
          <p:cNvSpPr/>
          <p:nvPr/>
        </p:nvSpPr>
        <p:spPr>
          <a:xfrm>
            <a:off x="1097280" y="3749040"/>
            <a:ext cx="4572000" cy="365760"/>
          </a:xfrm>
          <a:prstGeom prst="rect">
            <a:avLst/>
          </a:prstGeom>
          <a:noFill/>
          <a:ln/>
        </p:spPr>
        <p:txBody>
          <a:bodyPr wrap="square" rtlCol="0" anchor="ctr"/>
          <a:lstStyle/>
          <a:p>
            <a:pPr algn="ctr" indent="0" marL="0">
              <a:buNone/>
            </a:pPr>
            <a:r>
              <a:rPr lang="en-US" sz="1200" b="1" dirty="0">
                <a:solidFill>
                  <a:srgbClr val="003B95"/>
                </a:solidFill>
              </a:rPr>
              <a:t>https://14.225.217.232:5443</a:t>
            </a:r>
            <a:endParaRPr lang="en-US" sz="1200" dirty="0"/>
          </a:p>
        </p:txBody>
      </p:sp>
      <p:sp>
        <p:nvSpPr>
          <p:cNvPr id="10" name="Text 8"/>
          <p:cNvSpPr/>
          <p:nvPr/>
        </p:nvSpPr>
        <p:spPr>
          <a:xfrm>
            <a:off x="1097280" y="4206240"/>
            <a:ext cx="4572000" cy="274320"/>
          </a:xfrm>
          <a:prstGeom prst="rect">
            <a:avLst/>
          </a:prstGeom>
          <a:noFill/>
          <a:ln/>
        </p:spPr>
        <p:txBody>
          <a:bodyPr wrap="square" rtlCol="0" anchor="ctr"/>
          <a:lstStyle/>
          <a:p>
            <a:pPr algn="ctr" indent="0" marL="0">
              <a:buNone/>
            </a:pPr>
            <a:r>
              <a:rPr lang="en-US" sz="1100" dirty="0">
                <a:solidFill>
                  <a:srgbClr val="64748B"/>
                </a:solidFill>
              </a:rPr>
              <a:t>Dành cho Ban Chấp Hành &amp; Ban Thư Ký</a:t>
            </a:r>
            <a:endParaRPr lang="en-US" sz="1100" dirty="0"/>
          </a:p>
        </p:txBody>
      </p:sp>
      <p:sp>
        <p:nvSpPr>
          <p:cNvPr id="11" name="Shape 9"/>
          <p:cNvSpPr/>
          <p:nvPr/>
        </p:nvSpPr>
        <p:spPr>
          <a:xfrm>
            <a:off x="6217920" y="2194560"/>
            <a:ext cx="4572000" cy="2926080"/>
          </a:xfrm>
          <a:prstGeom prst="roundRect">
            <a:avLst/>
          </a:prstGeom>
          <a:solidFill>
            <a:srgbClr val="F8FAFC"/>
          </a:solidFill>
          <a:ln w="19050">
            <a:solidFill>
              <a:srgbClr val="E2E8F0"/>
            </a:solidFill>
            <a:prstDash val="solid"/>
          </a:ln>
        </p:spPr>
      </p:sp>
      <p:sp>
        <p:nvSpPr>
          <p:cNvPr id="12" name="Text 10"/>
          <p:cNvSpPr/>
          <p:nvPr/>
        </p:nvSpPr>
        <p:spPr>
          <a:xfrm>
            <a:off x="6217920" y="2468880"/>
            <a:ext cx="457200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3" name="Text 11"/>
          <p:cNvSpPr/>
          <p:nvPr/>
        </p:nvSpPr>
        <p:spPr>
          <a:xfrm>
            <a:off x="6217920" y="3291840"/>
            <a:ext cx="4572000" cy="365760"/>
          </a:xfrm>
          <a:prstGeom prst="rect">
            <a:avLst/>
          </a:prstGeom>
          <a:noFill/>
          <a:ln/>
        </p:spPr>
        <p:txBody>
          <a:bodyPr wrap="square" rtlCol="0" anchor="ctr"/>
          <a:lstStyle/>
          <a:p>
            <a:pPr algn="ctr" indent="0" marL="0">
              <a:buNone/>
            </a:pPr>
            <a:r>
              <a:rPr lang="en-US" sz="1600" b="1" dirty="0">
                <a:solidFill>
                  <a:srgbClr val="0A1A3A"/>
                </a:solidFill>
              </a:rPr>
              <a:t>App Hiệp Hội CEO 1983</a:t>
            </a:r>
            <a:endParaRPr lang="en-US" sz="1600" dirty="0"/>
          </a:p>
        </p:txBody>
      </p:sp>
      <p:sp>
        <p:nvSpPr>
          <p:cNvPr id="14" name="Text 12"/>
          <p:cNvSpPr/>
          <p:nvPr/>
        </p:nvSpPr>
        <p:spPr>
          <a:xfrm>
            <a:off x="6217920" y="3749040"/>
            <a:ext cx="4572000" cy="365760"/>
          </a:xfrm>
          <a:prstGeom prst="rect">
            <a:avLst/>
          </a:prstGeom>
          <a:noFill/>
          <a:ln/>
        </p:spPr>
        <p:txBody>
          <a:bodyPr wrap="square" rtlCol="0" anchor="ctr"/>
          <a:lstStyle/>
          <a:p>
            <a:pPr algn="ctr" indent="0" marL="0">
              <a:buNone/>
            </a:pPr>
            <a:r>
              <a:rPr lang="en-US" sz="1200" b="1" dirty="0">
                <a:solidFill>
                  <a:srgbClr val="003B95"/>
                </a:solidFill>
              </a:rPr>
              <a:t>https://14.225.217.232:5444/association</a:t>
            </a:r>
            <a:endParaRPr lang="en-US" sz="1200" dirty="0"/>
          </a:p>
        </p:txBody>
      </p:sp>
      <p:sp>
        <p:nvSpPr>
          <p:cNvPr id="15" name="Text 13"/>
          <p:cNvSpPr/>
          <p:nvPr/>
        </p:nvSpPr>
        <p:spPr>
          <a:xfrm>
            <a:off x="6217920" y="4206240"/>
            <a:ext cx="4572000" cy="274320"/>
          </a:xfrm>
          <a:prstGeom prst="rect">
            <a:avLst/>
          </a:prstGeom>
          <a:noFill/>
          <a:ln/>
        </p:spPr>
        <p:txBody>
          <a:bodyPr wrap="square" rtlCol="0" anchor="ctr"/>
          <a:lstStyle/>
          <a:p>
            <a:pPr algn="ctr" indent="0" marL="0">
              <a:buNone/>
            </a:pPr>
            <a:r>
              <a:rPr lang="en-US" sz="1100" dirty="0">
                <a:solidFill>
                  <a:srgbClr val="64748B"/>
                </a:solidFill>
              </a:rPr>
              <a:t>Dành cho Toàn thể Hội viên Doanh nhân</a:t>
            </a:r>
            <a:endParaRPr lang="en-US" sz="1100" dirty="0"/>
          </a:p>
        </p:txBody>
      </p:sp>
      <p:sp>
        <p:nvSpPr>
          <p:cNvPr id="16" name="Text 14"/>
          <p:cNvSpPr/>
          <p:nvPr/>
        </p:nvSpPr>
        <p:spPr>
          <a:xfrm>
            <a:off x="548640" y="6400800"/>
            <a:ext cx="5486400" cy="274320"/>
          </a:xfrm>
          <a:prstGeom prst="rect">
            <a:avLst/>
          </a:prstGeom>
          <a:noFill/>
          <a:ln/>
        </p:spPr>
        <p:txBody>
          <a:bodyPr wrap="square" rtlCol="0" anchor="ctr"/>
          <a:lstStyle/>
          <a:p>
            <a:pPr indent="0" marL="0">
              <a:buNone/>
            </a:pPr>
            <a:r>
              <a:rPr lang="en-US" sz="950" b="1" dirty="0">
                <a:solidFill>
                  <a:srgbClr val="003B95"/>
                </a:solidFill>
              </a:rPr>
              <a:t>CLB Doanh Nhân CEO 1983 · HanoiBA</a:t>
            </a:r>
            <a:endParaRPr lang="en-US" sz="950" dirty="0"/>
          </a:p>
        </p:txBody>
      </p:sp>
      <p:sp>
        <p:nvSpPr>
          <p:cNvPr id="17" name="Text 15"/>
          <p:cNvSpPr/>
          <p:nvPr/>
        </p:nvSpPr>
        <p:spPr>
          <a:xfrm>
            <a:off x="9144000" y="6400800"/>
            <a:ext cx="2377440" cy="274320"/>
          </a:xfrm>
          <a:prstGeom prst="rect">
            <a:avLst/>
          </a:prstGeom>
          <a:noFill/>
          <a:ln/>
        </p:spPr>
        <p:txBody>
          <a:bodyPr wrap="square" rtlCol="0" anchor="ctr"/>
          <a:lstStyle/>
          <a:p>
            <a:pPr algn="r" indent="0" marL="0">
              <a:buNone/>
            </a:pPr>
            <a:r>
              <a:rPr lang="en-US" sz="950" b="1" dirty="0">
                <a:solidFill>
                  <a:srgbClr val="64748B"/>
                </a:solidFill>
              </a:rPr>
              <a:t>Slide 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2026-09-20T07:05:19Z</dcterms:created>
  <dcterms:modified xsi:type="dcterms:W3CDTF">2026-09-20T07:05:19Z</dcterms:modified>
</cp:coreProperties>
</file>
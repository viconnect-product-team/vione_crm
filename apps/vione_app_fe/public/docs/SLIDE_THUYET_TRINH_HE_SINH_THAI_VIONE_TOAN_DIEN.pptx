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B48250"/>
          </a:solidFill>
          <a:ln w="12700">
            <a:solidFill>
              <a:srgbClr val="B4825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097280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46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HỆ SINH THÁI DOANH NGHIỆP VIONE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14400" y="155448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VIONE CRM PLATFORM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914400" y="256032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46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Hệ Thống Quản Trị &amp; Điều Hành Doanh Nghiệp Toàn Diện 360°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303520" y="3154680"/>
            <a:ext cx="1554480" cy="36576"/>
          </a:xfrm>
          <a:prstGeom prst="rect">
            <a:avLst/>
          </a:prstGeom>
          <a:solidFill>
            <a:srgbClr val="B48250"/>
          </a:solidFill>
          <a:ln w="12700">
            <a:solidFill>
              <a:srgbClr val="B482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71600" y="3474720"/>
            <a:ext cx="9418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Nền tảng số hóa quản trị tập trung, tự động hóa quy trình nghiệp vụ và tối ưu hóa phễu tăng trưởng B2B dành cho Ban Lãnh Đạo.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512064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Phiên Bản Doanh Nghiệp 6.0 · Tháng 10/2026 · Bản quyền © ViOne Corporation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31520" y="6217920"/>
            <a:ext cx="10698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63093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HỆ SINH THÁI DOANH NGHIỆP TOÀN DIỆN VIONE &amp; VIONE CONNECT APP · Trang 1 / 13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400800" y="63093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Bản quyền © 2026 ViOne Corporation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B48250"/>
          </a:solidFill>
          <a:ln w="12700">
            <a:solidFill>
              <a:srgbClr val="B4825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657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6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TỔNG QUAN CHIẾN LƯỢC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6858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HAI TRỤ CỘT CHUYỂN ĐỔI SỐ LIỀN MẠCH DOANH NGHIỆP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23444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Cấu trúc bài thuyết trình hệ sinh thái ViOne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1737360"/>
            <a:ext cx="5120640" cy="11887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1965960"/>
            <a:ext cx="731520" cy="731520"/>
          </a:xfrm>
          <a:prstGeom prst="rect">
            <a:avLst/>
          </a:prstGeom>
          <a:solidFill>
            <a:srgbClr val="FAF5EB"/>
          </a:solidFill>
          <a:ln w="12700">
            <a:solidFill>
              <a:srgbClr val="D8B2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9659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46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PHẦN I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828800" y="193852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ViOne CRM Platform (Web)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828800" y="2267712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Bảng điều hành 360°, Quản trị kinh doanh, Vận hành BPMN, Dòng tiền &amp; AI Copilot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26480" y="1737360"/>
            <a:ext cx="5120640" cy="11887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309360" y="1965960"/>
            <a:ext cx="731520" cy="731520"/>
          </a:xfrm>
          <a:prstGeom prst="rect">
            <a:avLst/>
          </a:prstGeom>
          <a:solidFill>
            <a:srgbClr val="FAF5EB"/>
          </a:solidFill>
          <a:ln w="12700">
            <a:solidFill>
              <a:srgbClr val="D8B28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19659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46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PHẦN II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223760" y="193852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ViOne Connect App (Mobile)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223760" y="2267712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Danh thiếp số Titanium, Chạm NFC, Quét card AI OCR, Sàn B2B &amp; Vé QR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1520" y="3108960"/>
            <a:ext cx="5120640" cy="11887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4400" y="3337560"/>
            <a:ext cx="731520" cy="731520"/>
          </a:xfrm>
          <a:prstGeom prst="rect">
            <a:avLst/>
          </a:prstGeom>
          <a:solidFill>
            <a:srgbClr val="FAF5EB"/>
          </a:solidFill>
          <a:ln w="12700">
            <a:solidFill>
              <a:srgbClr val="D8B28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33375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46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PHẦN III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828800" y="331012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Đột Phá Cài Đặt iOS WebClip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828800" y="3639312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Cài đặt trực tiếp 1-chạm không thông qua App Store, chuẩn Standalone Native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126480" y="3108960"/>
            <a:ext cx="5120640" cy="11887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309360" y="3337560"/>
            <a:ext cx="731520" cy="731520"/>
          </a:xfrm>
          <a:prstGeom prst="rect">
            <a:avLst/>
          </a:prstGeom>
          <a:solidFill>
            <a:srgbClr val="FAF5EB"/>
          </a:solidFill>
          <a:ln w="12700">
            <a:solidFill>
              <a:srgbClr val="D8B28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09360" y="33375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46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PHẦN IV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223760" y="331012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Giá Trị Doanh Nghiệp &amp; Liên Hệ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223760" y="3639312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 kết tối ưu chi phí, tăng tốc doanh số và thông tin hỗ trợ triển khai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31520" y="6217920"/>
            <a:ext cx="10698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1520" y="63093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HỆ SINH THÁI DOANH NGHIỆP TOÀN DIỆN VIONE &amp; VIONE CONNECT APP · Trang 2 / 13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400800" y="63093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Bản quyền © 2026 ViOne Corporation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B48250"/>
          </a:solidFill>
          <a:ln w="12700">
            <a:solidFill>
              <a:srgbClr val="B4825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200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6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PHÂN HỆ 01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59436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BẢNG ĐIỀU HÀNH 360° &amp; SỨC KHỎE DOANH NGHIỆP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109728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Bức tranh toàn cảnh hoạt động kinh doanh trên một màn hình duy nhất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1600200"/>
            <a:ext cx="6217920" cy="12801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600200"/>
            <a:ext cx="73152" cy="1280160"/>
          </a:xfrm>
          <a:prstGeom prst="rect">
            <a:avLst/>
          </a:prstGeom>
          <a:solidFill>
            <a:srgbClr val="B48250"/>
          </a:solidFill>
          <a:ln w="12700">
            <a:solidFill>
              <a:srgbClr val="B482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1737360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 Radar Dòng Tiền Thực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60120" y="2075688"/>
            <a:ext cx="5760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Theo dõi doanh thu, chi phí và số dư tài khoản thời gian thực không độ trễ.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31520" y="3017520"/>
            <a:ext cx="6217920" cy="12801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0" y="3017520"/>
            <a:ext cx="73152" cy="1280160"/>
          </a:xfrm>
          <a:prstGeom prst="rect">
            <a:avLst/>
          </a:prstGeom>
          <a:solidFill>
            <a:srgbClr val="B48250"/>
          </a:solidFill>
          <a:ln w="12700">
            <a:solidFill>
              <a:srgbClr val="B4825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3154680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 Giám Sát Mục Tiêu OKR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60120" y="3493008"/>
            <a:ext cx="5760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Đo lường tiến độ các mục tiêu kinh doanh và dự án trọng điểm toàn công ty.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31520" y="4434840"/>
            <a:ext cx="6217920" cy="12801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4434840"/>
            <a:ext cx="73152" cy="1280160"/>
          </a:xfrm>
          <a:prstGeom prst="rect">
            <a:avLst/>
          </a:prstGeom>
          <a:solidFill>
            <a:srgbClr val="B48250"/>
          </a:solidFill>
          <a:ln w="12700">
            <a:solidFill>
              <a:srgbClr val="B4825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0120" y="4572000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 Cảnh Báo Vận Hành Sớm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60120" y="4910328"/>
            <a:ext cx="5760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Hệ thống tự động phát hiện các chỉ số bất thường để ban giám đốc xử lý kịp thời.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7315200" y="52578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Dữ liệu thời gian thực từ máy chủ ViOne Live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31520" y="6217920"/>
            <a:ext cx="10698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63093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HỆ SINH THÁI DOANH NGHIỆP TOÀN DIỆN VIONE &amp; VIONE CONNECT APP · Trang 3 / 13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400800" y="63093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Bản quyền © 2026 ViOne Corporation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B48250"/>
          </a:solidFill>
          <a:ln w="12700">
            <a:solidFill>
              <a:srgbClr val="B4825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200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6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PHÂN HỆ 02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59436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PHỄU KINH DOANH PIPELINE &amp; SMART CRM HUB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109728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Chuyển đổi tối đa khách hàng tiềm năng thành hợp đồng doanh số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1600200"/>
            <a:ext cx="6217920" cy="12801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600200"/>
            <a:ext cx="73152" cy="1280160"/>
          </a:xfrm>
          <a:prstGeom prst="rect">
            <a:avLst/>
          </a:prstGeom>
          <a:solidFill>
            <a:srgbClr val="B48250"/>
          </a:solidFill>
          <a:ln w="12700">
            <a:solidFill>
              <a:srgbClr val="B482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1737360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🔄  Kanban Deals 5 Giai Đoạn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60120" y="2075688"/>
            <a:ext cx="5760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Kéo thả cơ hội trực quan: Tiếp cận → Khảo sát → Báo giá → Đàm phán → Chốt deal.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31520" y="3017520"/>
            <a:ext cx="6217920" cy="12801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0" y="3017520"/>
            <a:ext cx="73152" cy="1280160"/>
          </a:xfrm>
          <a:prstGeom prst="rect">
            <a:avLst/>
          </a:prstGeom>
          <a:solidFill>
            <a:srgbClr val="B48250"/>
          </a:solidFill>
          <a:ln w="12700">
            <a:solidFill>
              <a:srgbClr val="B4825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3154680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📇  Hồ Sơ Khách Hàng 360°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60120" y="3493008"/>
            <a:ext cx="5760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Tập trung toàn bộ lịch sử tương tác, hợp đồng, báo giá và công nợ chi tiết.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31520" y="4434840"/>
            <a:ext cx="6217920" cy="12801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4434840"/>
            <a:ext cx="73152" cy="1280160"/>
          </a:xfrm>
          <a:prstGeom prst="rect">
            <a:avLst/>
          </a:prstGeom>
          <a:solidFill>
            <a:srgbClr val="B48250"/>
          </a:solidFill>
          <a:ln w="12700">
            <a:solidFill>
              <a:srgbClr val="B4825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0120" y="4572000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⭐  Chấm Điểm Tiềm Năng AI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60120" y="4910328"/>
            <a:ext cx="5760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Tự động phân hạng Hot Lead, VIP C-Level và nhắc nhở thương vụ bị bỏ quên.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7315200" y="52578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Dữ liệu thời gian thực từ máy chủ ViOne Live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31520" y="6217920"/>
            <a:ext cx="10698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63093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HỆ SINH THÁI DOANH NGHIỆP TOÀN DIỆN VIONE &amp; VIONE CONNECT APP · Trang 4 / 13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400800" y="63093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Bản quyền © 2026 ViOne Corporation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B48250"/>
          </a:solidFill>
          <a:ln w="12700">
            <a:solidFill>
              <a:srgbClr val="B4825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200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6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PHÂN HỆ 03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59436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QUY TRÌNH BPMN TỰ ĐỘNG &amp; CHẤM CÔNG THÔNG MINH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109728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Số hóa bộ máy nhân sự, kiểm soát tiến độ và chống gian lận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1600200"/>
            <a:ext cx="6217920" cy="12801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600200"/>
            <a:ext cx="73152" cy="1280160"/>
          </a:xfrm>
          <a:prstGeom prst="rect">
            <a:avLst/>
          </a:prstGeom>
          <a:solidFill>
            <a:srgbClr val="B48250"/>
          </a:solidFill>
          <a:ln w="12700">
            <a:solidFill>
              <a:srgbClr val="B482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1737360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📑  Quy Trình Công Việc BPMN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60120" y="2075688"/>
            <a:ext cx="5760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Phân công nhiệm vụ, thiết lập hạn chót (Deadline) và hạn chế quá tải WIP ≤ 5.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31520" y="3017520"/>
            <a:ext cx="6217920" cy="12801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0" y="3017520"/>
            <a:ext cx="73152" cy="1280160"/>
          </a:xfrm>
          <a:prstGeom prst="rect">
            <a:avLst/>
          </a:prstGeom>
          <a:solidFill>
            <a:srgbClr val="B48250"/>
          </a:solidFill>
          <a:ln w="12700">
            <a:solidFill>
              <a:srgbClr val="B4825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3154680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📍  Chấm Công GPS &amp; AI FaceID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60120" y="3493008"/>
            <a:ext cx="5760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Điểm danh di động chính xác qua tọa độ văn phòng và nhận diện khuôn mặt.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31520" y="4434840"/>
            <a:ext cx="6217920" cy="12801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4434840"/>
            <a:ext cx="73152" cy="1280160"/>
          </a:xfrm>
          <a:prstGeom prst="rect">
            <a:avLst/>
          </a:prstGeom>
          <a:solidFill>
            <a:srgbClr val="B48250"/>
          </a:solidFill>
          <a:ln w="12700">
            <a:solidFill>
              <a:srgbClr val="B4825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0120" y="4572000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👥  Giám Sát Nhân Sự Trong Ngày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60120" y="4910328"/>
            <a:ext cx="5760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Cấp lãnh đạo nắm bắt tức thì lịch trình gặp khách hàng ngoài văn phòng.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7315200" y="52578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Dữ liệu thời gian thực từ máy chủ ViOne Live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31520" y="6217920"/>
            <a:ext cx="10698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63093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HỆ SINH THÁI DOANH NGHIỆP TOÀN DIỆN VIONE &amp; VIONE CONNECT APP · Trang 5 / 13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400800" y="63093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Bản quyền © 2026 ViOne Corporation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B48250"/>
          </a:solidFill>
          <a:ln w="12700">
            <a:solidFill>
              <a:srgbClr val="B4825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200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6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PHÂN HỆ 04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59436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QUẢN TRỊ DÒNG TIỀN &amp; PHÊ DUYỆT CHI 3 CẤP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109728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Minh bạch hóa ngân sách và đối soát thanh toán tự động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1600200"/>
            <a:ext cx="6217920" cy="12801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600200"/>
            <a:ext cx="73152" cy="1280160"/>
          </a:xfrm>
          <a:prstGeom prst="rect">
            <a:avLst/>
          </a:prstGeom>
          <a:solidFill>
            <a:srgbClr val="B48250"/>
          </a:solidFill>
          <a:ln w="12700">
            <a:solidFill>
              <a:srgbClr val="B482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1737360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🛡️  Quy Trình Duyệt Chi 3 Cấp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60120" y="2075688"/>
            <a:ext cx="5760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Người lập đề xuất → Kế toán kiểm tra chứng từ → Lãnh đạo phê duyệt chi.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31520" y="3017520"/>
            <a:ext cx="6217920" cy="12801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0" y="3017520"/>
            <a:ext cx="73152" cy="1280160"/>
          </a:xfrm>
          <a:prstGeom prst="rect">
            <a:avLst/>
          </a:prstGeom>
          <a:solidFill>
            <a:srgbClr val="B48250"/>
          </a:solidFill>
          <a:ln w="12700">
            <a:solidFill>
              <a:srgbClr val="B4825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3154680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💳  Chi Tiền VietQR Napas 24/7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60120" y="3493008"/>
            <a:ext cx="5760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Quét mã QR chuyển khoản ngay lập tức, tự động gạch nợ hóa đơn trong 1 giây.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31520" y="4434840"/>
            <a:ext cx="6217920" cy="12801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4434840"/>
            <a:ext cx="73152" cy="1280160"/>
          </a:xfrm>
          <a:prstGeom prst="rect">
            <a:avLst/>
          </a:prstGeom>
          <a:solidFill>
            <a:srgbClr val="B48250"/>
          </a:solidFill>
          <a:ln w="12700">
            <a:solidFill>
              <a:srgbClr val="B4825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0120" y="4572000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  Báo Cáo Thu Chi Đa Chiều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60120" y="4910328"/>
            <a:ext cx="5760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Phân tích chi phí theo phòng ban, dự án và tự động lập báo cáo tài chính.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7315200" y="52578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Dữ liệu thời gian thực từ máy chủ ViOne Live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31520" y="6217920"/>
            <a:ext cx="10698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63093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HỆ SINH THÁI DOANH NGHIỆP TOÀN DIỆN VIONE &amp; VIONE CONNECT APP · Trang 6 / 13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400800" y="63093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Bản quyền © 2026 ViOne Corporation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B48250"/>
          </a:solidFill>
          <a:ln w="12700">
            <a:solidFill>
              <a:srgbClr val="B4825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200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6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PHÂN HỆ 05 &amp; 06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59436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TRỢ LÝ AI COPILOT &amp; MA TRẬN PHÂN QUYỀN RBAC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109728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Trí tuệ nhân tạo điều hành và bảo mật dữ liệu doanh nghiệp đa tầng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1600200"/>
            <a:ext cx="6217920" cy="12801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600200"/>
            <a:ext cx="73152" cy="1280160"/>
          </a:xfrm>
          <a:prstGeom prst="rect">
            <a:avLst/>
          </a:prstGeom>
          <a:solidFill>
            <a:srgbClr val="B48250"/>
          </a:solidFill>
          <a:ln w="12700">
            <a:solidFill>
              <a:srgbClr val="B482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1737360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🤖  AI Copilot Đàm Thoại 24/7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60120" y="2075688"/>
            <a:ext cx="5760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Vấn đáp phân tích số liệu kinh doanh, soạn thảo hợp đồng và văn bản tự động.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31520" y="3017520"/>
            <a:ext cx="6217920" cy="12801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0" y="3017520"/>
            <a:ext cx="73152" cy="1280160"/>
          </a:xfrm>
          <a:prstGeom prst="rect">
            <a:avLst/>
          </a:prstGeom>
          <a:solidFill>
            <a:srgbClr val="B48250"/>
          </a:solidFill>
          <a:ln w="12700">
            <a:solidFill>
              <a:srgbClr val="B4825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3154680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🔐  Ma Trận Quyền 7 Nhóm x 6 Cấp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60120" y="3493008"/>
            <a:ext cx="5760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Kiểm soát chặt chẽ quyền Xem, Tạo, Sửa, Xóa, Duyệt, Xuất dữ liệu theo chức vụ.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31520" y="4434840"/>
            <a:ext cx="6217920" cy="12801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4434840"/>
            <a:ext cx="73152" cy="1280160"/>
          </a:xfrm>
          <a:prstGeom prst="rect">
            <a:avLst/>
          </a:prstGeom>
          <a:solidFill>
            <a:srgbClr val="B48250"/>
          </a:solidFill>
          <a:ln w="12700">
            <a:solidFill>
              <a:srgbClr val="B4825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0120" y="4572000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 Nhật Ký AI Audit Log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60120" y="4910328"/>
            <a:ext cx="5760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Lưu vết minh bạch 100% các hành động trí tuệ nhân tạo và kiểm tra an ninh.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7315200" y="52578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Dữ liệu thời gian thực từ máy chủ ViOne Live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31520" y="6217920"/>
            <a:ext cx="10698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63093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HỆ SINH THÁI DOANH NGHIỆP TOÀN DIỆN VIONE &amp; VIONE CONNECT APP · Trang 7 / 13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400800" y="63093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Bản quyền © 2026 ViOne Corporation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B48250"/>
          </a:solidFill>
          <a:ln w="12700">
            <a:solidFill>
              <a:srgbClr val="B4825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200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6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TÍNH NĂNG 01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59436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DANH TÍNH SỐ TITANIUM &amp; CHẠM NFC 1-CHẠM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109728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Nâng tầm đẳng cấp thương hiệu cá nhân của nhà lãnh đạo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1600200"/>
            <a:ext cx="6217920" cy="12801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600200"/>
            <a:ext cx="73152" cy="1280160"/>
          </a:xfrm>
          <a:prstGeom prst="rect">
            <a:avLst/>
          </a:prstGeom>
          <a:solidFill>
            <a:srgbClr val="B48250"/>
          </a:solidFill>
          <a:ln w="12700">
            <a:solidFill>
              <a:srgbClr val="B482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1737360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💎  Thẻ Doanh Nhân 3D Titanium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60120" y="2075688"/>
            <a:ext cx="5760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Tích hợp mã số doanh nhân độc quyền, chíp NFC thông minh và mã QR động.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31520" y="3017520"/>
            <a:ext cx="6217920" cy="12801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0" y="3017520"/>
            <a:ext cx="73152" cy="1280160"/>
          </a:xfrm>
          <a:prstGeom prst="rect">
            <a:avLst/>
          </a:prstGeom>
          <a:solidFill>
            <a:srgbClr val="B48250"/>
          </a:solidFill>
          <a:ln w="12700">
            <a:solidFill>
              <a:srgbClr val="B4825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3154680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📲  Chạm NFC 1 Giây Kết Nối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60120" y="3493008"/>
            <a:ext cx="5760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Chạm nhẹ lưng điện thoại để truyền tải toàn bộ thông tin cá nhân và doanh nghiệp.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31520" y="4434840"/>
            <a:ext cx="6217920" cy="12801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4434840"/>
            <a:ext cx="73152" cy="1280160"/>
          </a:xfrm>
          <a:prstGeom prst="rect">
            <a:avLst/>
          </a:prstGeom>
          <a:solidFill>
            <a:srgbClr val="B48250"/>
          </a:solidFill>
          <a:ln w="12700">
            <a:solidFill>
              <a:srgbClr val="B4825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0120" y="4572000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🗄️  Ví Danh Thiếp Số (Card Vault)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60120" y="4910328"/>
            <a:ext cx="5760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Lưu trữ danh bạ đối tác không giới hạn, đồng bộ danh bạ điện thoại vCard 1 chạm.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7315200" y="52578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Dữ liệu thời gian thực từ máy chủ ViOne Live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31520" y="6217920"/>
            <a:ext cx="10698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63093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HỆ SINH THÁI DOANH NGHIỆP TOÀN DIỆN VIONE &amp; VIONE CONNECT APP · Trang 8 / 13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400800" y="63093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Bản quyền © 2026 ViOne Corporation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B48250"/>
          </a:solidFill>
          <a:ln w="12700">
            <a:solidFill>
              <a:srgbClr val="B4825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200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6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TÍNH NĂNG 02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59436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QUÉT DANH THIẾP AI OCR &amp; LƯU CRM PIPELINE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109728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Biến namecard giấy thành khách hàng tiềm năng tức thì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1600200"/>
            <a:ext cx="6217920" cy="12801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600200"/>
            <a:ext cx="73152" cy="1280160"/>
          </a:xfrm>
          <a:prstGeom prst="rect">
            <a:avLst/>
          </a:prstGeom>
          <a:solidFill>
            <a:srgbClr val="B48250"/>
          </a:solidFill>
          <a:ln w="12700">
            <a:solidFill>
              <a:srgbClr val="B482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1737360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📷  Bóc Tách Dữ Liệu Tự Động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60120" y="2075688"/>
            <a:ext cx="5760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nhận diện chính xác Họ tên, Chức vụ, Công ty, Số điện thoại và Email.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31520" y="3017520"/>
            <a:ext cx="6217920" cy="12801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0" y="3017520"/>
            <a:ext cx="73152" cy="1280160"/>
          </a:xfrm>
          <a:prstGeom prst="rect">
            <a:avLst/>
          </a:prstGeom>
          <a:solidFill>
            <a:srgbClr val="B48250"/>
          </a:solidFill>
          <a:ln w="12700">
            <a:solidFill>
              <a:srgbClr val="B4825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3154680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⭐  Phân Hạng Khách Hàng Ngay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60120" y="3493008"/>
            <a:ext cx="5760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Gắn nhãn Hot Lead, VIP C-Level, Nổi bật, hoặc Cần chăm sóc trong 24h.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31520" y="4434840"/>
            <a:ext cx="6217920" cy="12801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4434840"/>
            <a:ext cx="73152" cy="1280160"/>
          </a:xfrm>
          <a:prstGeom prst="rect">
            <a:avLst/>
          </a:prstGeom>
          <a:solidFill>
            <a:srgbClr val="B48250"/>
          </a:solidFill>
          <a:ln w="12700">
            <a:solidFill>
              <a:srgbClr val="B4825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0120" y="4572000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💼  Đẩy Thẳng Vào Phễu CRM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60120" y="4910328"/>
            <a:ext cx="5760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Nhập giá trị thương vụ dự kiến, giao nhân sự phụ trách và đồng bộ về Web CRM.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7315200" y="52578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Dữ liệu thời gian thực từ máy chủ ViOne Live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31520" y="6217920"/>
            <a:ext cx="10698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63093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HỆ SINH THÁI DOANH NGHIỆP TOÀN DIỆN VIONE &amp; VIONE CONNECT APP · Trang 9 / 13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400800" y="63093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Bản quyền © 2026 ViOne Corporation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B48250"/>
          </a:solidFill>
          <a:ln w="12700">
            <a:solidFill>
              <a:srgbClr val="B4825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200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6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TÍNH NĂNG 03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59436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TRUNG TÂM V-ACTION SHEET &amp; CHĂM SÓC ĐỐI TÁC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109728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Thao tác 1-chạm tiện lợi và nuôi dưỡng mạng lưới quan hệ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1600200"/>
            <a:ext cx="6217920" cy="12801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600200"/>
            <a:ext cx="73152" cy="1280160"/>
          </a:xfrm>
          <a:prstGeom prst="rect">
            <a:avLst/>
          </a:prstGeom>
          <a:solidFill>
            <a:srgbClr val="B48250"/>
          </a:solidFill>
          <a:ln w="12700">
            <a:solidFill>
              <a:srgbClr val="B482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1737360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👑  Nút V Mạ Vàng Trung Tâm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60120" y="2075688"/>
            <a:ext cx="5760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Chạm mở nhanh V-Action Sheet: Quét QR, Chạm NFC, Hẹn gặp 1-1, Đăng cơ hội.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31520" y="3017520"/>
            <a:ext cx="6217920" cy="12801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0" y="3017520"/>
            <a:ext cx="73152" cy="1280160"/>
          </a:xfrm>
          <a:prstGeom prst="rect">
            <a:avLst/>
          </a:prstGeom>
          <a:solidFill>
            <a:srgbClr val="B48250"/>
          </a:solidFill>
          <a:ln w="12700">
            <a:solidFill>
              <a:srgbClr val="B4825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3154680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🤝  Nurture List Nuôi Dưỡng Đối Tác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60120" y="3493008"/>
            <a:ext cx="5760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Nhắc nhở chu kỳ tương tác định kỳ, lên lịch hẹn cà phê trao đổi kinh doanh.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31520" y="4434840"/>
            <a:ext cx="6217920" cy="12801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4434840"/>
            <a:ext cx="73152" cy="1280160"/>
          </a:xfrm>
          <a:prstGeom prst="rect">
            <a:avLst/>
          </a:prstGeom>
          <a:solidFill>
            <a:srgbClr val="B48250"/>
          </a:solidFill>
          <a:ln w="12700">
            <a:solidFill>
              <a:srgbClr val="B4825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0120" y="4572000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📱  Popup Vuốt Tay Cong Tròn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60120" y="4910328"/>
            <a:ext cx="5760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Sheet bo viền cong 28px mềm mại, thao tác vuốt tay xuống đóng mượt mà.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7315200" y="52578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Dữ liệu thời gian thực từ máy chủ ViOne Live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31520" y="6217920"/>
            <a:ext cx="10698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63093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HỆ SINH THÁI DOANH NGHIỆP TOÀN DIỆN VIONE &amp; VIONE CONNECT APP · Trang 10 / 13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400800" y="63093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Bản quyền © 2026 ViOne Corporation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B48250"/>
          </a:solidFill>
          <a:ln w="12700">
            <a:solidFill>
              <a:srgbClr val="B4825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200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6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TÍNH NĂNG 04 &amp; 05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59436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SÀN GIAO THƯƠNG B2B, SỰ KIỆN &amp; VÉ QR VIP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109728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Khơi thông dòng chảy cơ hội kinh doanh và kết nối cộng đồng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1600200"/>
            <a:ext cx="6217920" cy="12801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600200"/>
            <a:ext cx="73152" cy="1280160"/>
          </a:xfrm>
          <a:prstGeom prst="rect">
            <a:avLst/>
          </a:prstGeom>
          <a:solidFill>
            <a:srgbClr val="B48250"/>
          </a:solidFill>
          <a:ln w="12700">
            <a:solidFill>
              <a:srgbClr val="B482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1737360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🛒  Chợ Nhu Cầu Mua - Bán B2B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60120" y="2075688"/>
            <a:ext cx="5760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Đăng tin tìm nhà cung ứng, mời thầu; thuật toán AI tự động ghép nối đối tác phù hợp.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31520" y="3017520"/>
            <a:ext cx="6217920" cy="12801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0" y="3017520"/>
            <a:ext cx="73152" cy="1280160"/>
          </a:xfrm>
          <a:prstGeom prst="rect">
            <a:avLst/>
          </a:prstGeom>
          <a:solidFill>
            <a:srgbClr val="B48250"/>
          </a:solidFill>
          <a:ln w="12700">
            <a:solidFill>
              <a:srgbClr val="B4825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3154680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🎟️  Vé Điện Tử E-Ticket QR VIP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60120" y="3493008"/>
            <a:ext cx="5760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Đăng ký sự kiện, nhận mã QR điểm danh check-in tự động tại cửa hội trường.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31520" y="4434840"/>
            <a:ext cx="6217920" cy="12801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4434840"/>
            <a:ext cx="73152" cy="1280160"/>
          </a:xfrm>
          <a:prstGeom prst="rect">
            <a:avLst/>
          </a:prstGeom>
          <a:solidFill>
            <a:srgbClr val="B48250"/>
          </a:solidFill>
          <a:ln w="12700">
            <a:solidFill>
              <a:srgbClr val="B4825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0120" y="4572000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💬  Hộp Thư Messenger 4 Tabs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60120" y="4910328"/>
            <a:ext cx="5760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Trao đổi đàm phán riêng tư, chat nhóm dự án thời gian thực bảo mật cao.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7315200" y="52578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Dữ liệu thời gian thực từ máy chủ ViOne Live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31520" y="6217920"/>
            <a:ext cx="10698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63093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HỆ SINH THÁI DOANH NGHIỆP TOÀN DIỆN VIONE &amp; VIONE CONNECT APP · Trang 11 / 13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400800" y="63093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Bản quyền © 2026 ViOne Corporation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B48250"/>
          </a:solidFill>
          <a:ln w="12700">
            <a:solidFill>
              <a:srgbClr val="B4825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200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6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CÔNG NGHỆ ĐỘT PHÁ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59436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CÀI ĐẶT 1-CHẠM IOS (.MOBILECONFIG) &amp; NATIVE APK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109728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Đơn giản hóa tuyệt đối trải nghiệm phân phối ứng dụng di động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1600200"/>
            <a:ext cx="6217920" cy="12801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600200"/>
            <a:ext cx="73152" cy="1280160"/>
          </a:xfrm>
          <a:prstGeom prst="rect">
            <a:avLst/>
          </a:prstGeom>
          <a:solidFill>
            <a:srgbClr val="B48250"/>
          </a:solidFill>
          <a:ln w="12700">
            <a:solidFill>
              <a:srgbClr val="B482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1737360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🍎  Apple WebClip Profile 1-Chạm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60120" y="2075688"/>
            <a:ext cx="5760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Cài đặt thẳng ra Màn hình chính iPhone từ Safari, không chờ duyệt App Store.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31520" y="3017520"/>
            <a:ext cx="6217920" cy="12801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0" y="3017520"/>
            <a:ext cx="73152" cy="1280160"/>
          </a:xfrm>
          <a:prstGeom prst="rect">
            <a:avLst/>
          </a:prstGeom>
          <a:solidFill>
            <a:srgbClr val="B48250"/>
          </a:solidFill>
          <a:ln w="12700">
            <a:solidFill>
              <a:srgbClr val="B4825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3154680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  Trải Nghiệm Toàn Màn Hình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60120" y="3493008"/>
            <a:ext cx="5760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Chạy độc lập Standalone, hỗ trợ sinh trắc học Face ID, tốc độ tải 60fps mượt mà.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31520" y="4434840"/>
            <a:ext cx="6217920" cy="12801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4434840"/>
            <a:ext cx="73152" cy="1280160"/>
          </a:xfrm>
          <a:prstGeom prst="rect">
            <a:avLst/>
          </a:prstGeom>
          <a:solidFill>
            <a:srgbClr val="B48250"/>
          </a:solidFill>
          <a:ln w="12700">
            <a:solidFill>
              <a:srgbClr val="B4825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0120" y="4572000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📦  Hệ Sinh Thái Đa Nền Tảng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60120" y="4910328"/>
            <a:ext cx="5760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Bản iOS IPA TestFlight + Android APK Release độc lập (81.39MB) + PWA Web.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772400" y="1554480"/>
            <a:ext cx="320040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19" name="Image 0" descr="D:\download\VICONNECT\CEO_VIONE_PROJECT\vione_project\document\images\evidence_live_2026\app_01_mobile_logi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092440" y="1691640"/>
            <a:ext cx="2560320" cy="411480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7315200" y="52578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Dữ liệu thời gian thực từ máy chủ ViOne Live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731520" y="6217920"/>
            <a:ext cx="10698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31520" y="63093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HỆ SINH THÁI DOANH NGHIỆP TOÀN DIỆN VIONE &amp; VIONE CONNECT APP · Trang 12 / 13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6400800" y="63093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Bản quyền © 2026 ViOne Corporation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B48250"/>
          </a:solidFill>
          <a:ln w="12700">
            <a:solidFill>
              <a:srgbClr val="B4825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914400"/>
            <a:ext cx="10332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XIN CHÂN THÀNH CẢM ƠN QUÝ DOANH NGHIỆP!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14400" y="164592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46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ViOne CRM · Nền tảng kiến tạo lợi thế cạnh tranh vượt trội trong kỷ nguyên số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383280" cy="1645920"/>
          </a:xfrm>
          <a:prstGeom prst="rect">
            <a:avLst/>
          </a:prstGeom>
          <a:solidFill>
            <a:srgbClr val="FDFBF7"/>
          </a:solidFill>
          <a:ln w="12700">
            <a:solidFill>
              <a:srgbClr val="D8B2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246888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46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60120" y="278892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Tối Ưu 40% Chi Phí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60120" y="3127248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Cắt giảm lãng phí thời gian và nhân lực nhờ tự động hóa quy trình nghiệp vụ.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89120" y="2286000"/>
            <a:ext cx="3383280" cy="1645920"/>
          </a:xfrm>
          <a:prstGeom prst="rect">
            <a:avLst/>
          </a:prstGeom>
          <a:solidFill>
            <a:srgbClr val="FDFBF7"/>
          </a:solidFill>
          <a:ln w="12700">
            <a:solidFill>
              <a:srgbClr val="D8B2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17720" y="246888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46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617720" y="278892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Tăng 35% Doanh Số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617720" y="3127248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Chăm sóc khách hàng bài bản, kiểm soát chặt chẽ phễu bán hàng B2B.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046720" y="2286000"/>
            <a:ext cx="3383280" cy="1645920"/>
          </a:xfrm>
          <a:prstGeom prst="rect">
            <a:avLst/>
          </a:prstGeom>
          <a:solidFill>
            <a:srgbClr val="FDFBF7"/>
          </a:solidFill>
          <a:ln w="12700">
            <a:solidFill>
              <a:srgbClr val="D8B28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75320" y="246888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46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75320" y="278892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 Quyết Định Tức Thì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275320" y="3127248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 lãnh đạo nắm bắt dữ liệu điều hành chuẩn xác theo thời gian thực.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31520" y="4297680"/>
            <a:ext cx="10698480" cy="7315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429768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🌐 Website: vione.vn    |    📞 Hotline: 1900 8888    |    ✉️ Email: contact@vione.vn    |    🏢 Trụ sở: Hà Nội &amp; TP. Hồ Chí Minh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3200400" y="5257800"/>
            <a:ext cx="5760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46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SẴN SÀNG GIẢI ĐÁP CÂU HỎI (Q&amp;A SESSION)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31520" y="6217920"/>
            <a:ext cx="10698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63093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HỆ SINH THÁI DOANH NGHIỆP TOÀN DIỆN VIONE &amp; VIONE CONNECT APP · Trang 13 / 13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400800" y="63093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Bản quyền © 2026 ViOne Corporation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ViOne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HỆ SINH THÁI DOANH NGHIỆP TOÀN DIỆN VIONE &amp; VIONE CONNECT APP</dc:title>
  <dc:subject>PptxGenJS Presentation</dc:subject>
  <dc:creator>ViOne Solution Architect</dc:creator>
  <cp:lastModifiedBy>ViOne Solution Architect</cp:lastModifiedBy>
  <cp:revision>1</cp:revision>
  <dcterms:created xsi:type="dcterms:W3CDTF">2026-10-05T06:27:54Z</dcterms:created>
  <dcterms:modified xsi:type="dcterms:W3CDTF">2026-10-05T06:27:54Z</dcterms:modified>
</cp:coreProperties>
</file>